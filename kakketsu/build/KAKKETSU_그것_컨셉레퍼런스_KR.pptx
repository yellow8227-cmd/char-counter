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1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3.png"/><Relationship Id="rId4" Type="http://schemas.openxmlformats.org/officeDocument/2006/relationships/image" Target="../media/image1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image" Target="../media/image4.png"/><Relationship Id="rId6" Type="http://schemas.openxmlformats.org/officeDocument/2006/relationships/image" Target="../media/image34.jp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image" Target="../media/image3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rridor_hospital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022057" cy="6858000"/>
          </a:xfrm>
          <a:prstGeom prst="rect">
            <a:avLst/>
          </a:prstGeom>
        </p:spPr>
      </p:pic>
      <p:pic>
        <p:nvPicPr>
          <p:cNvPr id="5" name="Picture 4" descr="scrim_bott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880360"/>
            <a:ext cx="12191969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3035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220">
                <a:solidFill>
                  <a:srgbClr val="D2CABE"/>
                </a:solidFill>
                <a:latin typeface="Cambria"/>
                <a:ea typeface="Malgun Gothic"/>
                <a:cs typeface="Malgun Gothic"/>
              </a:rPr>
              <a:t>WALLAH PROJECT   ×   SUPERNOVA STUDIOS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5544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36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CREATURE DESIGN BIBLE</a:t>
            </a:r>
          </a:p>
        </p:txBody>
      </p:sp>
      <p:pic>
        <p:nvPicPr>
          <p:cNvPr id="8" name="Picture 7" descr="title_lock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" y="1901952"/>
            <a:ext cx="5120640" cy="18790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858768"/>
            <a:ext cx="8046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spc="20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각혈  ·  KAKKETSU</a:t>
            </a:r>
          </a:p>
          <a:p>
            <a:pPr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1" spc="-8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「그것」 封神 · 봉신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" y="5449824"/>
            <a:ext cx="2194559" cy="0"/>
          </a:xfrm>
          <a:prstGeom prst="line">
            <a:avLst/>
          </a:prstGeom>
          <a:ln w="9525">
            <a:solidFill>
              <a:srgbClr val="F4EFE6">
                <a:alpha val="4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13232" y="5632704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장편 오컬트 호러 · 세대극   |   한국 – 일본   |   각본 · 감독  한동하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2026 프리프로덕션 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g_white.jpg"/>
          <p:cNvPicPr>
            <a:picLocks noChangeAspect="1"/>
          </p:cNvPicPr>
          <p:nvPr/>
        </p:nvPicPr>
        <p:blipFill>
          <a:blip r:embed="rId2"/>
          <a:srcRect t="10500" b="33250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light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11338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32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LOGLINE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64208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spc="-40">
                <a:solidFill>
                  <a:srgbClr val="141111"/>
                </a:solidFill>
                <a:latin typeface="Malgun Gothic"/>
                <a:ea typeface="Malgun Gothic"/>
                <a:cs typeface="Malgun Gothic"/>
              </a:rPr>
              <a:t>대대로 이어진 가문의 저주를 끊기 위해
싸워온 한 남자는, 그 저주라 믿었던 존재가
사실은 가족을 지켜온 수호였음을 깨닫고
핏줄과 죄의 진짜 의미와 마주한다.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3232" y="4992624"/>
            <a:ext cx="1645920" cy="0"/>
          </a:xfrm>
          <a:prstGeom prst="line">
            <a:avLst/>
          </a:prstGeom>
          <a:ln w="9525">
            <a:solidFill>
              <a:srgbClr val="453E3A">
                <a:alpha val="7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5212080"/>
            <a:ext cx="5760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53E3A"/>
                </a:solidFill>
                <a:latin typeface="Malgun Gothic"/>
                <a:ea typeface="Malgun Gothic"/>
                <a:cs typeface="Malgun Gothic"/>
              </a:rPr>
              <a:t>1582 조선  →  현재 일본   ·   4대에 걸친 핏줄, 하나의 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453E3A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453E3A"/>
                </a:solidFill>
                <a:latin typeface="Cambria"/>
                <a:ea typeface="Malgun Gothic"/>
                <a:cs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neel_closeup.jpg"/>
          <p:cNvPicPr>
            <a:picLocks noChangeAspect="1"/>
          </p:cNvPicPr>
          <p:nvPr/>
        </p:nvPicPr>
        <p:blipFill>
          <a:blip r:embed="rId2"/>
          <a:srcRect t="8591" b="11864"/>
          <a:stretch>
            <a:fillRect/>
          </a:stretch>
        </p:blipFill>
        <p:spPr>
          <a:xfrm>
            <a:off x="5730225" y="0"/>
            <a:ext cx="646174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217904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86" y="0"/>
            <a:ext cx="365759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THE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212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저주가 아니라
수호였다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139696"/>
            <a:ext cx="5212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「그것」은 특정 인물도, 유령도 아니다. 가문이 쌓아 온 죄와
원념이 형태를 얻은, 저주의 얼굴을 한 봉인이다.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" y="2944368"/>
            <a:ext cx="5212080" cy="0"/>
          </a:xfrm>
          <a:prstGeom prst="line">
            <a:avLst/>
          </a:prstGeom>
          <a:ln w="9525">
            <a:solidFill>
              <a:srgbClr val="F4EFE6">
                <a:alpha val="26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323697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320040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추적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1587년 굿판에서 형상을 얻고, 이름도 얼굴도 아닌 핏줄만을 따라 이동한다.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4078224"/>
            <a:ext cx="5212080" cy="0"/>
          </a:xfrm>
          <a:prstGeom prst="line">
            <a:avLst/>
          </a:prstGeom>
          <a:ln w="9525">
            <a:solidFill>
              <a:srgbClr val="F4EFE6">
                <a:alpha val="18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24281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20624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희생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조부 동필, 부친 종문. 두 세대가 같은 방식으로 죽는다.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5084064"/>
            <a:ext cx="5212080" cy="0"/>
          </a:xfrm>
          <a:prstGeom prst="line">
            <a:avLst/>
          </a:prstGeom>
          <a:ln w="9525">
            <a:solidFill>
              <a:srgbClr val="F4EFE6">
                <a:alpha val="18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524865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521208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부재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아들이 죽자 「그것」은 걸음을 되찾고 떠난다. 지옥은 그 다음에 시작된다.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rridor_wood.jpg"/>
          <p:cNvPicPr>
            <a:picLocks noChangeAspect="1"/>
          </p:cNvPicPr>
          <p:nvPr/>
        </p:nvPicPr>
        <p:blipFill>
          <a:blip r:embed="rId2"/>
          <a:srcRect t="24743" b="30241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vignet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BLOODLINE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핏줄의 계보 — 「그것」이 따라온 길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1582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조선 · 평양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처형장의 망나니.
피와 원망이 땅에 쌓인다.</a:t>
            </a:r>
          </a:p>
        </p:txBody>
      </p:sp>
      <p:sp>
        <p:nvSpPr>
          <p:cNvPr id="9" name="Oval 8"/>
          <p:cNvSpPr/>
          <p:nvPr/>
        </p:nvSpPr>
        <p:spPr>
          <a:xfrm>
            <a:off x="2507482" y="2103120"/>
            <a:ext cx="100584" cy="100584"/>
          </a:xfrm>
          <a:prstGeom prst="ellipse">
            <a:avLst/>
          </a:prstGeom>
          <a:solidFill>
            <a:srgbClr val="C92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07482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1587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굿판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무당이 노모의 시신을
부적으로 봉인한다.</a:t>
            </a:r>
          </a:p>
        </p:txBody>
      </p:sp>
      <p:sp>
        <p:nvSpPr>
          <p:cNvPr id="11" name="Oval 10"/>
          <p:cNvSpPr/>
          <p:nvPr/>
        </p:nvSpPr>
        <p:spPr>
          <a:xfrm>
            <a:off x="4301733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1733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1945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일제강점기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순사 백동필.
제복을 입고 독립투사를 고문한다.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6095984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984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1984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일본 오사카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사형집행관 백종문.
버튼으로 사람을 죽인다.</a:t>
            </a:r>
          </a:p>
        </p:txBody>
      </p:sp>
      <p:sp>
        <p:nvSpPr>
          <p:cNvPr id="15" name="Oval 14"/>
          <p:cNvSpPr/>
          <p:nvPr/>
        </p:nvSpPr>
        <p:spPr>
          <a:xfrm>
            <a:off x="7890235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0235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2006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일본 후쿠오카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산부인과 의사 슈.
저주를 과학으로 부정한다.</a:t>
            </a:r>
          </a:p>
        </p:txBody>
      </p:sp>
      <p:sp>
        <p:nvSpPr>
          <p:cNvPr id="17" name="Oval 16"/>
          <p:cNvSpPr/>
          <p:nvPr/>
        </p:nvSpPr>
        <p:spPr>
          <a:xfrm>
            <a:off x="9684486" y="2103120"/>
            <a:ext cx="100584" cy="100584"/>
          </a:xfrm>
          <a:prstGeom prst="ellipse">
            <a:avLst/>
          </a:prstGeom>
          <a:solidFill>
            <a:srgbClr val="C92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84486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현재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그리고 하루마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핏줄이 끊긴 자리에
저주가 되돌아온다.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3524" y="2150668"/>
            <a:ext cx="9021546" cy="0"/>
          </a:xfrm>
          <a:prstGeom prst="line">
            <a:avLst/>
          </a:prstGeom>
          <a:ln w="9525">
            <a:solidFill>
              <a:srgbClr val="F4EFE6">
                <a:alpha val="26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13232" y="4517136"/>
            <a:ext cx="10765505" cy="14117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4754880"/>
            <a:ext cx="10290017" cy="936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네 세대의 공통점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네 세대 모두 죽음을 다루는 자리에 있었다.  칼 → 제복 → 버튼 → 메스.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도구는 문명화되었지만 하는 일은 같다. 「그것」은 그 400년을 지켜본 유일한 목격자다.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ont_stand.jpg"/>
          <p:cNvPicPr>
            <a:picLocks noChangeAspect="1"/>
          </p:cNvPicPr>
          <p:nvPr/>
        </p:nvPicPr>
        <p:blipFill>
          <a:blip r:embed="rId2"/>
          <a:srcRect t="11525" b="11525"/>
          <a:stretch>
            <a:fillRect/>
          </a:stretch>
        </p:blipFill>
        <p:spPr>
          <a:xfrm>
            <a:off x="5059667" y="0"/>
            <a:ext cx="713230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608305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87" y="0"/>
            <a:ext cx="316991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CHARACTER 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封神  봉신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20240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신장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5376" y="1874520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150cm  ·  연출 스케일 180 / 190 / 260cm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" y="2231136"/>
            <a:ext cx="4572000" cy="0"/>
          </a:xfrm>
          <a:prstGeom prst="line">
            <a:avLst/>
          </a:prstGeom>
          <a:ln w="9525">
            <a:solidFill>
              <a:srgbClr val="F4EFE6">
                <a:alpha val="2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2432304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성별 · 연령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386584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여성 · 노인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2743200"/>
            <a:ext cx="4572000" cy="0"/>
          </a:xfrm>
          <a:prstGeom prst="line">
            <a:avLst/>
          </a:prstGeom>
          <a:ln w="9525">
            <a:solidFill>
              <a:srgbClr val="F4EFE6">
                <a:alpha val="2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2944368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정체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898648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망나니의 노모 — 굿판에서 봉인된 시신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255264"/>
            <a:ext cx="4572000" cy="0"/>
          </a:xfrm>
          <a:prstGeom prst="line">
            <a:avLst/>
          </a:prstGeom>
          <a:ln w="9525">
            <a:solidFill>
              <a:srgbClr val="F4EFE6">
                <a:alpha val="2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712463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특징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005072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이마의 붉은 부적이 얼굴을 대신한다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극도로 마른 체형, 메마른 피부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빛바랜 색동저고리 누더기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한쪽 다리를 절며 무겁게 이동한다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등에 결박된 원혼 덩어리를 머리카락이 억누른다</a:t>
            </a:r>
          </a:p>
        </p:txBody>
      </p:sp>
      <p:sp>
        <p:nvSpPr>
          <p:cNvPr id="18" name="Oval 17"/>
          <p:cNvSpPr/>
          <p:nvPr/>
        </p:nvSpPr>
        <p:spPr>
          <a:xfrm>
            <a:off x="8503919" y="271576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055863" y="2761488"/>
            <a:ext cx="493777" cy="0"/>
          </a:xfrm>
          <a:prstGeom prst="line">
            <a:avLst/>
          </a:prstGeom>
          <a:ln w="9525">
            <a:solidFill>
              <a:srgbClr val="F4EFE6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724144" y="2596896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이마의 부적 「封神」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얼굴이 있어야 할 자리</a:t>
            </a:r>
          </a:p>
        </p:txBody>
      </p:sp>
      <p:sp>
        <p:nvSpPr>
          <p:cNvPr id="21" name="Oval 20"/>
          <p:cNvSpPr/>
          <p:nvPr/>
        </p:nvSpPr>
        <p:spPr>
          <a:xfrm>
            <a:off x="8567928" y="4014216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8055863" y="4059936"/>
            <a:ext cx="557785" cy="0"/>
          </a:xfrm>
          <a:prstGeom prst="line">
            <a:avLst/>
          </a:prstGeom>
          <a:ln w="9525">
            <a:solidFill>
              <a:srgbClr val="F4EFE6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724144" y="3895344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빛바랜 색동저고리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색이 거의 빠진 누더기</a:t>
            </a:r>
          </a:p>
        </p:txBody>
      </p:sp>
      <p:sp>
        <p:nvSpPr>
          <p:cNvPr id="24" name="Oval 23"/>
          <p:cNvSpPr/>
          <p:nvPr/>
        </p:nvSpPr>
        <p:spPr>
          <a:xfrm>
            <a:off x="9756648" y="161848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9802368" y="1664208"/>
            <a:ext cx="256032" cy="0"/>
          </a:xfrm>
          <a:prstGeom prst="line">
            <a:avLst/>
          </a:prstGeom>
          <a:ln w="9525">
            <a:solidFill>
              <a:srgbClr val="F4EFE6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058400" y="1499616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원혼 덩어리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등에 결박된 수백의 원혼</a:t>
            </a:r>
          </a:p>
        </p:txBody>
      </p:sp>
      <p:sp>
        <p:nvSpPr>
          <p:cNvPr id="27" name="Oval 26"/>
          <p:cNvSpPr/>
          <p:nvPr/>
        </p:nvSpPr>
        <p:spPr>
          <a:xfrm>
            <a:off x="8458200" y="591616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055863" y="5961888"/>
            <a:ext cx="448057" cy="0"/>
          </a:xfrm>
          <a:prstGeom prst="line">
            <a:avLst/>
          </a:prstGeom>
          <a:ln w="9525">
            <a:solidFill>
              <a:srgbClr val="F4EFE6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724144" y="5797296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뒤틀린 다리 · 짚신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질질 끌리는 한쪽 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ont_arms.jpg"/>
          <p:cNvPicPr>
            <a:picLocks noChangeAspect="1"/>
          </p:cNvPicPr>
          <p:nvPr/>
        </p:nvPicPr>
        <p:blipFill>
          <a:blip r:embed="rId2"/>
          <a:srcRect t="8318" b="8318"/>
          <a:stretch>
            <a:fillRect/>
          </a:stretch>
        </p:blipFill>
        <p:spPr>
          <a:xfrm>
            <a:off x="5608305" y="0"/>
            <a:ext cx="658366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984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66" y="0"/>
            <a:ext cx="316991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04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074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부적 「封神」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얼굴을 대신하는 봉인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11680"/>
            <a:ext cx="507492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249424"/>
            <a:ext cx="4599431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부적은 복을 부르는 물건이 아니다.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위험한 것을 눌러 가두는 물건이다.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「封神」 — 봉할 봉, 귀신 신.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976268"/>
            <a:ext cx="507492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4214012"/>
            <a:ext cx="4599431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얼굴이 없으므로 표정 연기가 성립하지 않는다.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관객은 「그것」의 의도를 끝까지 알 수 없다.</a:t>
            </a:r>
          </a:p>
        </p:txBody>
      </p:sp>
      <p:pic>
        <p:nvPicPr>
          <p:cNvPr id="12" name="Picture 11" descr="tile_empty_fac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647" y="5546344"/>
            <a:ext cx="723265" cy="7680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82496" y="5601207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3막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머리카락을 걷어내면 부적 뒤에는 아무것도 없다.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ekdong_back.jpg"/>
          <p:cNvPicPr>
            <a:picLocks noChangeAspect="1"/>
          </p:cNvPicPr>
          <p:nvPr/>
        </p:nvPicPr>
        <p:blipFill>
          <a:blip r:embed="rId2"/>
          <a:srcRect l="10714" r="13095"/>
          <a:stretch>
            <a:fillRect/>
          </a:stretch>
        </p:blipFill>
        <p:spPr>
          <a:xfrm>
            <a:off x="0" y="0"/>
            <a:ext cx="7315181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766543" y="0"/>
            <a:ext cx="5425426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1430" y="0"/>
            <a:ext cx="3413751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02" y="475488"/>
            <a:ext cx="43464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05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02" y="822960"/>
            <a:ext cx="43464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색동저고리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02" y="1389888"/>
            <a:ext cx="43464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아이를 지키는 옷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02" y="2011680"/>
            <a:ext cx="434340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0046" y="2249424"/>
            <a:ext cx="3867912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색동저고리는 아이에게 입히는 옷이다.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액을 막고 무사히 자라기를 비는 옷이다.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배색은 오방색 — 청·적·황·백·흑.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02" y="3976268"/>
            <a:ext cx="434340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0046" y="4214012"/>
            <a:ext cx="3867912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위협적인 형상에 가장 다정한 옷을 입힌다.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색이 빠진 정도가 지켜온 시간을 보여준다.</a:t>
            </a:r>
          </a:p>
        </p:txBody>
      </p:sp>
      <p:pic>
        <p:nvPicPr>
          <p:cNvPr id="12" name="Picture 11" descr="tile_blood_jeogor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02" y="5558799"/>
            <a:ext cx="768096" cy="743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01566" y="5637783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1945 시퀀스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색동은 극 중 새것으로 등장하지 않는다.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0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ot_closeup.jpg"/>
          <p:cNvPicPr>
            <a:picLocks noChangeAspect="1"/>
          </p:cNvPicPr>
          <p:nvPr/>
        </p:nvPicPr>
        <p:blipFill>
          <a:blip r:embed="rId2"/>
          <a:srcRect t="3108" b="3108"/>
          <a:stretch>
            <a:fillRect/>
          </a:stretch>
        </p:blipFill>
        <p:spPr>
          <a:xfrm>
            <a:off x="6339824" y="0"/>
            <a:ext cx="585214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827502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45" y="0"/>
            <a:ext cx="292607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06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짚신과 뒤틀린 다리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5486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업을 지고 걷는 몸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11680"/>
            <a:ext cx="539496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249424"/>
            <a:ext cx="4919472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짚신은 신분의 바닥을 뜻하는 신발이다.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업을 짊어진 채 계속 걸어가는 인간의 상징이다.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618331"/>
            <a:ext cx="539496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856075"/>
            <a:ext cx="4919472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 — 절룩임은 상해가 아니라 하중이다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수백의 원혼을 대신 짊어져 무거워진 결과다.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핏줄이 끊어지는 순간, 걸음은 정상으로 돌아온다.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관객이 대사 없이 반전을 알아채는 지점이다.</a:t>
            </a:r>
          </a:p>
        </p:txBody>
      </p:sp>
      <p:pic>
        <p:nvPicPr>
          <p:cNvPr id="12" name="Picture 11" descr="tile_shoe_wal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46596"/>
            <a:ext cx="1243584" cy="7675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5601207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슥……  쿵……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「그것」의 등장은 화면보다 이 소리가 먼저 알린다.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ss_closeup.jpg"/>
          <p:cNvPicPr>
            <a:picLocks noChangeAspect="1"/>
          </p:cNvPicPr>
          <p:nvPr/>
        </p:nvPicPr>
        <p:blipFill>
          <a:blip r:embed="rId2"/>
          <a:srcRect t="21809" b="30117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715" y="0"/>
            <a:ext cx="10241254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386" y="47548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07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THE BURDEN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386" y="82296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등에 결박된
수백의 원혼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386" y="2468880"/>
            <a:ext cx="51206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움직임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고정된 실루엣 없이 액체처럼 흐른다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구성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얼굴 · 사지 · 손등이 얽혀 유기적으로 변형된다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결박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긴 머리카락이 덩어리 전체를 감아 억제한다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이동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덩어리도 바닥을 따라 흘러 함께 움직인다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386" y="4626864"/>
            <a:ext cx="5120640" cy="16816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24130" y="4864607"/>
            <a:ext cx="4645152" cy="1206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· VFX 노트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계단 시퀀스에서 결박이 풀린다.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하중을 버린 「그것」의 이동 속도가 급격히 빨라진다.</a:t>
            </a:r>
          </a:p>
        </p:txBody>
      </p:sp>
      <p:pic>
        <p:nvPicPr>
          <p:cNvPr id="10" name="Picture 9" descr="sheet_mont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02" y="4626864"/>
            <a:ext cx="1381418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08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LOOK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룩 개발 — 4안</a:t>
            </a:r>
          </a:p>
        </p:txBody>
      </p:sp>
      <p:pic>
        <p:nvPicPr>
          <p:cNvPr id="4" name="Picture 3" descr="look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500" y="1426464"/>
            <a:ext cx="1691098" cy="32469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A · WET / BLACK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젖은 흑색 점액 톤이다.
원혼과 머리카락이 한 덩어리로 보인다.</a:t>
            </a:r>
          </a:p>
        </p:txBody>
      </p:sp>
      <p:pic>
        <p:nvPicPr>
          <p:cNvPr id="6" name="Picture 5" descr="look_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457" y="1426464"/>
            <a:ext cx="1691098" cy="32469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3188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B · WET / DETAIL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같은 톤에서 원혼을 개체로 분리했다.
클로즈업 장면에 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44" y="1152144"/>
            <a:ext cx="24856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본편 기준안</a:t>
            </a:r>
          </a:p>
        </p:txBody>
      </p:sp>
      <p:pic>
        <p:nvPicPr>
          <p:cNvPr id="9" name="Picture 8" descr="look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0413" y="1426464"/>
            <a:ext cx="1691098" cy="324690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144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C · SAEKDONG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색동의 채도를 살렸다.
반전 단서가 가장 먼저 읽힌다.</a:t>
            </a:r>
          </a:p>
        </p:txBody>
      </p:sp>
      <p:pic>
        <p:nvPicPr>
          <p:cNvPr id="11" name="Picture 10" descr="look_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0369" y="1426464"/>
            <a:ext cx="1691098" cy="32469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93101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D · MIST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안개와 저채도로 실루엣만 남겼다.
티저와 키비주얼에 쓴다.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5852160"/>
            <a:ext cx="10765505" cy="0"/>
          </a:xfrm>
          <a:prstGeom prst="line">
            <a:avLst/>
          </a:prstGeom>
          <a:ln w="9525">
            <a:solidFill>
              <a:srgbClr val="F4EFE6">
                <a:alpha val="2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5998464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네 안은 실루엣과 비율이 동일하며, 차이는 채도와 질감에 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09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TURNAROUND &amp;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3면도 · 크기 설계</a:t>
            </a:r>
          </a:p>
        </p:txBody>
      </p:sp>
      <p:pic>
        <p:nvPicPr>
          <p:cNvPr id="4" name="Picture 3" descr="sheet_si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612" y="1426464"/>
            <a:ext cx="3930518" cy="3145536"/>
          </a:xfrm>
          <a:prstGeom prst="rect">
            <a:avLst/>
          </a:prstGeom>
        </p:spPr>
      </p:pic>
      <p:pic>
        <p:nvPicPr>
          <p:cNvPr id="5" name="Picture 4" descr="scale_cha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704039"/>
            <a:ext cx="4553712" cy="25903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4754880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파트별 확정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047488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3면 실루엣  ·  이마 부적  ·  색동 탈색 단계
피부와 관절  ·  젖은 발목  ·  원혼 밀도  ·  손등 질감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754880"/>
            <a:ext cx="45537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스케일 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5065776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150cm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42631" y="5047488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일상과 미행. 사람 크기로, 무해해 보여야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180cm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42631" y="5376672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대면. 인물과 눈높이가 맞는 장면에 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572414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190cm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42631" y="5705856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추격. 공간이 좁아 보이는 크기다.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605332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260cm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2631" y="6035040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굿판과 강림. 공간 전체를 압도한다.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10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COSTUME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의상 컨셉 — 4벌</a:t>
            </a:r>
          </a:p>
        </p:txBody>
      </p:sp>
      <p:pic>
        <p:nvPicPr>
          <p:cNvPr id="4" name="Picture 3" descr="detail_talisman_t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5600" y="530352"/>
            <a:ext cx="368766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493776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소품 — 「封神」 부적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무당이 자신의 피로 그린 부적. 색을 잃지 않는 유일한 물건.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115568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구성 — 색동 소매 저고리 + 홍색 끈 · 술 노리개 + 갈래 치마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제작 — 동일 패턴 3벌 + 스턴트용 바지 변형 1벌</a:t>
            </a:r>
          </a:p>
        </p:txBody>
      </p:sp>
      <p:pic>
        <p:nvPicPr>
          <p:cNvPr id="7" name="Picture 6" descr="cost_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674" y="1756296"/>
            <a:ext cx="1444752" cy="38006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A · 저고리 &amp; 치마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저채도 흙빛으로 세트에 묻힌다.</a:t>
            </a:r>
          </a:p>
        </p:txBody>
      </p:sp>
      <p:pic>
        <p:nvPicPr>
          <p:cNvPr id="9" name="Picture 8" descr="cost_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3630" y="1756296"/>
            <a:ext cx="1444752" cy="38006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3188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B · 저고리 &amp; 치마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 채도를 유지한 기준안이다.</a:t>
            </a:r>
          </a:p>
        </p:txBody>
      </p:sp>
      <p:pic>
        <p:nvPicPr>
          <p:cNvPr id="11" name="Picture 10" descr="cos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586" y="1756296"/>
            <a:ext cx="1444752" cy="380068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33144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C · 저고리 &amp; 치마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올이 삭아 풀린 상태다.</a:t>
            </a:r>
          </a:p>
        </p:txBody>
      </p:sp>
      <p:pic>
        <p:nvPicPr>
          <p:cNvPr id="13" name="Picture 12" descr="cost_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3543" y="1756296"/>
            <a:ext cx="1444752" cy="38006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93101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D · 저고리 &amp; 바지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액션과 와이어 촬영용 변형이다.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ll_open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2331720"/>
          </a:xfrm>
          <a:prstGeom prst="rect">
            <a:avLst/>
          </a:prstGeom>
        </p:spPr>
      </p:pic>
      <p:pic>
        <p:nvPicPr>
          <p:cNvPr id="5" name="Picture 4" descr="scrim_bott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057400"/>
            <a:ext cx="12191969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11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SET 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굿판 — 강림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810512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8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1587  ·  조선 평양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121408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무당이 자신의 피로 부적을 만들고, 망나니가 노모의 무덤을 판다.
부적이 이마에 닿는 순간, 시신은 인간의 형상을 잃는다.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5377" y="2121408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“괴물이 아니다. 핏줄을 지키기 위해
모든 원혼을 스스로 떠안은 봉인이다.”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3529584"/>
            <a:ext cx="12191969" cy="3328416"/>
          </a:xfrm>
          <a:prstGeom prst="rect">
            <a:avLst/>
          </a:prstGeom>
          <a:solidFill>
            <a:srgbClr val="050404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all_descend_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738232"/>
            <a:ext cx="2540500" cy="14297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하강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천장에서 한 줄기로 쏟아진다.</a:t>
            </a:r>
          </a:p>
        </p:txBody>
      </p:sp>
      <p:pic>
        <p:nvPicPr>
          <p:cNvPr id="14" name="Picture 13" descr="hall_descend_b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4900" y="3738232"/>
            <a:ext cx="2540500" cy="1429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54900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전개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부챗살처럼 벌어진다.</a:t>
            </a:r>
          </a:p>
        </p:txBody>
      </p:sp>
      <p:pic>
        <p:nvPicPr>
          <p:cNvPr id="16" name="Picture 15" descr="hall_sweep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6568" y="3738232"/>
            <a:ext cx="2540500" cy="1429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96568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확산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얼굴들이 한꺼번에 드러난다.</a:t>
            </a:r>
          </a:p>
        </p:txBody>
      </p:sp>
      <p:pic>
        <p:nvPicPr>
          <p:cNvPr id="18" name="Picture 17" descr="hall_til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8237" y="3738232"/>
            <a:ext cx="2540500" cy="1429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38237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04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소산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질량을 잃고 흩어진다.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961888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VFX 범위 — 같은 세트, 같은 렌즈에서 원혼의 양만 단계적으로 늘린다. 실물 의상과 배우 연기를 바탕으로 덩어리만 CG로 처리한다.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y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32" y="0"/>
            <a:ext cx="5755910" cy="6858000"/>
          </a:xfrm>
          <a:prstGeom prst="rect">
            <a:avLst/>
          </a:prstGeom>
        </p:spPr>
      </p:pic>
      <p:pic>
        <p:nvPicPr>
          <p:cNvPr id="3" name="Picture 2" descr="scrim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0" y="0"/>
            <a:ext cx="853437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877824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12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KEY ART  ·  VISUAL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298448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spc="20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罪 · 血 · 記憶</a:t>
            </a:r>
          </a:p>
          <a:p>
            <a:pPr algn="l">
              <a:lnSpc>
                <a:spcPct val="155000"/>
              </a:lnSpc>
              <a:spcBef>
                <a:spcPts val="20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티저에서는 「그것」을 정면으로 보여주지 않는다.
짚신, 색동 자락, 부적, 벽에 새겨진 세 글자만 노출해
관객이 형상을 스스로 맞추게 한다.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675120" y="3236976"/>
            <a:ext cx="4754880" cy="0"/>
          </a:xfrm>
          <a:prstGeom prst="line">
            <a:avLst/>
          </a:prstGeom>
          <a:ln w="9525">
            <a:solidFill>
              <a:srgbClr val="F4EFE6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675120" y="34381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컬러 팔레트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3730752"/>
            <a:ext cx="512064" cy="658368"/>
          </a:xfrm>
          <a:prstGeom prst="rect">
            <a:avLst/>
          </a:prstGeom>
          <a:solidFill>
            <a:srgbClr val="0F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10044" y="3730752"/>
            <a:ext cx="512064" cy="658368"/>
          </a:xfrm>
          <a:prstGeom prst="rect">
            <a:avLst/>
          </a:prstGeom>
          <a:solidFill>
            <a:srgbClr val="353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44967" y="3730752"/>
            <a:ext cx="512064" cy="658368"/>
          </a:xfrm>
          <a:prstGeom prst="rect">
            <a:avLst/>
          </a:prstGeom>
          <a:solidFill>
            <a:srgbClr val="4B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79892" y="3730752"/>
            <a:ext cx="512064" cy="658368"/>
          </a:xfrm>
          <a:prstGeom prst="rect">
            <a:avLst/>
          </a:prstGeom>
          <a:solidFill>
            <a:srgbClr val="6F6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14816" y="3730752"/>
            <a:ext cx="512064" cy="658368"/>
          </a:xfrm>
          <a:prstGeom prst="rect">
            <a:avLst/>
          </a:prstGeom>
          <a:solidFill>
            <a:srgbClr val="C4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49740" y="3730752"/>
            <a:ext cx="512064" cy="658368"/>
          </a:xfrm>
          <a:prstGeom prst="rect">
            <a:avLst/>
          </a:prstGeom>
          <a:solidFill>
            <a:srgbClr val="A96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84664" y="3730752"/>
            <a:ext cx="512064" cy="658368"/>
          </a:xfrm>
          <a:prstGeom prst="rect">
            <a:avLst/>
          </a:prstGeom>
          <a:solidFill>
            <a:srgbClr val="5F6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19588" y="3730752"/>
            <a:ext cx="512064" cy="658368"/>
          </a:xfrm>
          <a:prstGeom prst="rect">
            <a:avLst/>
          </a:prstGeom>
          <a:solidFill>
            <a:srgbClr val="8A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5354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무채색 화면에 두 가지 색만 쓴다. 색동의 청과 부적의 홍이다.
화면에서 색을 가진 것은 「그것」뿐이다.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23036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컨셉 키워드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52297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원한 · 저주 · 무거움 · 억압 · 끌려다님 · 구속 · 공포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13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IP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머천다이징 — 실루엣만으로 식별되는 캐릭터</a:t>
            </a:r>
          </a:p>
        </p:txBody>
      </p:sp>
      <p:pic>
        <p:nvPicPr>
          <p:cNvPr id="4" name="Picture 3" descr="goods_keyring_hanj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63040"/>
            <a:ext cx="3657600" cy="3657600"/>
          </a:xfrm>
          <a:prstGeom prst="rect">
            <a:avLst/>
          </a:prstGeom>
        </p:spPr>
      </p:pic>
      <p:pic>
        <p:nvPicPr>
          <p:cNvPr id="5" name="Picture 4" descr="goods_keyring_hangu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88" y="1463040"/>
            <a:ext cx="36576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358384"/>
            <a:ext cx="75346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封神(한자)과 봉신(국문) 패키지를 함께 준비해 한국 · 일본 동시 유통에 대응한다.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5672" y="1499616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확장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5672" y="1810512"/>
            <a:ext cx="2670048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부적 · 색동 · 원혼 덩어리 세 요소가 축소 모형에서도 유지된다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얼굴이 없어 배우 초상권과 무관하게 상품화할 수 있다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키링, 피규어, 아크릴 순으로 전개한다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티저 공개 시점부터 선판매가 가능하다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ly_white.jpg"/>
          <p:cNvPicPr>
            <a:picLocks noChangeAspect="1"/>
          </p:cNvPicPr>
          <p:nvPr/>
        </p:nvPicPr>
        <p:blipFill>
          <a:blip r:embed="rId2"/>
          <a:srcRect l="7293" r="7293"/>
          <a:stretch>
            <a:fillRect/>
          </a:stretch>
        </p:blipFill>
        <p:spPr>
          <a:xfrm>
            <a:off x="6095984" y="0"/>
            <a:ext cx="609598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83663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05" y="0"/>
            <a:ext cx="365759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2103120"/>
            <a:ext cx="53949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5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“저주는 사라진 것이 아니다.
다만, 형태를 바꿨을 뿐이다.”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3232" y="3877056"/>
            <a:ext cx="1920240" cy="0"/>
          </a:xfrm>
          <a:prstGeom prst="line">
            <a:avLst/>
          </a:prstGeom>
          <a:ln w="9525">
            <a:solidFill>
              <a:srgbClr val="F4EFE6">
                <a:alpha val="4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4169663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spc="14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赫血  KAKKETSU  ·  각혈</a:t>
            </a:r>
          </a:p>
          <a:p>
            <a:pPr algn="l"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「그것」 封神 · 봉신   —   컨셉 레퍼런스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" y="5358384"/>
            <a:ext cx="5394960" cy="0"/>
          </a:xfrm>
          <a:prstGeom prst="line">
            <a:avLst/>
          </a:prstGeom>
          <a:ln w="9525">
            <a:solidFill>
              <a:srgbClr val="F4EFE6">
                <a:alpha val="18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5559552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각본 · 감독   한동하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제작   WALLAH PROJECT  ×  SUPERNOVA STUDIOS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