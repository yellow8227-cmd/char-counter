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3.png"/><Relationship Id="rId4" Type="http://schemas.openxmlformats.org/officeDocument/2006/relationships/image" Target="../media/image1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5.png"/><Relationship Id="rId4" Type="http://schemas.openxmlformats.org/officeDocument/2006/relationships/image" Target="../media/image1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image" Target="../media/image3.png"/><Relationship Id="rId4" Type="http://schemas.openxmlformats.org/officeDocument/2006/relationships/image" Target="../media/image1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image" Target="../media/image2.png"/><Relationship Id="rId4" Type="http://schemas.openxmlformats.org/officeDocument/2006/relationships/image" Target="../media/image15.png"/><Relationship Id="rId5" Type="http://schemas.openxmlformats.org/officeDocument/2006/relationships/image" Target="../media/image20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2.jpg"/><Relationship Id="rId4" Type="http://schemas.openxmlformats.org/officeDocument/2006/relationships/image" Target="../media/image23.jpg"/><Relationship Id="rId5" Type="http://schemas.openxmlformats.org/officeDocument/2006/relationships/image" Target="../media/image2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image" Target="../media/image28.jpg"/><Relationship Id="rId4" Type="http://schemas.openxmlformats.org/officeDocument/2006/relationships/image" Target="../media/image29.jpg"/><Relationship Id="rId5" Type="http://schemas.openxmlformats.org/officeDocument/2006/relationships/image" Target="../media/image30.jpg"/><Relationship Id="rId6" Type="http://schemas.openxmlformats.org/officeDocument/2006/relationships/image" Target="../media/image3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image" Target="../media/image2.png"/><Relationship Id="rId4" Type="http://schemas.openxmlformats.org/officeDocument/2006/relationships/image" Target="../media/image33.png"/><Relationship Id="rId5" Type="http://schemas.openxmlformats.org/officeDocument/2006/relationships/image" Target="../media/image4.png"/><Relationship Id="rId6" Type="http://schemas.openxmlformats.org/officeDocument/2006/relationships/image" Target="../media/image34.jpg"/><Relationship Id="rId7" Type="http://schemas.openxmlformats.org/officeDocument/2006/relationships/image" Target="../media/image35.jpg"/><Relationship Id="rId8" Type="http://schemas.openxmlformats.org/officeDocument/2006/relationships/image" Target="../media/image36.jpg"/><Relationship Id="rId9" Type="http://schemas.openxmlformats.org/officeDocument/2006/relationships/image" Target="../media/image37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image" Target="../media/image40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rridor_hospital.jpg"/>
          <p:cNvPicPr>
            <a:picLocks noChangeAspect="1"/>
          </p:cNvPicPr>
          <p:nvPr/>
        </p:nvPicPr>
        <p:blipFill>
          <a:blip r:embed="rId2"/>
          <a:srcRect t="26" b="26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3" name="Picture 2" descr="vignet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scrim_lef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9022057" cy="6858000"/>
          </a:xfrm>
          <a:prstGeom prst="rect">
            <a:avLst/>
          </a:prstGeom>
        </p:spPr>
      </p:pic>
      <p:pic>
        <p:nvPicPr>
          <p:cNvPr id="5" name="Picture 4" descr="scrim_botto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880360"/>
            <a:ext cx="12191969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" y="53035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220">
                <a:solidFill>
                  <a:srgbClr val="D2CABE"/>
                </a:solidFill>
                <a:latin typeface="Cambria"/>
                <a:ea typeface="Malgun Gothic"/>
                <a:cs typeface="Malgun Gothic"/>
              </a:rPr>
              <a:t>WALLAH PROJECT   ×   SUPERNOVA STUDIOS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554480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360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CREATURE DESIGN BIBLE</a:t>
            </a:r>
          </a:p>
        </p:txBody>
      </p:sp>
      <p:pic>
        <p:nvPicPr>
          <p:cNvPr id="8" name="Picture 7" descr="title_locku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0624" y="1901952"/>
            <a:ext cx="5120640" cy="187909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858768"/>
            <a:ext cx="80467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spc="20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각혈  ·  KAKKETSU</a:t>
            </a:r>
          </a:p>
          <a:p>
            <a:pPr algn="l">
              <a:lnSpc>
                <a:spcPct val="114000"/>
              </a:lnSpc>
              <a:spcBef>
                <a:spcPts val="1000"/>
              </a:spcBef>
              <a:spcAft>
                <a:spcPts val="0"/>
              </a:spcAft>
            </a:pPr>
            <a:r>
              <a:rPr sz="4400" b="1" spc="-8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「그것」 封神 · 봉신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5449824"/>
            <a:ext cx="2194560" cy="7620"/>
          </a:xfrm>
          <a:prstGeom prst="rect">
            <a:avLst/>
          </a:prstGeom>
          <a:solidFill>
            <a:srgbClr val="F4EFE6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5632704"/>
            <a:ext cx="7863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장편 오컬트 호러 · 세대극   |   한국 – 일본   |   각본 · 감독  한동하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000" b="0">
                <a:solidFill>
                  <a:srgbClr val="AE5C4F"/>
                </a:solidFill>
                <a:latin typeface="Malgun Gothic"/>
                <a:ea typeface="Malgun Gothic"/>
                <a:cs typeface="Malgun Gothic"/>
              </a:rPr>
              <a:t>2026 투자 검토용   ·  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og_white.jpg"/>
          <p:cNvPicPr>
            <a:picLocks noChangeAspect="1"/>
          </p:cNvPicPr>
          <p:nvPr/>
        </p:nvPicPr>
        <p:blipFill>
          <a:blip r:embed="rId2"/>
          <a:srcRect t="10500" b="33250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3" name="Picture 2" descr="scrim_light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" y="113385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320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LOGLINE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664208"/>
            <a:ext cx="59436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2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spc="-40">
                <a:solidFill>
                  <a:srgbClr val="141111"/>
                </a:solidFill>
                <a:latin typeface="Malgun Gothic"/>
                <a:ea typeface="Malgun Gothic"/>
                <a:cs typeface="Malgun Gothic"/>
              </a:rPr>
              <a:t>대대로 이어진 가문의 저주를 끊기 위해
싸워온 한 남자는, 그 저주라 믿었던 존재가
사실은 가족을 지켜온 수호였음을 깨닫고
핏줄과 죄의 진짜 의미와 마주한다.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4992624"/>
            <a:ext cx="1645920" cy="7620"/>
          </a:xfrm>
          <a:prstGeom prst="rect">
            <a:avLst/>
          </a:prstGeom>
          <a:solidFill>
            <a:srgbClr val="453E3A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212080"/>
            <a:ext cx="57607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53E3A"/>
                </a:solidFill>
                <a:latin typeface="Malgun Gothic"/>
                <a:ea typeface="Malgun Gothic"/>
                <a:cs typeface="Malgun Gothic"/>
              </a:rPr>
              <a:t>1582 조선  →  현재 일본   ·   4대에 걸친 핏줄, 하나의 형상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453E3A"/>
                </a:solidFill>
                <a:latin typeface="Malgun Gothic"/>
                <a:ea typeface="Malgun Gothic"/>
                <a:cs typeface="Malgun Gothic"/>
              </a:rPr>
              <a:t>赫血 KAKKETSU   ·   「그것」封神 크리처 디자인 바이블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0">
                <a:solidFill>
                  <a:srgbClr val="453E3A"/>
                </a:solidFill>
                <a:latin typeface="Cambria"/>
                <a:ea typeface="Malgun Gothic"/>
                <a:cs typeface="Malgun Gothic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neel_closeup.jpg"/>
          <p:cNvPicPr>
            <a:picLocks noChangeAspect="1"/>
          </p:cNvPicPr>
          <p:nvPr/>
        </p:nvPicPr>
        <p:blipFill>
          <a:blip r:embed="rId2"/>
          <a:srcRect t="8591" b="11864"/>
          <a:stretch>
            <a:fillRect/>
          </a:stretch>
        </p:blipFill>
        <p:spPr>
          <a:xfrm>
            <a:off x="5730225" y="0"/>
            <a:ext cx="6461743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217904" cy="6858000"/>
          </a:xfrm>
          <a:prstGeom prst="rect">
            <a:avLst/>
          </a:prstGeom>
          <a:solidFill>
            <a:srgbClr val="0A08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rim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386" y="0"/>
            <a:ext cx="365759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" y="475488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140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01</a:t>
            </a:r>
            <a:r>
              <a:rPr sz="1000" b="1" spc="180">
                <a:solidFill>
                  <a:srgbClr val="A2998E"/>
                </a:solidFill>
                <a:latin typeface="Cambria"/>
                <a:ea typeface="Malgun Gothic"/>
                <a:cs typeface="Malgun Gothic"/>
              </a:rPr>
              <a:t>   THE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22960"/>
            <a:ext cx="5212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spc="-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저주가 아니라
수호였다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139696"/>
            <a:ext cx="5212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「그것」은 특정 인물도, 유령도 아니다. 가문이 축적한 죄와
원념이 형태를 얻은, 저주의 얼굴을 한 봉인이다.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944368"/>
            <a:ext cx="5212080" cy="7620"/>
          </a:xfrm>
          <a:prstGeom prst="rect">
            <a:avLst/>
          </a:prstGeom>
          <a:solidFill>
            <a:srgbClr val="F4EFE6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3236976"/>
            <a:ext cx="56692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6736" y="3200400"/>
            <a:ext cx="4608576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추적</a:t>
            </a:r>
            <a:r>
              <a:rPr sz="900" b="1" spc="160">
                <a:solidFill>
                  <a:srgbClr val="AE5C4F"/>
                </a:solidFill>
                <a:latin typeface="Cambria"/>
                <a:ea typeface="Malgun Gothic"/>
                <a:cs typeface="Malgun Gothic"/>
              </a:rPr>
              <a:t>   STALK</a:t>
            </a:r>
          </a:p>
          <a:p>
            <a:pPr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</a:pPr>
            <a:r>
              <a:rPr sz="11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1587년 굿판에서 형상을 얻고, 이름도 얼굴도 아닌 핏줄만을 따라 이동한다.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" y="4078224"/>
            <a:ext cx="5212080" cy="7620"/>
          </a:xfrm>
          <a:prstGeom prst="rect">
            <a:avLst/>
          </a:prstGeom>
          <a:solidFill>
            <a:srgbClr val="F4EFE6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4242816"/>
            <a:ext cx="56692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6736" y="4206240"/>
            <a:ext cx="4608576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희생</a:t>
            </a:r>
            <a:r>
              <a:rPr sz="900" b="1" spc="160">
                <a:solidFill>
                  <a:srgbClr val="AE5C4F"/>
                </a:solidFill>
                <a:latin typeface="Cambria"/>
                <a:ea typeface="Malgun Gothic"/>
                <a:cs typeface="Malgun Gothic"/>
              </a:rPr>
              <a:t>   ATTRITION</a:t>
            </a:r>
          </a:p>
          <a:p>
            <a:pPr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</a:pPr>
            <a:r>
              <a:rPr sz="11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조부 동필, 부친 종문. 두 세대가 같은 방식으로 죽는다.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5084064"/>
            <a:ext cx="5212080" cy="7620"/>
          </a:xfrm>
          <a:prstGeom prst="rect">
            <a:avLst/>
          </a:prstGeom>
          <a:solidFill>
            <a:srgbClr val="F4EFE6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5248656"/>
            <a:ext cx="56692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16736" y="5212080"/>
            <a:ext cx="4608576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부재</a:t>
            </a:r>
            <a:r>
              <a:rPr sz="900" b="1" spc="160">
                <a:solidFill>
                  <a:srgbClr val="AE5C4F"/>
                </a:solidFill>
                <a:latin typeface="Cambria"/>
                <a:ea typeface="Malgun Gothic"/>
                <a:cs typeface="Malgun Gothic"/>
              </a:rPr>
              <a:t>   ABSENCE</a:t>
            </a:r>
          </a:p>
          <a:p>
            <a:pPr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</a:pPr>
            <a:r>
              <a:rPr sz="11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아들이 죽자 「그것」은 걸음을 되찾고 떠난다. 지옥은 그 다음이다.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7E766C"/>
                </a:solidFill>
                <a:latin typeface="Malgun Gothic"/>
                <a:ea typeface="Malgun Gothic"/>
                <a:cs typeface="Malgun Gothic"/>
              </a:rPr>
              <a:t>赫血 KAKKETSU   ·   「그것」封神 크리처 디자인 바이블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0">
                <a:solidFill>
                  <a:srgbClr val="7E766C"/>
                </a:solidFill>
                <a:latin typeface="Cambria"/>
                <a:ea typeface="Malgun Gothic"/>
                <a:cs typeface="Malgun Gothic"/>
              </a:rPr>
              <a:t>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rridor_wood.jpg"/>
          <p:cNvPicPr>
            <a:picLocks noChangeAspect="1"/>
          </p:cNvPicPr>
          <p:nvPr/>
        </p:nvPicPr>
        <p:blipFill>
          <a:blip r:embed="rId2"/>
          <a:srcRect t="24743" b="30241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3" name="Picture 2" descr="scrim_8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vignet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" y="475488"/>
            <a:ext cx="1076550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140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02</a:t>
            </a:r>
            <a:r>
              <a:rPr sz="1000" b="1" spc="180">
                <a:solidFill>
                  <a:srgbClr val="A2998E"/>
                </a:solidFill>
                <a:latin typeface="Cambria"/>
                <a:ea typeface="Malgun Gothic"/>
                <a:cs typeface="Malgun Gothic"/>
              </a:rPr>
              <a:t>   BLOODLINE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22960"/>
            <a:ext cx="1076550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spc="-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핏줄의 계보 — 「그것」이 따라온 길</a:t>
            </a:r>
          </a:p>
        </p:txBody>
      </p:sp>
      <p:sp>
        <p:nvSpPr>
          <p:cNvPr id="7" name="Oval 6"/>
          <p:cNvSpPr/>
          <p:nvPr/>
        </p:nvSpPr>
        <p:spPr>
          <a:xfrm>
            <a:off x="713232" y="2103120"/>
            <a:ext cx="100584" cy="100584"/>
          </a:xfrm>
          <a:prstGeom prst="ellipse">
            <a:avLst/>
          </a:prstGeom>
          <a:solidFill>
            <a:srgbClr val="D2CA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2395728"/>
            <a:ext cx="150164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4EFE6"/>
                </a:solidFill>
                <a:latin typeface="Cambria"/>
                <a:ea typeface="Malgun Gothic"/>
                <a:cs typeface="Malgun Gothic"/>
              </a:rPr>
              <a:t>1582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050" b="1" spc="80">
                <a:solidFill>
                  <a:srgbClr val="AE5C4F"/>
                </a:solidFill>
                <a:latin typeface="Malgun Gothic"/>
                <a:ea typeface="Malgun Gothic"/>
                <a:cs typeface="Malgun Gothic"/>
              </a:rPr>
              <a:t>조선 · 평양</a:t>
            </a:r>
          </a:p>
          <a:p>
            <a:pPr algn="l">
              <a:lnSpc>
                <a:spcPct val="155000"/>
              </a:lnSpc>
              <a:spcBef>
                <a:spcPts val="800"/>
              </a:spcBef>
              <a:spcAft>
                <a:spcPts val="0"/>
              </a:spcAft>
            </a:pPr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처형장의 망나니.
피와 원망이 땅에 쌓인다.</a:t>
            </a:r>
          </a:p>
        </p:txBody>
      </p:sp>
      <p:sp>
        <p:nvSpPr>
          <p:cNvPr id="9" name="Oval 8"/>
          <p:cNvSpPr/>
          <p:nvPr/>
        </p:nvSpPr>
        <p:spPr>
          <a:xfrm>
            <a:off x="2507482" y="2103120"/>
            <a:ext cx="100584" cy="100584"/>
          </a:xfrm>
          <a:prstGeom prst="ellipse">
            <a:avLst/>
          </a:prstGeom>
          <a:solidFill>
            <a:srgbClr val="C92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07482" y="2395728"/>
            <a:ext cx="150164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4EFE6"/>
                </a:solidFill>
                <a:latin typeface="Cambria"/>
                <a:ea typeface="Malgun Gothic"/>
                <a:cs typeface="Malgun Gothic"/>
              </a:rPr>
              <a:t>1587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050" b="1" spc="80">
                <a:solidFill>
                  <a:srgbClr val="AE5C4F"/>
                </a:solidFill>
                <a:latin typeface="Malgun Gothic"/>
                <a:ea typeface="Malgun Gothic"/>
                <a:cs typeface="Malgun Gothic"/>
              </a:rPr>
              <a:t>굿판</a:t>
            </a:r>
          </a:p>
          <a:p>
            <a:pPr algn="l">
              <a:lnSpc>
                <a:spcPct val="155000"/>
              </a:lnSpc>
              <a:spcBef>
                <a:spcPts val="800"/>
              </a:spcBef>
              <a:spcAft>
                <a:spcPts val="0"/>
              </a:spcAft>
            </a:pPr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무당이 노모의 시신을
부적으로 봉인한다.</a:t>
            </a:r>
          </a:p>
        </p:txBody>
      </p:sp>
      <p:sp>
        <p:nvSpPr>
          <p:cNvPr id="11" name="Oval 10"/>
          <p:cNvSpPr/>
          <p:nvPr/>
        </p:nvSpPr>
        <p:spPr>
          <a:xfrm>
            <a:off x="4301733" y="2103120"/>
            <a:ext cx="100584" cy="100584"/>
          </a:xfrm>
          <a:prstGeom prst="ellipse">
            <a:avLst/>
          </a:prstGeom>
          <a:solidFill>
            <a:srgbClr val="D2CA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01733" y="2395728"/>
            <a:ext cx="150164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4EFE6"/>
                </a:solidFill>
                <a:latin typeface="Cambria"/>
                <a:ea typeface="Malgun Gothic"/>
                <a:cs typeface="Malgun Gothic"/>
              </a:rPr>
              <a:t>1945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050" b="1" spc="80">
                <a:solidFill>
                  <a:srgbClr val="AE5C4F"/>
                </a:solidFill>
                <a:latin typeface="Malgun Gothic"/>
                <a:ea typeface="Malgun Gothic"/>
                <a:cs typeface="Malgun Gothic"/>
              </a:rPr>
              <a:t>일제강점기</a:t>
            </a:r>
          </a:p>
          <a:p>
            <a:pPr algn="l">
              <a:lnSpc>
                <a:spcPct val="155000"/>
              </a:lnSpc>
              <a:spcBef>
                <a:spcPts val="800"/>
              </a:spcBef>
              <a:spcAft>
                <a:spcPts val="0"/>
              </a:spcAft>
            </a:pPr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순사 백동필.
제복을 입고 독립투사를 고문한다.</a:t>
            </a:r>
          </a:p>
        </p:txBody>
      </p:sp>
      <p:sp>
        <p:nvSpPr>
          <p:cNvPr id="13" name="Oval 12"/>
          <p:cNvSpPr/>
          <p:nvPr/>
        </p:nvSpPr>
        <p:spPr>
          <a:xfrm>
            <a:off x="6095984" y="2103120"/>
            <a:ext cx="100584" cy="100584"/>
          </a:xfrm>
          <a:prstGeom prst="ellipse">
            <a:avLst/>
          </a:prstGeom>
          <a:solidFill>
            <a:srgbClr val="D2CA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5984" y="2395728"/>
            <a:ext cx="150164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4EFE6"/>
                </a:solidFill>
                <a:latin typeface="Cambria"/>
                <a:ea typeface="Malgun Gothic"/>
                <a:cs typeface="Malgun Gothic"/>
              </a:rPr>
              <a:t>1984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050" b="1" spc="80">
                <a:solidFill>
                  <a:srgbClr val="AE5C4F"/>
                </a:solidFill>
                <a:latin typeface="Malgun Gothic"/>
                <a:ea typeface="Malgun Gothic"/>
                <a:cs typeface="Malgun Gothic"/>
              </a:rPr>
              <a:t>일본 오사카</a:t>
            </a:r>
          </a:p>
          <a:p>
            <a:pPr algn="l">
              <a:lnSpc>
                <a:spcPct val="155000"/>
              </a:lnSpc>
              <a:spcBef>
                <a:spcPts val="800"/>
              </a:spcBef>
              <a:spcAft>
                <a:spcPts val="0"/>
              </a:spcAft>
            </a:pPr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사형집행관 백종문.
버튼으로 사람을 죽인다.</a:t>
            </a:r>
          </a:p>
        </p:txBody>
      </p:sp>
      <p:sp>
        <p:nvSpPr>
          <p:cNvPr id="15" name="Oval 14"/>
          <p:cNvSpPr/>
          <p:nvPr/>
        </p:nvSpPr>
        <p:spPr>
          <a:xfrm>
            <a:off x="7890235" y="2103120"/>
            <a:ext cx="100584" cy="100584"/>
          </a:xfrm>
          <a:prstGeom prst="ellipse">
            <a:avLst/>
          </a:prstGeom>
          <a:solidFill>
            <a:srgbClr val="D2CA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90235" y="2395728"/>
            <a:ext cx="150164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4EFE6"/>
                </a:solidFill>
                <a:latin typeface="Cambria"/>
                <a:ea typeface="Malgun Gothic"/>
                <a:cs typeface="Malgun Gothic"/>
              </a:rPr>
              <a:t>2006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050" b="1" spc="80">
                <a:solidFill>
                  <a:srgbClr val="AE5C4F"/>
                </a:solidFill>
                <a:latin typeface="Malgun Gothic"/>
                <a:ea typeface="Malgun Gothic"/>
                <a:cs typeface="Malgun Gothic"/>
              </a:rPr>
              <a:t>일본 후쿠오카</a:t>
            </a:r>
          </a:p>
          <a:p>
            <a:pPr algn="l">
              <a:lnSpc>
                <a:spcPct val="155000"/>
              </a:lnSpc>
              <a:spcBef>
                <a:spcPts val="800"/>
              </a:spcBef>
              <a:spcAft>
                <a:spcPts val="0"/>
              </a:spcAft>
            </a:pPr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산부인과 의사 슈.
저주를 과학으로 부정한다.</a:t>
            </a:r>
          </a:p>
        </p:txBody>
      </p:sp>
      <p:sp>
        <p:nvSpPr>
          <p:cNvPr id="17" name="Oval 16"/>
          <p:cNvSpPr/>
          <p:nvPr/>
        </p:nvSpPr>
        <p:spPr>
          <a:xfrm>
            <a:off x="9684486" y="2103120"/>
            <a:ext cx="100584" cy="100584"/>
          </a:xfrm>
          <a:prstGeom prst="ellipse">
            <a:avLst/>
          </a:prstGeom>
          <a:solidFill>
            <a:srgbClr val="C92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84486" y="2395728"/>
            <a:ext cx="150164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4EFE6"/>
                </a:solidFill>
                <a:latin typeface="Cambria"/>
                <a:ea typeface="Malgun Gothic"/>
                <a:cs typeface="Malgun Gothic"/>
              </a:rPr>
              <a:t>현재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</a:pPr>
            <a:r>
              <a:rPr sz="1050" b="1" spc="80">
                <a:solidFill>
                  <a:srgbClr val="AE5C4F"/>
                </a:solidFill>
                <a:latin typeface="Malgun Gothic"/>
                <a:ea typeface="Malgun Gothic"/>
                <a:cs typeface="Malgun Gothic"/>
              </a:rPr>
              <a:t>그리고 하루마</a:t>
            </a:r>
          </a:p>
          <a:p>
            <a:pPr algn="l">
              <a:lnSpc>
                <a:spcPct val="155000"/>
              </a:lnSpc>
              <a:spcBef>
                <a:spcPts val="800"/>
              </a:spcBef>
              <a:spcAft>
                <a:spcPts val="0"/>
              </a:spcAft>
            </a:pPr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핏줄이 끊긴 자리에
저주가 되돌아온다.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3524" y="2150668"/>
            <a:ext cx="9021546" cy="7620"/>
          </a:xfrm>
          <a:prstGeom prst="rect">
            <a:avLst/>
          </a:prstGeom>
          <a:solidFill>
            <a:srgbClr val="F4EFE6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13232" y="4517136"/>
            <a:ext cx="10765505" cy="1411732"/>
          </a:xfrm>
          <a:prstGeom prst="rect">
            <a:avLst/>
          </a:prstGeom>
          <a:solidFill>
            <a:srgbClr val="050404">
              <a:alpha val="8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0976" y="4754880"/>
            <a:ext cx="10290017" cy="9362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16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이 계보가 만드는 것</a:t>
            </a:r>
          </a:p>
          <a:p>
            <a:pPr algn="l">
              <a:lnSpc>
                <a:spcPct val="140000"/>
              </a:lnSpc>
              <a:spcBef>
                <a:spcPts val="800"/>
              </a:spcBef>
              <a:spcAft>
                <a:spcPts val="0"/>
              </a:spcAft>
            </a:pPr>
            <a:r>
              <a:rPr sz="12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네 세대 모두 죽음을 다루는 자리에 있었다.  칼 → 제복 → 버튼 → 메스.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2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도구는 문명화되었지만 하는 일은 같다. 「그것」은 그 400년을 지켜본 유일한 목격자다.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7E766C"/>
                </a:solidFill>
                <a:latin typeface="Malgun Gothic"/>
                <a:ea typeface="Malgun Gothic"/>
                <a:cs typeface="Malgun Gothic"/>
              </a:rPr>
              <a:t>赫血 KAKKETSU   ·   「그것」封神 크리처 디자인 바이블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0">
                <a:solidFill>
                  <a:srgbClr val="7E766C"/>
                </a:solidFill>
                <a:latin typeface="Cambria"/>
                <a:ea typeface="Malgun Gothic"/>
                <a:cs typeface="Malgun Gothic"/>
              </a:rPr>
              <a:t>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ront_stand.jpg"/>
          <p:cNvPicPr>
            <a:picLocks noChangeAspect="1"/>
          </p:cNvPicPr>
          <p:nvPr/>
        </p:nvPicPr>
        <p:blipFill>
          <a:blip r:embed="rId2"/>
          <a:srcRect t="11525" b="11525"/>
          <a:stretch>
            <a:fillRect/>
          </a:stretch>
        </p:blipFill>
        <p:spPr>
          <a:xfrm>
            <a:off x="5059667" y="0"/>
            <a:ext cx="713230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5608305" cy="6858000"/>
          </a:xfrm>
          <a:prstGeom prst="rect">
            <a:avLst/>
          </a:prstGeom>
          <a:solidFill>
            <a:srgbClr val="0A08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rim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787" y="0"/>
            <a:ext cx="3169912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" y="47548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140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03</a:t>
            </a:r>
            <a:r>
              <a:rPr sz="1000" b="1" spc="180">
                <a:solidFill>
                  <a:srgbClr val="A2998E"/>
                </a:solidFill>
                <a:latin typeface="Cambria"/>
                <a:ea typeface="Malgun Gothic"/>
                <a:cs typeface="Malgun Gothic"/>
              </a:rPr>
              <a:t>   CHARACTER SPEC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22960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spc="-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封神  봉신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920240"/>
            <a:ext cx="106070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신장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65376" y="1874520"/>
            <a:ext cx="34198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150cm  ·  연출 스케일 180 / 190 / 260cm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2231136"/>
            <a:ext cx="4572000" cy="7620"/>
          </a:xfrm>
          <a:prstGeom prst="rect">
            <a:avLst/>
          </a:prstGeom>
          <a:solidFill>
            <a:srgbClr val="F4EFE6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2432304"/>
            <a:ext cx="106070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성별 · 연령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65376" y="2386584"/>
            <a:ext cx="34198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여성 · 노인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" y="2743200"/>
            <a:ext cx="4572000" cy="7620"/>
          </a:xfrm>
          <a:prstGeom prst="rect">
            <a:avLst/>
          </a:prstGeom>
          <a:solidFill>
            <a:srgbClr val="F4EFE6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2944368"/>
            <a:ext cx="106070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정체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65376" y="2898648"/>
            <a:ext cx="341985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망나니의 노모 — 굿판에서 봉인된 시신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" y="3255264"/>
            <a:ext cx="4572000" cy="7620"/>
          </a:xfrm>
          <a:prstGeom prst="rect">
            <a:avLst/>
          </a:prstGeom>
          <a:solidFill>
            <a:srgbClr val="F4EFE6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3712463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6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특징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4005072"/>
            <a:ext cx="45720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·  이마의 붉은 부적이 얼굴을 대체한다</a:t>
            </a:r>
          </a:p>
          <a:p>
            <a:pPr algn="l">
              <a:lnSpc>
                <a:spcPct val="150000"/>
              </a:lnSpc>
              <a:spcBef>
                <a:spcPts val="9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·  극도로 마른 체형, 메마른 피부</a:t>
            </a:r>
          </a:p>
          <a:p>
            <a:pPr algn="l">
              <a:lnSpc>
                <a:spcPct val="150000"/>
              </a:lnSpc>
              <a:spcBef>
                <a:spcPts val="9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·  빛바랜 색동저고리 누더기</a:t>
            </a:r>
          </a:p>
          <a:p>
            <a:pPr algn="l">
              <a:lnSpc>
                <a:spcPct val="150000"/>
              </a:lnSpc>
              <a:spcBef>
                <a:spcPts val="9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·  한쪽 다리를 절며 무겁게 이동한다</a:t>
            </a:r>
          </a:p>
          <a:p>
            <a:pPr algn="l">
              <a:lnSpc>
                <a:spcPct val="150000"/>
              </a:lnSpc>
              <a:spcBef>
                <a:spcPts val="9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·  등에 결박된 원혼 덩어리를 머리카락이 억누른다</a:t>
            </a:r>
          </a:p>
        </p:txBody>
      </p:sp>
      <p:sp>
        <p:nvSpPr>
          <p:cNvPr id="18" name="Oval 17"/>
          <p:cNvSpPr/>
          <p:nvPr/>
        </p:nvSpPr>
        <p:spPr>
          <a:xfrm>
            <a:off x="8503919" y="2715768"/>
            <a:ext cx="91440" cy="91440"/>
          </a:xfrm>
          <a:prstGeom prst="ellipse">
            <a:avLst/>
          </a:prstGeom>
          <a:solidFill>
            <a:srgbClr val="C92E22"/>
          </a:solidFill>
          <a:ln w="9525">
            <a:solidFill>
              <a:srgbClr val="F4EFE6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55863" y="2757830"/>
            <a:ext cx="493776" cy="9525"/>
          </a:xfrm>
          <a:prstGeom prst="rect">
            <a:avLst/>
          </a:prstGeom>
          <a:solidFill>
            <a:srgbClr val="F4EFE6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24144" y="2596896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이마의 부적 「封神」</a:t>
            </a:r>
          </a:p>
          <a:p>
            <a:pPr algn="r">
              <a:lnSpc>
                <a:spcPct val="135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얼굴이 있어야 할 자리</a:t>
            </a:r>
          </a:p>
        </p:txBody>
      </p:sp>
      <p:sp>
        <p:nvSpPr>
          <p:cNvPr id="21" name="Oval 20"/>
          <p:cNvSpPr/>
          <p:nvPr/>
        </p:nvSpPr>
        <p:spPr>
          <a:xfrm>
            <a:off x="8567928" y="4014216"/>
            <a:ext cx="91440" cy="91440"/>
          </a:xfrm>
          <a:prstGeom prst="ellipse">
            <a:avLst/>
          </a:prstGeom>
          <a:solidFill>
            <a:srgbClr val="C92E22"/>
          </a:solidFill>
          <a:ln w="9525">
            <a:solidFill>
              <a:srgbClr val="F4EFE6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55863" y="4056278"/>
            <a:ext cx="557784" cy="9525"/>
          </a:xfrm>
          <a:prstGeom prst="rect">
            <a:avLst/>
          </a:prstGeom>
          <a:solidFill>
            <a:srgbClr val="F4EFE6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24144" y="3895344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빛바랜 색동저고리</a:t>
            </a:r>
          </a:p>
          <a:p>
            <a:pPr algn="r">
              <a:lnSpc>
                <a:spcPct val="135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색이 거의 빠진 누더기</a:t>
            </a:r>
          </a:p>
        </p:txBody>
      </p:sp>
      <p:sp>
        <p:nvSpPr>
          <p:cNvPr id="24" name="Oval 23"/>
          <p:cNvSpPr/>
          <p:nvPr/>
        </p:nvSpPr>
        <p:spPr>
          <a:xfrm>
            <a:off x="9756648" y="1618488"/>
            <a:ext cx="91440" cy="91440"/>
          </a:xfrm>
          <a:prstGeom prst="ellipse">
            <a:avLst/>
          </a:prstGeom>
          <a:solidFill>
            <a:srgbClr val="C92E22"/>
          </a:solidFill>
          <a:ln w="9525">
            <a:solidFill>
              <a:srgbClr val="F4EFE6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802368" y="1660550"/>
            <a:ext cx="256031" cy="9525"/>
          </a:xfrm>
          <a:prstGeom prst="rect">
            <a:avLst/>
          </a:prstGeom>
          <a:solidFill>
            <a:srgbClr val="F4EFE6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0" y="1499616"/>
            <a:ext cx="1444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원혼 덩어리</a:t>
            </a:r>
          </a:p>
          <a:p>
            <a:pPr algn="l">
              <a:lnSpc>
                <a:spcPct val="135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등에 결박된 수백의 원혼</a:t>
            </a:r>
          </a:p>
        </p:txBody>
      </p:sp>
      <p:sp>
        <p:nvSpPr>
          <p:cNvPr id="27" name="Oval 26"/>
          <p:cNvSpPr/>
          <p:nvPr/>
        </p:nvSpPr>
        <p:spPr>
          <a:xfrm>
            <a:off x="8458200" y="5916168"/>
            <a:ext cx="91440" cy="91440"/>
          </a:xfrm>
          <a:prstGeom prst="ellipse">
            <a:avLst/>
          </a:prstGeom>
          <a:solidFill>
            <a:srgbClr val="C92E22"/>
          </a:solidFill>
          <a:ln w="9525">
            <a:solidFill>
              <a:srgbClr val="F4EFE6">
                <a:alpha val="7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55863" y="5958230"/>
            <a:ext cx="448056" cy="9525"/>
          </a:xfrm>
          <a:prstGeom prst="rect">
            <a:avLst/>
          </a:prstGeom>
          <a:solidFill>
            <a:srgbClr val="F4EFE6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24144" y="5797296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뒤틀린 다리 · 짚신</a:t>
            </a:r>
          </a:p>
          <a:p>
            <a:pPr algn="r">
              <a:lnSpc>
                <a:spcPct val="135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질질 끌리는 한쪽 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7E766C"/>
                </a:solidFill>
                <a:latin typeface="Malgun Gothic"/>
                <a:ea typeface="Malgun Gothic"/>
                <a:cs typeface="Malgun Gothic"/>
              </a:rPr>
              <a:t>赫血 KAKKETSU   ·   「그것」封神 크리처 디자인 바이블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0">
                <a:solidFill>
                  <a:srgbClr val="7E766C"/>
                </a:solidFill>
                <a:latin typeface="Cambria"/>
                <a:ea typeface="Malgun Gothic"/>
                <a:cs typeface="Malgun Gothic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ront_arms.jpg"/>
          <p:cNvPicPr>
            <a:picLocks noChangeAspect="1"/>
          </p:cNvPicPr>
          <p:nvPr/>
        </p:nvPicPr>
        <p:blipFill>
          <a:blip r:embed="rId2"/>
          <a:srcRect t="8318" b="8318"/>
          <a:stretch>
            <a:fillRect/>
          </a:stretch>
        </p:blipFill>
        <p:spPr>
          <a:xfrm>
            <a:off x="5608305" y="0"/>
            <a:ext cx="6583663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095984" cy="6858000"/>
          </a:xfrm>
          <a:prstGeom prst="rect">
            <a:avLst/>
          </a:prstGeom>
          <a:solidFill>
            <a:srgbClr val="0A08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rim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466" y="0"/>
            <a:ext cx="3169912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" y="475488"/>
            <a:ext cx="5074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140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04</a:t>
            </a:r>
            <a:r>
              <a:rPr sz="1000" b="1" spc="180">
                <a:solidFill>
                  <a:srgbClr val="A2998E"/>
                </a:solidFill>
                <a:latin typeface="Cambria"/>
                <a:ea typeface="Malgun Gothic"/>
                <a:cs typeface="Malgun Gothic"/>
              </a:rPr>
              <a:t>   DESIGN ANCHOR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22960"/>
            <a:ext cx="5074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spc="-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부적 「封神」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389888"/>
            <a:ext cx="5074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A2998E"/>
                </a:solidFill>
                <a:latin typeface="Malgun Gothic"/>
                <a:ea typeface="Malgun Gothic"/>
                <a:cs typeface="Malgun Gothic"/>
              </a:rPr>
              <a:t>얼굴을 대체하는 봉인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011680"/>
            <a:ext cx="5074920" cy="1745132"/>
          </a:xfrm>
          <a:prstGeom prst="rect">
            <a:avLst/>
          </a:prstGeom>
          <a:solidFill>
            <a:srgbClr val="050404">
              <a:alpha val="8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0976" y="2249424"/>
            <a:ext cx="4599431" cy="12696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16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문화 주석</a:t>
            </a:r>
          </a:p>
          <a:p>
            <a:pPr algn="l">
              <a:lnSpc>
                <a:spcPct val="140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부적은 복을 부르는 물건이 아니다.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위험한 것을 눌러 가두는 물건이다.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「封神」 — 봉할 봉, 귀신 신.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3976268"/>
            <a:ext cx="5074920" cy="1387195"/>
          </a:xfrm>
          <a:prstGeom prst="rect">
            <a:avLst/>
          </a:prstGeom>
          <a:solidFill>
            <a:srgbClr val="050404">
              <a:alpha val="8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4214012"/>
            <a:ext cx="4599431" cy="9117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16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연출 의도</a:t>
            </a:r>
          </a:p>
          <a:p>
            <a:pPr algn="l">
              <a:lnSpc>
                <a:spcPct val="140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얼굴이 없으므로 표정 연기가 성립하지 않는다.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의도를 판독할 수 없다는 사실이 서스펜스를 만든다.</a:t>
            </a:r>
          </a:p>
        </p:txBody>
      </p:sp>
      <p:pic>
        <p:nvPicPr>
          <p:cNvPr id="12" name="Picture 11" descr="tile_empty_fac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5647" y="5546344"/>
            <a:ext cx="723265" cy="76809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682496" y="5601207"/>
            <a:ext cx="40233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3막 리빌</a:t>
            </a:r>
          </a:p>
          <a:p>
            <a:pPr algn="l">
              <a:lnSpc>
                <a:spcPct val="145000"/>
              </a:lnSpc>
              <a:spcBef>
                <a:spcPts val="500"/>
              </a:spcBef>
              <a:spcAft>
                <a:spcPts val="0"/>
              </a:spcAft>
            </a:pPr>
            <a:r>
              <a:rPr sz="11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머리카락을 걷어낸 자리 — 부적 뒤에는 아무것도 없다.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7E766C"/>
                </a:solidFill>
                <a:latin typeface="Malgun Gothic"/>
                <a:ea typeface="Malgun Gothic"/>
                <a:cs typeface="Malgun Gothic"/>
              </a:rPr>
              <a:t>赫血 KAKKETSU   ·   「그것」封神 크리처 디자인 바이블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0">
                <a:solidFill>
                  <a:srgbClr val="7E766C"/>
                </a:solidFill>
                <a:latin typeface="Cambria"/>
                <a:ea typeface="Malgun Gothic"/>
                <a:cs typeface="Malgun Gothic"/>
              </a:rPr>
              <a:t>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aekdong_back.jpg"/>
          <p:cNvPicPr>
            <a:picLocks noChangeAspect="1"/>
          </p:cNvPicPr>
          <p:nvPr/>
        </p:nvPicPr>
        <p:blipFill>
          <a:blip r:embed="rId2"/>
          <a:srcRect l="10714" r="13095"/>
          <a:stretch>
            <a:fillRect/>
          </a:stretch>
        </p:blipFill>
        <p:spPr>
          <a:xfrm>
            <a:off x="0" y="0"/>
            <a:ext cx="7315181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766543" y="0"/>
            <a:ext cx="5425426" cy="6858000"/>
          </a:xfrm>
          <a:prstGeom prst="rect">
            <a:avLst/>
          </a:prstGeom>
          <a:solidFill>
            <a:srgbClr val="0A08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rim_r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1430" y="0"/>
            <a:ext cx="3413751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02" y="475488"/>
            <a:ext cx="43464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140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05</a:t>
            </a:r>
            <a:r>
              <a:rPr sz="1000" b="1" spc="180">
                <a:solidFill>
                  <a:srgbClr val="A2998E"/>
                </a:solidFill>
                <a:latin typeface="Cambria"/>
                <a:ea typeface="Malgun Gothic"/>
                <a:cs typeface="Malgun Gothic"/>
              </a:rPr>
              <a:t>   DESIGN ANCHOR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02" y="822960"/>
            <a:ext cx="43464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spc="-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색동저고리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02" y="1389888"/>
            <a:ext cx="434643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A2998E"/>
                </a:solidFill>
                <a:latin typeface="Malgun Gothic"/>
                <a:ea typeface="Malgun Gothic"/>
                <a:cs typeface="Malgun Gothic"/>
              </a:rPr>
              <a:t>아이를 지키는 옷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02" y="2011680"/>
            <a:ext cx="4343400" cy="1745132"/>
          </a:xfrm>
          <a:prstGeom prst="rect">
            <a:avLst/>
          </a:prstGeom>
          <a:solidFill>
            <a:srgbClr val="050404">
              <a:alpha val="8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70046" y="2249424"/>
            <a:ext cx="3867912" cy="12696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16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문화 주석</a:t>
            </a:r>
          </a:p>
          <a:p>
            <a:pPr algn="l">
              <a:lnSpc>
                <a:spcPct val="140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색동저고리는 아이에게 입히는 옷이다.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액을 막고 무사히 자라기를 비는 옷이다.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배색은 오방색 — 청·적·황·백·흑.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02" y="3976268"/>
            <a:ext cx="4343400" cy="1387195"/>
          </a:xfrm>
          <a:prstGeom prst="rect">
            <a:avLst/>
          </a:prstGeom>
          <a:solidFill>
            <a:srgbClr val="050404">
              <a:alpha val="8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70046" y="4214012"/>
            <a:ext cx="3867912" cy="9117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16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연출 의도</a:t>
            </a:r>
          </a:p>
          <a:p>
            <a:pPr algn="l">
              <a:lnSpc>
                <a:spcPct val="140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위협적인 형상에 가장 다정한 옷을 입힌다.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탈색된 누더기는 지켜온 시간의 증거다.</a:t>
            </a:r>
          </a:p>
        </p:txBody>
      </p:sp>
      <p:pic>
        <p:nvPicPr>
          <p:cNvPr id="12" name="Picture 11" descr="tile_blood_jeogori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02" y="5558799"/>
            <a:ext cx="768096" cy="7431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101566" y="5637783"/>
            <a:ext cx="3337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1945 시퀀스</a:t>
            </a:r>
          </a:p>
          <a:p>
            <a:pPr algn="l">
              <a:lnSpc>
                <a:spcPct val="145000"/>
              </a:lnSpc>
              <a:spcBef>
                <a:spcPts val="500"/>
              </a:spcBef>
              <a:spcAft>
                <a:spcPts val="0"/>
              </a:spcAft>
            </a:pPr>
            <a:r>
              <a:rPr sz="11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색동은 극 중 새것으로 등장하지 않는다.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0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7E766C"/>
                </a:solidFill>
                <a:latin typeface="Malgun Gothic"/>
                <a:ea typeface="Malgun Gothic"/>
                <a:cs typeface="Malgun Gothic"/>
              </a:rPr>
              <a:t>赫血 KAKKETSU   ·   「그것」封神 크리처 디자인 바이블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0">
                <a:solidFill>
                  <a:srgbClr val="7E766C"/>
                </a:solidFill>
                <a:latin typeface="Cambria"/>
                <a:ea typeface="Malgun Gothic"/>
                <a:cs typeface="Malgun Gothic"/>
              </a:rPr>
              <a:t>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oot_closeup.jpg"/>
          <p:cNvPicPr>
            <a:picLocks noChangeAspect="1"/>
          </p:cNvPicPr>
          <p:nvPr/>
        </p:nvPicPr>
        <p:blipFill>
          <a:blip r:embed="rId2"/>
          <a:srcRect t="3108" b="3108"/>
          <a:stretch>
            <a:fillRect/>
          </a:stretch>
        </p:blipFill>
        <p:spPr>
          <a:xfrm>
            <a:off x="6339824" y="0"/>
            <a:ext cx="585214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827502" cy="6858000"/>
          </a:xfrm>
          <a:prstGeom prst="rect">
            <a:avLst/>
          </a:prstGeom>
          <a:solidFill>
            <a:srgbClr val="0A08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rim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45" y="0"/>
            <a:ext cx="2926072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" y="4754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140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06</a:t>
            </a:r>
            <a:r>
              <a:rPr sz="1000" b="1" spc="180">
                <a:solidFill>
                  <a:srgbClr val="A2998E"/>
                </a:solidFill>
                <a:latin typeface="Cambria"/>
                <a:ea typeface="Malgun Gothic"/>
                <a:cs typeface="Malgun Gothic"/>
              </a:rPr>
              <a:t>   DESIGN ANCHOR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22960"/>
            <a:ext cx="5486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spc="-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짚신과 뒤틀린 다리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389888"/>
            <a:ext cx="5486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A2998E"/>
                </a:solidFill>
                <a:latin typeface="Malgun Gothic"/>
                <a:ea typeface="Malgun Gothic"/>
                <a:cs typeface="Malgun Gothic"/>
              </a:rPr>
              <a:t>업을 지고 걷는 몸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011680"/>
            <a:ext cx="5394960" cy="1387195"/>
          </a:xfrm>
          <a:prstGeom prst="rect">
            <a:avLst/>
          </a:prstGeom>
          <a:solidFill>
            <a:srgbClr val="050404">
              <a:alpha val="8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0976" y="2249424"/>
            <a:ext cx="4919472" cy="9117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16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문화 주석</a:t>
            </a:r>
          </a:p>
          <a:p>
            <a:pPr algn="l">
              <a:lnSpc>
                <a:spcPct val="140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짚신은 신분의 바닥을 뜻하는 신발이다.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업을 짊어진 채 계속 걸어가는 인간의 상징이다.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3618331"/>
            <a:ext cx="5394960" cy="1745132"/>
          </a:xfrm>
          <a:prstGeom prst="rect">
            <a:avLst/>
          </a:prstGeom>
          <a:solidFill>
            <a:srgbClr val="050404">
              <a:alpha val="8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3856075"/>
            <a:ext cx="4919472" cy="12696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16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연출 의도 — 절룩임은 상해가 아니라 하중이다</a:t>
            </a:r>
          </a:p>
          <a:p>
            <a:pPr algn="l">
              <a:lnSpc>
                <a:spcPct val="140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수백의 원혼을 대신 짊어져 무거워진 결과다.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핏줄이 끊어지는 순간, 걸음은 정상으로 돌아온다.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관객이 반전을 대사 없이 알아채는 지점.</a:t>
            </a:r>
          </a:p>
        </p:txBody>
      </p:sp>
      <p:pic>
        <p:nvPicPr>
          <p:cNvPr id="12" name="Picture 11" descr="tile_shoe_walk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5546596"/>
            <a:ext cx="1243584" cy="76759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194560" y="5601207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슥……  쿵……</a:t>
            </a:r>
          </a:p>
          <a:p>
            <a:pPr algn="l">
              <a:lnSpc>
                <a:spcPct val="145000"/>
              </a:lnSpc>
              <a:spcBef>
                <a:spcPts val="500"/>
              </a:spcBef>
              <a:spcAft>
                <a:spcPts val="0"/>
              </a:spcAft>
            </a:pPr>
            <a:r>
              <a:rPr sz="11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화면에 나오기 전에 관객이 먼저 아는 등장 시그니처.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7E766C"/>
                </a:solidFill>
                <a:latin typeface="Malgun Gothic"/>
                <a:ea typeface="Malgun Gothic"/>
                <a:cs typeface="Malgun Gothic"/>
              </a:rPr>
              <a:t>赫血 KAKKETSU   ·   「그것」封神 크리처 디자인 바이블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0">
                <a:solidFill>
                  <a:srgbClr val="7E766C"/>
                </a:solidFill>
                <a:latin typeface="Cambria"/>
                <a:ea typeface="Malgun Gothic"/>
                <a:cs typeface="Malgun Gothic"/>
              </a:rPr>
              <a:t>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ass_closeup.jpg"/>
          <p:cNvPicPr>
            <a:picLocks noChangeAspect="1"/>
          </p:cNvPicPr>
          <p:nvPr/>
        </p:nvPicPr>
        <p:blipFill>
          <a:blip r:embed="rId2"/>
          <a:srcRect t="21809" b="30117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3" name="Picture 2" descr="vignet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scrim_r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50715" y="0"/>
            <a:ext cx="10241254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386" y="475488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140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07</a:t>
            </a:r>
            <a:r>
              <a:rPr sz="1000" b="1" spc="180">
                <a:solidFill>
                  <a:srgbClr val="A2998E"/>
                </a:solidFill>
                <a:latin typeface="Cambria"/>
                <a:ea typeface="Malgun Gothic"/>
                <a:cs typeface="Malgun Gothic"/>
              </a:rPr>
              <a:t>   THE BURDEN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386" y="82296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spc="-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등에 결박된
수백의 원혼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386" y="2468880"/>
            <a:ext cx="512064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유체 거동</a:t>
            </a: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   고정 실루엣 없이 액체처럼 흐른다</a:t>
            </a:r>
          </a:p>
          <a:p>
            <a:pPr algn="l">
              <a:lnSpc>
                <a:spcPct val="145000"/>
              </a:lnSpc>
              <a:spcBef>
                <a:spcPts val="1100"/>
              </a:spcBef>
              <a:spcAft>
                <a:spcPts val="0"/>
              </a:spcAft>
            </a:pPr>
            <a:r>
              <a:rPr sz="120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구성</a:t>
            </a: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   얼굴 · 사지 · 손등이 얽혀 유기적으로 변형된다</a:t>
            </a:r>
          </a:p>
          <a:p>
            <a:pPr algn="l">
              <a:lnSpc>
                <a:spcPct val="145000"/>
              </a:lnSpc>
              <a:spcBef>
                <a:spcPts val="1100"/>
              </a:spcBef>
              <a:spcAft>
                <a:spcPts val="0"/>
              </a:spcAft>
            </a:pPr>
            <a:r>
              <a:rPr sz="120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결박</a:t>
            </a: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   긴 머리카락이 덩어리 전체를 감아 억제한다</a:t>
            </a:r>
          </a:p>
          <a:p>
            <a:pPr algn="l">
              <a:lnSpc>
                <a:spcPct val="145000"/>
              </a:lnSpc>
              <a:spcBef>
                <a:spcPts val="1100"/>
              </a:spcBef>
              <a:spcAft>
                <a:spcPts val="0"/>
              </a:spcAft>
            </a:pPr>
            <a:r>
              <a:rPr sz="120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이동</a:t>
            </a: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   덩어리도 바닥을 따라 흘러 함께 움직인다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386" y="4626864"/>
            <a:ext cx="5120640" cy="1681632"/>
          </a:xfrm>
          <a:prstGeom prst="rect">
            <a:avLst/>
          </a:prstGeom>
          <a:solidFill>
            <a:srgbClr val="050404">
              <a:alpha val="8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24130" y="4864607"/>
            <a:ext cx="4645152" cy="1206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16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연출 · VFX 노트</a:t>
            </a:r>
          </a:p>
          <a:p>
            <a:pPr algn="l">
              <a:lnSpc>
                <a:spcPct val="140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계단 시퀀스에서 결박이 풀린다.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하중을 버린 「그것」의 이동 속도가 급격히 상승하는 구간.</a:t>
            </a:r>
          </a:p>
        </p:txBody>
      </p:sp>
      <p:pic>
        <p:nvPicPr>
          <p:cNvPr id="10" name="Picture 9" descr="sheet_mont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9802" y="4626864"/>
            <a:ext cx="1381418" cy="1645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7E766C"/>
                </a:solidFill>
                <a:latin typeface="Malgun Gothic"/>
                <a:ea typeface="Malgun Gothic"/>
                <a:cs typeface="Malgun Gothic"/>
              </a:rPr>
              <a:t>赫血 KAKKETSU   ·   「그것」封神 크리처 디자인 바이블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0">
                <a:solidFill>
                  <a:srgbClr val="7E766C"/>
                </a:solidFill>
                <a:latin typeface="Cambria"/>
                <a:ea typeface="Malgun Gothic"/>
                <a:cs typeface="Malgun Gothic"/>
              </a:rPr>
              <a:t>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50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140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08</a:t>
            </a:r>
            <a:r>
              <a:rPr sz="1000" b="1" spc="180">
                <a:solidFill>
                  <a:srgbClr val="A2998E"/>
                </a:solidFill>
                <a:latin typeface="Cambria"/>
                <a:ea typeface="Malgun Gothic"/>
                <a:cs typeface="Malgun Gothic"/>
              </a:rPr>
              <a:t>   LOOK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822960"/>
            <a:ext cx="1076550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spc="-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룩 개발 — 4안</a:t>
            </a:r>
          </a:p>
        </p:txBody>
      </p:sp>
      <p:pic>
        <p:nvPicPr>
          <p:cNvPr id="4" name="Picture 3" descr="look_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500" y="1426464"/>
            <a:ext cx="1691098" cy="324690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" y="4882896"/>
            <a:ext cx="248563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A · WET / BLACK</a:t>
            </a:r>
          </a:p>
          <a:p>
            <a:pPr algn="l">
              <a:lnSpc>
                <a:spcPct val="145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젖은 흑색 점액 톤.
원혼과 머리카락이 한 덩어리.</a:t>
            </a:r>
          </a:p>
        </p:txBody>
      </p:sp>
      <p:pic>
        <p:nvPicPr>
          <p:cNvPr id="6" name="Picture 5" descr="look_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0457" y="1426464"/>
            <a:ext cx="1691098" cy="324690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473188" y="4882896"/>
            <a:ext cx="248563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B · WET / DETAIL</a:t>
            </a:r>
          </a:p>
          <a:p>
            <a:pPr algn="l">
              <a:lnSpc>
                <a:spcPct val="145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같은 톤에서 원혼 개체 분리.
클로즈업 · 리빌 시퀀스용.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3144" y="1152144"/>
            <a:ext cx="248563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16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본편 기준안</a:t>
            </a:r>
          </a:p>
        </p:txBody>
      </p:sp>
      <p:pic>
        <p:nvPicPr>
          <p:cNvPr id="9" name="Picture 8" descr="look_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0413" y="1426464"/>
            <a:ext cx="1691098" cy="324690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33144" y="4882896"/>
            <a:ext cx="248563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C · SAEKDONG</a:t>
            </a:r>
          </a:p>
          <a:p>
            <a:pPr algn="l">
              <a:lnSpc>
                <a:spcPct val="145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색동의 채도를 살린 안.
반전 단서가 가장 먼저 읽힌다.</a:t>
            </a:r>
          </a:p>
        </p:txBody>
      </p:sp>
      <p:pic>
        <p:nvPicPr>
          <p:cNvPr id="11" name="Picture 10" descr="look_d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90369" y="1426464"/>
            <a:ext cx="1691098" cy="324690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993101" y="4882896"/>
            <a:ext cx="248563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D · MIST</a:t>
            </a:r>
          </a:p>
          <a:p>
            <a:pPr algn="l">
              <a:lnSpc>
                <a:spcPct val="145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안개 · 저채도 실루엣.
티저 · 키비주얼용.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" y="5852160"/>
            <a:ext cx="10765505" cy="7620"/>
          </a:xfrm>
          <a:prstGeom prst="rect">
            <a:avLst/>
          </a:prstGeom>
          <a:solidFill>
            <a:srgbClr val="F4EFE6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5998464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네 안 모두 동일한 실루엣과 비율을 공유한다. 차이는 채도와 질감뿐이다.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7E766C"/>
                </a:solidFill>
                <a:latin typeface="Malgun Gothic"/>
                <a:ea typeface="Malgun Gothic"/>
                <a:cs typeface="Malgun Gothic"/>
              </a:rPr>
              <a:t>赫血 KAKKETSU   ·   「그것」封神 크리처 디자인 바이블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0">
                <a:solidFill>
                  <a:srgbClr val="7E766C"/>
                </a:solidFill>
                <a:latin typeface="Cambria"/>
                <a:ea typeface="Malgun Gothic"/>
                <a:cs typeface="Malgun Gothic"/>
              </a:rPr>
              <a:t>09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50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140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09</a:t>
            </a:r>
            <a:r>
              <a:rPr sz="1000" b="1" spc="180">
                <a:solidFill>
                  <a:srgbClr val="A2998E"/>
                </a:solidFill>
                <a:latin typeface="Cambria"/>
                <a:ea typeface="Malgun Gothic"/>
                <a:cs typeface="Malgun Gothic"/>
              </a:rPr>
              <a:t>   TURNAROUND &amp; SCALE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822960"/>
            <a:ext cx="1076550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spc="-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3면도 · 크기 설계</a:t>
            </a:r>
          </a:p>
        </p:txBody>
      </p:sp>
      <p:pic>
        <p:nvPicPr>
          <p:cNvPr id="4" name="Picture 3" descr="sheet_siz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2612" y="1426464"/>
            <a:ext cx="3930518" cy="3145536"/>
          </a:xfrm>
          <a:prstGeom prst="rect">
            <a:avLst/>
          </a:prstGeom>
        </p:spPr>
      </p:pic>
      <p:pic>
        <p:nvPicPr>
          <p:cNvPr id="5" name="Picture 4" descr="scale_char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704039"/>
            <a:ext cx="4553712" cy="259038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" y="4754880"/>
            <a:ext cx="5669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6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파트별 확정 항목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5047488"/>
            <a:ext cx="5669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3면 실루엣  ·  이마 부적  ·  색동 탈색 단계
피부와 관절  ·  젖은 발목  ·  원혼 밀도  ·  손등 질감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4754880"/>
            <a:ext cx="45537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6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스케일 운용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5065776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150cm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42631" y="5047488"/>
            <a:ext cx="3794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일상 · 미행 — 사람 크기. 무해해 보여야 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5394960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180cm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42631" y="5376672"/>
            <a:ext cx="3794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대면 — 눈높이가 맞는 순간의 압박.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572414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190cm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42631" y="5705856"/>
            <a:ext cx="3794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추격 — 공간을 좁히는 크기.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6053328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260cm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42631" y="6035040"/>
            <a:ext cx="3794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굿판 · 강림 — 공간 자체를 압도한다.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7E766C"/>
                </a:solidFill>
                <a:latin typeface="Malgun Gothic"/>
                <a:ea typeface="Malgun Gothic"/>
                <a:cs typeface="Malgun Gothic"/>
              </a:rPr>
              <a:t>赫血 KAKKETSU   ·   「그것」封神 크리처 디자인 바이블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0">
                <a:solidFill>
                  <a:srgbClr val="7E766C"/>
                </a:solidFill>
                <a:latin typeface="Cambria"/>
                <a:ea typeface="Malgun Gothic"/>
                <a:cs typeface="Malgun Gothic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50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140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10</a:t>
            </a:r>
            <a:r>
              <a:rPr sz="1000" b="1" spc="180">
                <a:solidFill>
                  <a:srgbClr val="A2998E"/>
                </a:solidFill>
                <a:latin typeface="Cambria"/>
                <a:ea typeface="Malgun Gothic"/>
                <a:cs typeface="Malgun Gothic"/>
              </a:rPr>
              <a:t>   COSTUME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822960"/>
            <a:ext cx="1076550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spc="-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의상 컨셉 — 4벌</a:t>
            </a:r>
          </a:p>
        </p:txBody>
      </p:sp>
      <p:pic>
        <p:nvPicPr>
          <p:cNvPr id="4" name="Picture 3" descr="detail_talisman_ta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5600" y="530352"/>
            <a:ext cx="368766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0" y="493776"/>
            <a:ext cx="4343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소품 — 「封神」 부적</a:t>
            </a:r>
          </a:p>
          <a:p>
            <a:pPr algn="l">
              <a:lnSpc>
                <a:spcPct val="140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무당이 자신의 피로 그린 부적. 색을 잃지 않는 유일한 물건.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1115568"/>
            <a:ext cx="4983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구성 — 색동 소매 저고리 + 홍색 끈 · 술 노리개 + 갈래 치마</a:t>
            </a:r>
          </a:p>
          <a:p>
            <a:pPr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</a:pPr>
            <a:r>
              <a:rPr sz="11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제작 — 동일 패턴 3벌 + 스턴트용 바지 변형 1벌</a:t>
            </a:r>
          </a:p>
        </p:txBody>
      </p:sp>
      <p:pic>
        <p:nvPicPr>
          <p:cNvPr id="7" name="Picture 6" descr="cost_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3674" y="1756296"/>
            <a:ext cx="1444752" cy="380068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13232" y="5669280"/>
            <a:ext cx="248563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A · 저고리 &amp; 치마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0"/>
              </a:spcAft>
            </a:pPr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저채도 흙빛. 세트에 묻힌다.</a:t>
            </a:r>
          </a:p>
        </p:txBody>
      </p:sp>
      <p:pic>
        <p:nvPicPr>
          <p:cNvPr id="9" name="Picture 8" descr="cost_b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3630" y="1756296"/>
            <a:ext cx="1444752" cy="380068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473188" y="5669280"/>
            <a:ext cx="248563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B · 저고리 &amp; 치마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0"/>
              </a:spcAft>
            </a:pPr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색동 채도 유지. 기준안.</a:t>
            </a:r>
          </a:p>
        </p:txBody>
      </p:sp>
      <p:pic>
        <p:nvPicPr>
          <p:cNvPr id="11" name="Picture 10" descr="cost_c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3586" y="1756296"/>
            <a:ext cx="1444752" cy="380068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33144" y="5669280"/>
            <a:ext cx="248563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C · 저고리 &amp; 치마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0"/>
              </a:spcAft>
            </a:pPr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삭아 풀린 올. 하중의 질감.</a:t>
            </a:r>
          </a:p>
        </p:txBody>
      </p:sp>
      <p:pic>
        <p:nvPicPr>
          <p:cNvPr id="13" name="Picture 12" descr="cost_d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13543" y="1756296"/>
            <a:ext cx="1444752" cy="380068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993101" y="5669280"/>
            <a:ext cx="248563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D · 저고리 &amp; 바지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0"/>
              </a:spcAft>
            </a:pPr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액션 · 와이어 리그용 변형.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7E766C"/>
                </a:solidFill>
                <a:latin typeface="Malgun Gothic"/>
                <a:ea typeface="Malgun Gothic"/>
                <a:cs typeface="Malgun Gothic"/>
              </a:rPr>
              <a:t>赫血 KAKKETSU   ·   「그것」封神 크리처 디자인 바이블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0">
                <a:solidFill>
                  <a:srgbClr val="7E766C"/>
                </a:solidFill>
                <a:latin typeface="Cambria"/>
                <a:ea typeface="Malgun Gothic"/>
                <a:cs typeface="Malgun Gothic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ll_open.jpg"/>
          <p:cNvPicPr>
            <a:picLocks noChangeAspect="1"/>
          </p:cNvPicPr>
          <p:nvPr/>
        </p:nvPicPr>
        <p:blipFill>
          <a:blip r:embed="rId2"/>
          <a:srcRect t="26" b="26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3" name="Picture 2" descr="vignet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scrim_t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969" cy="2331720"/>
          </a:xfrm>
          <a:prstGeom prst="rect">
            <a:avLst/>
          </a:prstGeom>
        </p:spPr>
      </p:pic>
      <p:pic>
        <p:nvPicPr>
          <p:cNvPr id="5" name="Picture 4" descr="scrim_botto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057400"/>
            <a:ext cx="12191969" cy="4800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" y="475488"/>
            <a:ext cx="1076550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140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11</a:t>
            </a:r>
            <a:r>
              <a:rPr sz="1000" b="1" spc="180">
                <a:solidFill>
                  <a:srgbClr val="A2998E"/>
                </a:solidFill>
                <a:latin typeface="Cambria"/>
                <a:ea typeface="Malgun Gothic"/>
                <a:cs typeface="Malgun Gothic"/>
              </a:rPr>
              <a:t>   SET PIECE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822960"/>
            <a:ext cx="1076550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spc="-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굿판 — 강림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810512"/>
            <a:ext cx="5852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18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1587  ·  조선 평양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121408"/>
            <a:ext cx="5852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무당이 자신의 피로 부적을 만들고, 망나니가 노모의 무덤을 판다.
부적이 이마에 닿는 순간, 시신은 인간의 형상을 잃는다.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55377" y="2121408"/>
            <a:ext cx="4023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“괴물이 아니다. 핏줄을 지키기 위해
모든 원혼을 스스로 떠안은 봉인이다.”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3529584"/>
            <a:ext cx="12191969" cy="3328416"/>
          </a:xfrm>
          <a:prstGeom prst="rect">
            <a:avLst/>
          </a:prstGeom>
          <a:solidFill>
            <a:srgbClr val="050404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hall_descend_a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32" y="3738232"/>
            <a:ext cx="2540500" cy="142979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13232" y="5285232"/>
            <a:ext cx="25405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01</a:t>
            </a:r>
            <a:r>
              <a:rPr sz="125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   하강</a:t>
            </a:r>
          </a:p>
          <a:p>
            <a:pPr algn="l">
              <a:lnSpc>
                <a:spcPct val="140000"/>
              </a:lnSpc>
              <a:spcBef>
                <a:spcPts val="400"/>
              </a:spcBef>
              <a:spcAft>
                <a:spcPts val="0"/>
              </a:spcAft>
            </a:pPr>
            <a:r>
              <a:rPr sz="10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천장에서 한 줄기로 쏟아진다.</a:t>
            </a:r>
          </a:p>
        </p:txBody>
      </p:sp>
      <p:pic>
        <p:nvPicPr>
          <p:cNvPr id="14" name="Picture 13" descr="hall_descend_b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54900" y="3738232"/>
            <a:ext cx="2540500" cy="142979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454900" y="5285232"/>
            <a:ext cx="25405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02</a:t>
            </a:r>
            <a:r>
              <a:rPr sz="125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   전개</a:t>
            </a:r>
          </a:p>
          <a:p>
            <a:pPr algn="l">
              <a:lnSpc>
                <a:spcPct val="140000"/>
              </a:lnSpc>
              <a:spcBef>
                <a:spcPts val="400"/>
              </a:spcBef>
              <a:spcAft>
                <a:spcPts val="0"/>
              </a:spcAft>
            </a:pPr>
            <a:r>
              <a:rPr sz="10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부챗살처럼 벌어진다.</a:t>
            </a:r>
          </a:p>
        </p:txBody>
      </p:sp>
      <p:pic>
        <p:nvPicPr>
          <p:cNvPr id="16" name="Picture 15" descr="hall_sweep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6568" y="3738232"/>
            <a:ext cx="2540500" cy="142979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196568" y="5285232"/>
            <a:ext cx="25405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03</a:t>
            </a:r>
            <a:r>
              <a:rPr sz="125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   확산</a:t>
            </a:r>
          </a:p>
          <a:p>
            <a:pPr algn="l">
              <a:lnSpc>
                <a:spcPct val="140000"/>
              </a:lnSpc>
              <a:spcBef>
                <a:spcPts val="400"/>
              </a:spcBef>
              <a:spcAft>
                <a:spcPts val="0"/>
              </a:spcAft>
            </a:pPr>
            <a:r>
              <a:rPr sz="10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얼굴들이 한꺼번에 드러난다.</a:t>
            </a:r>
          </a:p>
        </p:txBody>
      </p:sp>
      <p:pic>
        <p:nvPicPr>
          <p:cNvPr id="18" name="Picture 17" descr="hall_tilt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38237" y="3738232"/>
            <a:ext cx="2540500" cy="142979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938237" y="5285232"/>
            <a:ext cx="25405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04</a:t>
            </a:r>
            <a:r>
              <a:rPr sz="125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   소산</a:t>
            </a:r>
          </a:p>
          <a:p>
            <a:pPr algn="l">
              <a:lnSpc>
                <a:spcPct val="140000"/>
              </a:lnSpc>
              <a:spcBef>
                <a:spcPts val="400"/>
              </a:spcBef>
              <a:spcAft>
                <a:spcPts val="0"/>
              </a:spcAft>
            </a:pPr>
            <a:r>
              <a:rPr sz="10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질량을 잃고 흩어진다.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5961888"/>
            <a:ext cx="104241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VFX 스코프 — 동일 세트 · 동일 렌즈에서 원혼 볼륨만 단계적으로 증식. 프랙티컬 의상과 배우 연기를 베이스로 덩어리만 CG.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7E766C"/>
                </a:solidFill>
                <a:latin typeface="Malgun Gothic"/>
                <a:ea typeface="Malgun Gothic"/>
                <a:cs typeface="Malgun Gothic"/>
              </a:rPr>
              <a:t>赫血 KAKKETSU   ·   「그것」封神 크리처 디자인 바이블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0">
                <a:solidFill>
                  <a:srgbClr val="7E766C"/>
                </a:solidFill>
                <a:latin typeface="Cambria"/>
                <a:ea typeface="Malgun Gothic"/>
                <a:cs typeface="Malgun Gothic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eya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32" y="0"/>
            <a:ext cx="5755910" cy="6858000"/>
          </a:xfrm>
          <a:prstGeom prst="rect">
            <a:avLst/>
          </a:prstGeom>
        </p:spPr>
      </p:pic>
      <p:pic>
        <p:nvPicPr>
          <p:cNvPr id="3" name="Picture 2" descr="scrim_r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590" y="0"/>
            <a:ext cx="8534378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675120" y="877824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140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12</a:t>
            </a:r>
            <a:r>
              <a:rPr sz="1000" b="1" spc="180">
                <a:solidFill>
                  <a:srgbClr val="A2998E"/>
                </a:solidFill>
                <a:latin typeface="Cambria"/>
                <a:ea typeface="Malgun Gothic"/>
                <a:cs typeface="Malgun Gothic"/>
              </a:rPr>
              <a:t>   KEY ART  ·  VISUAL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0" y="1298448"/>
            <a:ext cx="475488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spc="20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罪 · 血 · 記憶</a:t>
            </a:r>
          </a:p>
          <a:p>
            <a:pPr algn="l">
              <a:lnSpc>
                <a:spcPct val="155000"/>
              </a:lnSpc>
              <a:spcBef>
                <a:spcPts val="2000"/>
              </a:spcBef>
              <a:spcAft>
                <a:spcPts val="0"/>
              </a:spcAft>
            </a:pPr>
            <a:r>
              <a:rPr sz="12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티저는 「그것」을 정면으로 노출하지 않는다.
짚신, 색동 자락, 부적, 벽에 새겨진 세 글자 —
관객이 조립하게 만드는 방식으로 제시한다.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0" y="3236976"/>
            <a:ext cx="4754880" cy="7620"/>
          </a:xfrm>
          <a:prstGeom prst="rect">
            <a:avLst/>
          </a:prstGeom>
          <a:solidFill>
            <a:srgbClr val="F4EFE6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0" y="3438144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6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컬러 팔레트</a:t>
            </a:r>
          </a:p>
        </p:txBody>
      </p:sp>
      <p:sp>
        <p:nvSpPr>
          <p:cNvPr id="8" name="Rectangle 7"/>
          <p:cNvSpPr/>
          <p:nvPr/>
        </p:nvSpPr>
        <p:spPr>
          <a:xfrm>
            <a:off x="6675120" y="3730752"/>
            <a:ext cx="512064" cy="658368"/>
          </a:xfrm>
          <a:prstGeom prst="rect">
            <a:avLst/>
          </a:prstGeom>
          <a:solidFill>
            <a:srgbClr val="0F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210044" y="3730752"/>
            <a:ext cx="512064" cy="658368"/>
          </a:xfrm>
          <a:prstGeom prst="rect">
            <a:avLst/>
          </a:prstGeom>
          <a:solidFill>
            <a:srgbClr val="3534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44967" y="3730752"/>
            <a:ext cx="512064" cy="658368"/>
          </a:xfrm>
          <a:prstGeom prst="rect">
            <a:avLst/>
          </a:prstGeom>
          <a:solidFill>
            <a:srgbClr val="4B4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79892" y="3730752"/>
            <a:ext cx="512064" cy="658368"/>
          </a:xfrm>
          <a:prstGeom prst="rect">
            <a:avLst/>
          </a:prstGeom>
          <a:solidFill>
            <a:srgbClr val="6F6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814816" y="3730752"/>
            <a:ext cx="512064" cy="658368"/>
          </a:xfrm>
          <a:prstGeom prst="rect">
            <a:avLst/>
          </a:prstGeom>
          <a:solidFill>
            <a:srgbClr val="C4B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349740" y="3730752"/>
            <a:ext cx="512064" cy="658368"/>
          </a:xfrm>
          <a:prstGeom prst="rect">
            <a:avLst/>
          </a:prstGeom>
          <a:solidFill>
            <a:srgbClr val="A96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884664" y="3730752"/>
            <a:ext cx="512064" cy="658368"/>
          </a:xfrm>
          <a:prstGeom prst="rect">
            <a:avLst/>
          </a:prstGeom>
          <a:solidFill>
            <a:srgbClr val="5F6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19588" y="3730752"/>
            <a:ext cx="512064" cy="658368"/>
          </a:xfrm>
          <a:prstGeom prst="rect">
            <a:avLst/>
          </a:prstGeom>
          <a:solidFill>
            <a:srgbClr val="8A4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0" y="4535424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무채색 위에 단 두 개의 채도 — 색동의 청, 부적의 홍.
화면에서 색을 가진 것은 「그것」뿐이다.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5230368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6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컨셉 키워드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5522976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원한 · 저주 · 무거움 · 억압 · 끌려다님 · 구속 · 공포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7E766C"/>
                </a:solidFill>
                <a:latin typeface="Malgun Gothic"/>
                <a:ea typeface="Malgun Gothic"/>
                <a:cs typeface="Malgun Gothic"/>
              </a:rPr>
              <a:t>赫血 KAKKETSU   ·   「그것」封神 크리처 디자인 바이블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0">
                <a:solidFill>
                  <a:srgbClr val="7E766C"/>
                </a:solidFill>
                <a:latin typeface="Cambria"/>
                <a:ea typeface="Malgun Gothic"/>
                <a:cs typeface="Malgun Gothic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50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140">
                <a:solidFill>
                  <a:srgbClr val="C92E22"/>
                </a:solidFill>
                <a:latin typeface="Cambria"/>
                <a:ea typeface="Malgun Gothic"/>
                <a:cs typeface="Malgun Gothic"/>
              </a:rPr>
              <a:t>13</a:t>
            </a:r>
            <a:r>
              <a:rPr sz="1000" b="1" spc="180">
                <a:solidFill>
                  <a:srgbClr val="A2998E"/>
                </a:solidFill>
                <a:latin typeface="Cambria"/>
                <a:ea typeface="Malgun Gothic"/>
                <a:cs typeface="Malgun Gothic"/>
              </a:rPr>
              <a:t>   IP EXTENSION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822960"/>
            <a:ext cx="1076550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spc="-6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머천다이징 — 실루엣이 곧 상품이다</a:t>
            </a:r>
          </a:p>
        </p:txBody>
      </p:sp>
      <p:pic>
        <p:nvPicPr>
          <p:cNvPr id="4" name="Picture 3" descr="goods_keyring_hanj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463040"/>
            <a:ext cx="3657600" cy="3657600"/>
          </a:xfrm>
          <a:prstGeom prst="rect">
            <a:avLst/>
          </a:prstGeom>
        </p:spPr>
      </p:pic>
      <p:pic>
        <p:nvPicPr>
          <p:cNvPr id="5" name="Picture 4" descr="goods_keyring_hangu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0288" y="1463040"/>
            <a:ext cx="3657600" cy="3657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" y="5358384"/>
            <a:ext cx="753465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封神 (한자)  ·  봉신 (국문) 패키지 병행 — 한국 · 일본 동시 유통 대응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05672" y="1499616"/>
            <a:ext cx="2670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60">
                <a:solidFill>
                  <a:srgbClr val="C92E22"/>
                </a:solidFill>
                <a:latin typeface="Malgun Gothic"/>
                <a:ea typeface="Malgun Gothic"/>
                <a:cs typeface="Malgun Gothic"/>
              </a:rPr>
              <a:t>확장 근거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05672" y="1810512"/>
            <a:ext cx="2670048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·  부적 · 색동 · 원혼 덩어리 세 요소가 축소 모형에서도 유지된다</a:t>
            </a:r>
          </a:p>
          <a:p>
            <a:pPr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</a:pPr>
            <a:r>
              <a:rPr sz="11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·  얼굴이 없어 초상권 · 캐스팅과 무관하게 상품화 가능</a:t>
            </a:r>
          </a:p>
          <a:p>
            <a:pPr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</a:pPr>
            <a:r>
              <a:rPr sz="11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·  키링 · 피규어 · 아크릴 순차 전개</a:t>
            </a:r>
          </a:p>
          <a:p>
            <a:pPr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</a:pPr>
            <a:r>
              <a:rPr sz="11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·  티저 시점부터 선판매 가능한 캐릭터 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7E766C"/>
                </a:solidFill>
                <a:latin typeface="Malgun Gothic"/>
                <a:ea typeface="Malgun Gothic"/>
                <a:cs typeface="Malgun Gothic"/>
              </a:rPr>
              <a:t>赫血 KAKKETSU   ·   「그것」封神 크리처 디자인 바이블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0">
                <a:solidFill>
                  <a:srgbClr val="7E766C"/>
                </a:solidFill>
                <a:latin typeface="Cambria"/>
                <a:ea typeface="Malgun Gothic"/>
                <a:cs typeface="Malgun Gothic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arly_white.jpg"/>
          <p:cNvPicPr>
            <a:picLocks noChangeAspect="1"/>
          </p:cNvPicPr>
          <p:nvPr/>
        </p:nvPicPr>
        <p:blipFill>
          <a:blip r:embed="rId2"/>
          <a:srcRect l="7293" r="7293"/>
          <a:stretch>
            <a:fillRect/>
          </a:stretch>
        </p:blipFill>
        <p:spPr>
          <a:xfrm>
            <a:off x="6095984" y="0"/>
            <a:ext cx="6095984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583663" cy="6858000"/>
          </a:xfrm>
          <a:prstGeom prst="rect">
            <a:avLst/>
          </a:prstGeom>
          <a:solidFill>
            <a:srgbClr val="0A08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rim_l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8305" y="0"/>
            <a:ext cx="365759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" y="2103120"/>
            <a:ext cx="53949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5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“저주는 사라진 것이 아니다.
다만, 형태를 바꿨을 뿐이다.”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3877056"/>
            <a:ext cx="1920240" cy="7620"/>
          </a:xfrm>
          <a:prstGeom prst="rect">
            <a:avLst/>
          </a:prstGeom>
          <a:solidFill>
            <a:srgbClr val="F4EFE6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4169663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spc="14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赫血  KAKKETSU  ·  각혈</a:t>
            </a:r>
          </a:p>
          <a:p>
            <a:pPr algn="l">
              <a:lnSpc>
                <a:spcPct val="135000"/>
              </a:lnSpc>
              <a:spcBef>
                <a:spcPts val="900"/>
              </a:spcBef>
              <a:spcAft>
                <a:spcPts val="0"/>
              </a:spcAft>
            </a:pPr>
            <a:r>
              <a:rPr sz="1300" b="0">
                <a:solidFill>
                  <a:srgbClr val="D2CABE"/>
                </a:solidFill>
                <a:latin typeface="Malgun Gothic"/>
                <a:ea typeface="Malgun Gothic"/>
                <a:cs typeface="Malgun Gothic"/>
              </a:rPr>
              <a:t>「그것」 封神 · 봉신   —   캐릭터 컨셉 레퍼런스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5358384"/>
            <a:ext cx="5394960" cy="7620"/>
          </a:xfrm>
          <a:prstGeom prst="rect">
            <a:avLst/>
          </a:prstGeom>
          <a:solidFill>
            <a:srgbClr val="F4EFE6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5559552"/>
            <a:ext cx="56692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4EFE6"/>
                </a:solidFill>
                <a:latin typeface="Malgun Gothic"/>
                <a:ea typeface="Malgun Gothic"/>
                <a:cs typeface="Malgun Gothic"/>
              </a:rPr>
              <a:t>각본 · 감독   한동하</a:t>
            </a:r>
          </a:p>
          <a:p>
            <a:pPr algn="l"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A2998E"/>
                </a:solidFill>
                <a:latin typeface="Malgun Gothic"/>
                <a:ea typeface="Malgun Gothic"/>
                <a:cs typeface="Malgun Gothic"/>
              </a:rPr>
              <a:t>제작   WALLAH PROJECT  ×  SUPERNOVA STUDIOS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382512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20">
                <a:solidFill>
                  <a:srgbClr val="7E766C"/>
                </a:solidFill>
                <a:latin typeface="Malgun Gothic"/>
                <a:ea typeface="Malgun Gothic"/>
                <a:cs typeface="Malgun Gothic"/>
              </a:rPr>
              <a:t>赫血 KAKKETSU   ·   「그것」封神 크리처 디자인 바이블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15697" y="638251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0">
                <a:solidFill>
                  <a:srgbClr val="7E766C"/>
                </a:solidFill>
                <a:latin typeface="Cambria"/>
                <a:ea typeface="Malgun Gothic"/>
                <a:cs typeface="Malgun Gothic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