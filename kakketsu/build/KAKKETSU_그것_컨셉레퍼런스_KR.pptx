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3.png"/><Relationship Id="rId4" Type="http://schemas.openxmlformats.org/officeDocument/2006/relationships/image" Target="../media/image1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3.png"/><Relationship Id="rId4" Type="http://schemas.openxmlformats.org/officeDocument/2006/relationships/image" Target="../media/image1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2.png"/><Relationship Id="rId4" Type="http://schemas.openxmlformats.org/officeDocument/2006/relationships/image" Target="../media/image15.png"/><Relationship Id="rId5" Type="http://schemas.openxmlformats.org/officeDocument/2006/relationships/image" Target="../media/image20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jpg"/><Relationship Id="rId4" Type="http://schemas.openxmlformats.org/officeDocument/2006/relationships/image" Target="../media/image23.jpg"/><Relationship Id="rId5" Type="http://schemas.openxmlformats.org/officeDocument/2006/relationships/image" Target="../media/image24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6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8.jpg"/><Relationship Id="rId4" Type="http://schemas.openxmlformats.org/officeDocument/2006/relationships/image" Target="../media/image29.jpg"/><Relationship Id="rId5" Type="http://schemas.openxmlformats.org/officeDocument/2006/relationships/image" Target="../media/image30.jpg"/><Relationship Id="rId6" Type="http://schemas.openxmlformats.org/officeDocument/2006/relationships/image" Target="../media/image3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image" Target="../media/image2.png"/><Relationship Id="rId4" Type="http://schemas.openxmlformats.org/officeDocument/2006/relationships/image" Target="../media/image33.png"/><Relationship Id="rId5" Type="http://schemas.openxmlformats.org/officeDocument/2006/relationships/image" Target="../media/image4.png"/><Relationship Id="rId6" Type="http://schemas.openxmlformats.org/officeDocument/2006/relationships/image" Target="../media/image34.jpg"/><Relationship Id="rId7" Type="http://schemas.openxmlformats.org/officeDocument/2006/relationships/image" Target="../media/image35.jpg"/><Relationship Id="rId8" Type="http://schemas.openxmlformats.org/officeDocument/2006/relationships/image" Target="../media/image36.jpg"/><Relationship Id="rId9" Type="http://schemas.openxmlformats.org/officeDocument/2006/relationships/image" Target="../media/image37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1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Relationship Id="rId3" Type="http://schemas.openxmlformats.org/officeDocument/2006/relationships/image" Target="../media/image40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80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rridor_hospital.jpg"/>
          <p:cNvPicPr>
            <a:picLocks noChangeAspect="1"/>
          </p:cNvPicPr>
          <p:nvPr/>
        </p:nvPicPr>
        <p:blipFill>
          <a:blip r:embed="rId2"/>
          <a:srcRect t="26" b="26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3" name="Picture 2" descr="vignet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4" name="Picture 3" descr="scrim_lef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022057" cy="6858000"/>
          </a:xfrm>
          <a:prstGeom prst="rect">
            <a:avLst/>
          </a:prstGeom>
        </p:spPr>
      </p:pic>
      <p:pic>
        <p:nvPicPr>
          <p:cNvPr id="5" name="Picture 4" descr="scrim_botto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880360"/>
            <a:ext cx="12191969" cy="39776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3232" y="530352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spc="220">
                <a:solidFill>
                  <a:srgbClr val="D2CABE"/>
                </a:solidFill>
                <a:latin typeface="Cambria"/>
                <a:ea typeface="Malgun Gothic"/>
                <a:cs typeface="Malgun Gothic"/>
              </a:rPr>
              <a:t>WALLAH PROJECT   ×   SUPERNOVA STUDIOS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554480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360">
                <a:solidFill>
                  <a:srgbClr val="C92E22"/>
                </a:solidFill>
                <a:latin typeface="Cambria"/>
                <a:ea typeface="Malgun Gothic"/>
                <a:cs typeface="Malgun Gothic"/>
              </a:rPr>
              <a:t>CREATURE DESIGN BIBLE</a:t>
            </a:r>
          </a:p>
        </p:txBody>
      </p:sp>
      <p:pic>
        <p:nvPicPr>
          <p:cNvPr id="8" name="Picture 7" descr="title_locku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624" y="1901952"/>
            <a:ext cx="5120640" cy="18790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858768"/>
            <a:ext cx="80467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spc="200">
                <a:solidFill>
                  <a:srgbClr val="D2CABE"/>
                </a:solidFill>
                <a:latin typeface="Malgun Gothic"/>
                <a:ea typeface="Malgun Gothic"/>
                <a:cs typeface="Malgun Gothic"/>
              </a:rPr>
              <a:t>각혈  ·  KAKKETSU</a:t>
            </a:r>
          </a:p>
          <a:p>
            <a:pPr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</a:pPr>
            <a:r>
              <a:rPr sz="4400" b="1" spc="-80">
                <a:solidFill>
                  <a:srgbClr val="F4EFE6"/>
                </a:solidFill>
                <a:latin typeface="Malgun Gothic"/>
                <a:ea typeface="Malgun Gothic"/>
                <a:cs typeface="Malgun Gothic"/>
              </a:rPr>
              <a:t>「그것」 封神 · 봉신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5449824"/>
            <a:ext cx="2194560" cy="7620"/>
          </a:xfrm>
          <a:prstGeom prst="rect">
            <a:avLst/>
          </a:prstGeom>
          <a:solidFill>
            <a:srgbClr val="F4EFE6">
              <a:alpha val="4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5632704"/>
            <a:ext cx="7863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2CABE"/>
                </a:solidFill>
                <a:latin typeface="Malgun Gothic"/>
                <a:ea typeface="Malgun Gothic"/>
                <a:cs typeface="Malgun Gothic"/>
              </a:rPr>
              <a:t>장편 오컬트 호러 · 세대극   |   한국 – 일본   |   각본 · 감독  한동하</a:t>
            </a:r>
          </a:p>
          <a:p>
            <a: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</a:pPr>
            <a:r>
              <a:rPr sz="1000" b="0">
                <a:solidFill>
                  <a:srgbClr val="AE5C4F"/>
                </a:solidFill>
                <a:latin typeface="Malgun Gothic"/>
                <a:ea typeface="Malgun Gothic"/>
                <a:cs typeface="Malgun Gothic"/>
              </a:rPr>
              <a:t>2026 프리프로덕션 자료   ·   대외비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80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og_white.jpg"/>
          <p:cNvPicPr>
            <a:picLocks noChangeAspect="1"/>
          </p:cNvPicPr>
          <p:nvPr/>
        </p:nvPicPr>
        <p:blipFill>
          <a:blip r:embed="rId2"/>
          <a:srcRect t="10500" b="33250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3" name="Picture 2" descr="scrim_light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232" y="1133856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320">
                <a:solidFill>
                  <a:srgbClr val="C92E22"/>
                </a:solidFill>
                <a:latin typeface="Cambria"/>
                <a:ea typeface="Malgun Gothic"/>
                <a:cs typeface="Malgun Gothic"/>
              </a:rPr>
              <a:t>LOGLINE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664208"/>
            <a:ext cx="594360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spc="-40">
                <a:solidFill>
                  <a:srgbClr val="141111"/>
                </a:solidFill>
                <a:latin typeface="Malgun Gothic"/>
                <a:ea typeface="Malgun Gothic"/>
                <a:cs typeface="Malgun Gothic"/>
              </a:rPr>
              <a:t>대대로 이어진 가문의 저주를 끊기 위해
싸워온 한 남자는, 그 저주라 믿었던 존재가
사실은 가족을 지켜온 수호였음을 깨닫고
핏줄과 죄의 진짜 의미와 마주한다.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4992624"/>
            <a:ext cx="1645920" cy="7620"/>
          </a:xfrm>
          <a:prstGeom prst="rect">
            <a:avLst/>
          </a:prstGeom>
          <a:solidFill>
            <a:srgbClr val="453E3A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5212080"/>
            <a:ext cx="57607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53E3A"/>
                </a:solidFill>
                <a:latin typeface="Malgun Gothic"/>
                <a:ea typeface="Malgun Gothic"/>
                <a:cs typeface="Malgun Gothic"/>
              </a:rPr>
              <a:t>1582 조선  →  현재 일본   ·   4대에 걸친 핏줄, 하나의 형상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6382512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spc="120">
                <a:solidFill>
                  <a:srgbClr val="453E3A"/>
                </a:solidFill>
                <a:latin typeface="Malgun Gothic"/>
                <a:ea typeface="Malgun Gothic"/>
                <a:cs typeface="Malgun Gothic"/>
              </a:rPr>
              <a:t>赫血 KAKKETSU   ·   「그것」 封神 컨셉 레퍼런스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15697" y="6382512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spc="100">
                <a:solidFill>
                  <a:srgbClr val="453E3A"/>
                </a:solidFill>
                <a:latin typeface="Cambria"/>
                <a:ea typeface="Malgun Gothic"/>
                <a:cs typeface="Malgun Gothic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80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neel_closeup.jpg"/>
          <p:cNvPicPr>
            <a:picLocks noChangeAspect="1"/>
          </p:cNvPicPr>
          <p:nvPr/>
        </p:nvPicPr>
        <p:blipFill>
          <a:blip r:embed="rId2"/>
          <a:srcRect t="8591" b="11864"/>
          <a:stretch>
            <a:fillRect/>
          </a:stretch>
        </p:blipFill>
        <p:spPr>
          <a:xfrm>
            <a:off x="5730225" y="0"/>
            <a:ext cx="6461743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217904" cy="6858000"/>
          </a:xfrm>
          <a:prstGeom prst="rect">
            <a:avLst/>
          </a:prstGeom>
          <a:solidFill>
            <a:srgbClr val="0A08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crim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386" y="0"/>
            <a:ext cx="365759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3232" y="475488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140">
                <a:solidFill>
                  <a:srgbClr val="C92E22"/>
                </a:solidFill>
                <a:latin typeface="Cambria"/>
                <a:ea typeface="Malgun Gothic"/>
                <a:cs typeface="Malgun Gothic"/>
              </a:rPr>
              <a:t>01</a:t>
            </a:r>
            <a:r>
              <a:rPr sz="1000" b="1" spc="180">
                <a:solidFill>
                  <a:srgbClr val="A2998E"/>
                </a:solidFill>
                <a:latin typeface="Cambria"/>
                <a:ea typeface="Malgun Gothic"/>
                <a:cs typeface="Malgun Gothic"/>
              </a:rPr>
              <a:t>   THE TURN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822960"/>
            <a:ext cx="52120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spc="-60">
                <a:solidFill>
                  <a:srgbClr val="F4EFE6"/>
                </a:solidFill>
                <a:latin typeface="Malgun Gothic"/>
                <a:ea typeface="Malgun Gothic"/>
                <a:cs typeface="Malgun Gothic"/>
              </a:rPr>
              <a:t>저주가 아니라
수호였다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139696"/>
            <a:ext cx="5212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4EFE6"/>
                </a:solidFill>
                <a:latin typeface="Malgun Gothic"/>
                <a:ea typeface="Malgun Gothic"/>
                <a:cs typeface="Malgun Gothic"/>
              </a:rPr>
              <a:t>「그것」은 특정 인물도, 유령도 아니다. 가문이 쌓아 온 죄와
원념이 형태를 얻은, 저주의 얼굴을 한 봉인이다.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2944368"/>
            <a:ext cx="5212080" cy="7620"/>
          </a:xfrm>
          <a:prstGeom prst="rect">
            <a:avLst/>
          </a:prstGeom>
          <a:solidFill>
            <a:srgbClr val="F4EFE6">
              <a:alpha val="2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3236976"/>
            <a:ext cx="56692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C92E22"/>
                </a:solidFill>
                <a:latin typeface="Cambria"/>
                <a:ea typeface="Malgun Gothic"/>
                <a:cs typeface="Malgun Gothic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16736" y="3200400"/>
            <a:ext cx="4608576" cy="859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4EFE6"/>
                </a:solidFill>
                <a:latin typeface="Malgun Gothic"/>
                <a:ea typeface="Malgun Gothic"/>
                <a:cs typeface="Malgun Gothic"/>
              </a:rPr>
              <a:t>추적</a:t>
            </a:r>
          </a:p>
          <a:p>
            <a:pPr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</a:pPr>
            <a:r>
              <a:rPr sz="1100" b="0">
                <a:solidFill>
                  <a:srgbClr val="D2CABE"/>
                </a:solidFill>
                <a:latin typeface="Malgun Gothic"/>
                <a:ea typeface="Malgun Gothic"/>
                <a:cs typeface="Malgun Gothic"/>
              </a:rPr>
              <a:t>1587년 굿판에서 형상을 얻고, 이름도 얼굴도 아닌 핏줄만을 따라 이동한다.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4078224"/>
            <a:ext cx="5212080" cy="7620"/>
          </a:xfrm>
          <a:prstGeom prst="rect">
            <a:avLst/>
          </a:prstGeom>
          <a:solidFill>
            <a:srgbClr val="F4EFE6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4242816"/>
            <a:ext cx="56692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C92E22"/>
                </a:solidFill>
                <a:latin typeface="Cambria"/>
                <a:ea typeface="Malgun Gothic"/>
                <a:cs typeface="Malgun Gothic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16736" y="4206240"/>
            <a:ext cx="4608576" cy="859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4EFE6"/>
                </a:solidFill>
                <a:latin typeface="Malgun Gothic"/>
                <a:ea typeface="Malgun Gothic"/>
                <a:cs typeface="Malgun Gothic"/>
              </a:rPr>
              <a:t>희생</a:t>
            </a:r>
          </a:p>
          <a:p>
            <a:pPr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</a:pPr>
            <a:r>
              <a:rPr sz="1100" b="0">
                <a:solidFill>
                  <a:srgbClr val="D2CABE"/>
                </a:solidFill>
                <a:latin typeface="Malgun Gothic"/>
                <a:ea typeface="Malgun Gothic"/>
                <a:cs typeface="Malgun Gothic"/>
              </a:rPr>
              <a:t>조부 동필, 부친 종문. 두 세대가 같은 방식으로 죽는다.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5084064"/>
            <a:ext cx="5212080" cy="7620"/>
          </a:xfrm>
          <a:prstGeom prst="rect">
            <a:avLst/>
          </a:prstGeom>
          <a:solidFill>
            <a:srgbClr val="F4EFE6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5248656"/>
            <a:ext cx="56692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C92E22"/>
                </a:solidFill>
                <a:latin typeface="Cambria"/>
                <a:ea typeface="Malgun Gothic"/>
                <a:cs typeface="Malgun Gothic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16736" y="5212080"/>
            <a:ext cx="4608576" cy="859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4EFE6"/>
                </a:solidFill>
                <a:latin typeface="Malgun Gothic"/>
                <a:ea typeface="Malgun Gothic"/>
                <a:cs typeface="Malgun Gothic"/>
              </a:rPr>
              <a:t>부재</a:t>
            </a:r>
          </a:p>
          <a:p>
            <a:pPr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</a:pPr>
            <a:r>
              <a:rPr sz="1100" b="0">
                <a:solidFill>
                  <a:srgbClr val="D2CABE"/>
                </a:solidFill>
                <a:latin typeface="Malgun Gothic"/>
                <a:ea typeface="Malgun Gothic"/>
                <a:cs typeface="Malgun Gothic"/>
              </a:rPr>
              <a:t>아들이 죽자 「그것」은 걸음을 되찾고 떠난다. 지옥은 그 다음에 시작된다.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6382512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spc="120">
                <a:solidFill>
                  <a:srgbClr val="7E766C"/>
                </a:solidFill>
                <a:latin typeface="Malgun Gothic"/>
                <a:ea typeface="Malgun Gothic"/>
                <a:cs typeface="Malgun Gothic"/>
              </a:rPr>
              <a:t>赫血 KAKKETSU   ·   「그것」 封神 컨셉 레퍼런스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15697" y="6382512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spc="100">
                <a:solidFill>
                  <a:srgbClr val="7E766C"/>
                </a:solidFill>
                <a:latin typeface="Cambria"/>
                <a:ea typeface="Malgun Gothic"/>
                <a:cs typeface="Malgun Gothic"/>
              </a:rP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80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rridor_wood.jpg"/>
          <p:cNvPicPr>
            <a:picLocks noChangeAspect="1"/>
          </p:cNvPicPr>
          <p:nvPr/>
        </p:nvPicPr>
        <p:blipFill>
          <a:blip r:embed="rId2"/>
          <a:srcRect t="24743" b="30241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3" name="Picture 2" descr="scrim_8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4" name="Picture 3" descr="vignet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3232" y="475488"/>
            <a:ext cx="1076550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140">
                <a:solidFill>
                  <a:srgbClr val="C92E22"/>
                </a:solidFill>
                <a:latin typeface="Cambria"/>
                <a:ea typeface="Malgun Gothic"/>
                <a:cs typeface="Malgun Gothic"/>
              </a:rPr>
              <a:t>02</a:t>
            </a:r>
            <a:r>
              <a:rPr sz="1000" b="1" spc="180">
                <a:solidFill>
                  <a:srgbClr val="A2998E"/>
                </a:solidFill>
                <a:latin typeface="Cambria"/>
                <a:ea typeface="Malgun Gothic"/>
                <a:cs typeface="Malgun Gothic"/>
              </a:rPr>
              <a:t>   BLOODLINE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822960"/>
            <a:ext cx="1076550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spc="-60">
                <a:solidFill>
                  <a:srgbClr val="F4EFE6"/>
                </a:solidFill>
                <a:latin typeface="Malgun Gothic"/>
                <a:ea typeface="Malgun Gothic"/>
                <a:cs typeface="Malgun Gothic"/>
              </a:rPr>
              <a:t>핏줄의 계보 — 「그것」이 따라온 길</a:t>
            </a:r>
          </a:p>
        </p:txBody>
      </p:sp>
      <p:sp>
        <p:nvSpPr>
          <p:cNvPr id="7" name="Oval 6"/>
          <p:cNvSpPr/>
          <p:nvPr/>
        </p:nvSpPr>
        <p:spPr>
          <a:xfrm>
            <a:off x="713232" y="2103120"/>
            <a:ext cx="100584" cy="100584"/>
          </a:xfrm>
          <a:prstGeom prst="ellipse">
            <a:avLst/>
          </a:prstGeom>
          <a:solidFill>
            <a:srgbClr val="D2CA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395728"/>
            <a:ext cx="1501642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4EFE6"/>
                </a:solidFill>
                <a:latin typeface="Cambria"/>
                <a:ea typeface="Malgun Gothic"/>
                <a:cs typeface="Malgun Gothic"/>
              </a:rPr>
              <a:t>1582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050" b="1" spc="80">
                <a:solidFill>
                  <a:srgbClr val="AE5C4F"/>
                </a:solidFill>
                <a:latin typeface="Malgun Gothic"/>
                <a:ea typeface="Malgun Gothic"/>
                <a:cs typeface="Malgun Gothic"/>
              </a:rPr>
              <a:t>조선 · 평양</a:t>
            </a:r>
          </a:p>
          <a:p>
            <a:pPr algn="l">
              <a:lnSpc>
                <a:spcPct val="155000"/>
              </a:lnSpc>
              <a:spcBef>
                <a:spcPts val="800"/>
              </a:spcBef>
              <a:spcAft>
                <a:spcPts val="0"/>
              </a:spcAft>
            </a:pPr>
            <a:r>
              <a:rPr sz="1050" b="0">
                <a:solidFill>
                  <a:srgbClr val="D2CABE"/>
                </a:solidFill>
                <a:latin typeface="Malgun Gothic"/>
                <a:ea typeface="Malgun Gothic"/>
                <a:cs typeface="Malgun Gothic"/>
              </a:rPr>
              <a:t>처형장의 망나니.
피와 원망이 땅에 쌓인다.</a:t>
            </a:r>
          </a:p>
        </p:txBody>
      </p:sp>
      <p:sp>
        <p:nvSpPr>
          <p:cNvPr id="9" name="Oval 8"/>
          <p:cNvSpPr/>
          <p:nvPr/>
        </p:nvSpPr>
        <p:spPr>
          <a:xfrm>
            <a:off x="2507482" y="2103120"/>
            <a:ext cx="100584" cy="100584"/>
          </a:xfrm>
          <a:prstGeom prst="ellipse">
            <a:avLst/>
          </a:prstGeom>
          <a:solidFill>
            <a:srgbClr val="C92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07482" y="2395728"/>
            <a:ext cx="1501642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4EFE6"/>
                </a:solidFill>
                <a:latin typeface="Cambria"/>
                <a:ea typeface="Malgun Gothic"/>
                <a:cs typeface="Malgun Gothic"/>
              </a:rPr>
              <a:t>1587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050" b="1" spc="80">
                <a:solidFill>
                  <a:srgbClr val="AE5C4F"/>
                </a:solidFill>
                <a:latin typeface="Malgun Gothic"/>
                <a:ea typeface="Malgun Gothic"/>
                <a:cs typeface="Malgun Gothic"/>
              </a:rPr>
              <a:t>굿판</a:t>
            </a:r>
          </a:p>
          <a:p>
            <a:pPr algn="l">
              <a:lnSpc>
                <a:spcPct val="155000"/>
              </a:lnSpc>
              <a:spcBef>
                <a:spcPts val="800"/>
              </a:spcBef>
              <a:spcAft>
                <a:spcPts val="0"/>
              </a:spcAft>
            </a:pPr>
            <a:r>
              <a:rPr sz="1050" b="0">
                <a:solidFill>
                  <a:srgbClr val="D2CABE"/>
                </a:solidFill>
                <a:latin typeface="Malgun Gothic"/>
                <a:ea typeface="Malgun Gothic"/>
                <a:cs typeface="Malgun Gothic"/>
              </a:rPr>
              <a:t>무당이 노모의 시신을
부적으로 봉인한다.</a:t>
            </a:r>
          </a:p>
        </p:txBody>
      </p:sp>
      <p:sp>
        <p:nvSpPr>
          <p:cNvPr id="11" name="Oval 10"/>
          <p:cNvSpPr/>
          <p:nvPr/>
        </p:nvSpPr>
        <p:spPr>
          <a:xfrm>
            <a:off x="4301733" y="2103120"/>
            <a:ext cx="100584" cy="100584"/>
          </a:xfrm>
          <a:prstGeom prst="ellipse">
            <a:avLst/>
          </a:prstGeom>
          <a:solidFill>
            <a:srgbClr val="D2CA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01733" y="2395728"/>
            <a:ext cx="1501642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4EFE6"/>
                </a:solidFill>
                <a:latin typeface="Cambria"/>
                <a:ea typeface="Malgun Gothic"/>
                <a:cs typeface="Malgun Gothic"/>
              </a:rPr>
              <a:t>1945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050" b="1" spc="80">
                <a:solidFill>
                  <a:srgbClr val="AE5C4F"/>
                </a:solidFill>
                <a:latin typeface="Malgun Gothic"/>
                <a:ea typeface="Malgun Gothic"/>
                <a:cs typeface="Malgun Gothic"/>
              </a:rPr>
              <a:t>일제강점기</a:t>
            </a:r>
          </a:p>
          <a:p>
            <a:pPr algn="l">
              <a:lnSpc>
                <a:spcPct val="155000"/>
              </a:lnSpc>
              <a:spcBef>
                <a:spcPts val="800"/>
              </a:spcBef>
              <a:spcAft>
                <a:spcPts val="0"/>
              </a:spcAft>
            </a:pPr>
            <a:r>
              <a:rPr sz="1050" b="0">
                <a:solidFill>
                  <a:srgbClr val="D2CABE"/>
                </a:solidFill>
                <a:latin typeface="Malgun Gothic"/>
                <a:ea typeface="Malgun Gothic"/>
                <a:cs typeface="Malgun Gothic"/>
              </a:rPr>
              <a:t>순사 백동필.
제복을 입고 독립투사를 고문한다.</a:t>
            </a:r>
          </a:p>
        </p:txBody>
      </p:sp>
      <p:sp>
        <p:nvSpPr>
          <p:cNvPr id="13" name="Oval 12"/>
          <p:cNvSpPr/>
          <p:nvPr/>
        </p:nvSpPr>
        <p:spPr>
          <a:xfrm>
            <a:off x="6095984" y="2103120"/>
            <a:ext cx="100584" cy="100584"/>
          </a:xfrm>
          <a:prstGeom prst="ellipse">
            <a:avLst/>
          </a:prstGeom>
          <a:solidFill>
            <a:srgbClr val="D2CA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5984" y="2395728"/>
            <a:ext cx="1501642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4EFE6"/>
                </a:solidFill>
                <a:latin typeface="Cambria"/>
                <a:ea typeface="Malgun Gothic"/>
                <a:cs typeface="Malgun Gothic"/>
              </a:rPr>
              <a:t>1984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050" b="1" spc="80">
                <a:solidFill>
                  <a:srgbClr val="AE5C4F"/>
                </a:solidFill>
                <a:latin typeface="Malgun Gothic"/>
                <a:ea typeface="Malgun Gothic"/>
                <a:cs typeface="Malgun Gothic"/>
              </a:rPr>
              <a:t>일본 오사카</a:t>
            </a:r>
          </a:p>
          <a:p>
            <a:pPr algn="l">
              <a:lnSpc>
                <a:spcPct val="155000"/>
              </a:lnSpc>
              <a:spcBef>
                <a:spcPts val="800"/>
              </a:spcBef>
              <a:spcAft>
                <a:spcPts val="0"/>
              </a:spcAft>
            </a:pPr>
            <a:r>
              <a:rPr sz="1050" b="0">
                <a:solidFill>
                  <a:srgbClr val="D2CABE"/>
                </a:solidFill>
                <a:latin typeface="Malgun Gothic"/>
                <a:ea typeface="Malgun Gothic"/>
                <a:cs typeface="Malgun Gothic"/>
              </a:rPr>
              <a:t>사형집행관 백종문.
버튼으로 사람을 죽인다.</a:t>
            </a:r>
          </a:p>
        </p:txBody>
      </p:sp>
      <p:sp>
        <p:nvSpPr>
          <p:cNvPr id="15" name="Oval 14"/>
          <p:cNvSpPr/>
          <p:nvPr/>
        </p:nvSpPr>
        <p:spPr>
          <a:xfrm>
            <a:off x="7890235" y="2103120"/>
            <a:ext cx="100584" cy="100584"/>
          </a:xfrm>
          <a:prstGeom prst="ellipse">
            <a:avLst/>
          </a:prstGeom>
          <a:solidFill>
            <a:srgbClr val="D2CA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90235" y="2395728"/>
            <a:ext cx="1501642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4EFE6"/>
                </a:solidFill>
                <a:latin typeface="Cambria"/>
                <a:ea typeface="Malgun Gothic"/>
                <a:cs typeface="Malgun Gothic"/>
              </a:rPr>
              <a:t>2006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050" b="1" spc="80">
                <a:solidFill>
                  <a:srgbClr val="AE5C4F"/>
                </a:solidFill>
                <a:latin typeface="Malgun Gothic"/>
                <a:ea typeface="Malgun Gothic"/>
                <a:cs typeface="Malgun Gothic"/>
              </a:rPr>
              <a:t>일본 후쿠오카</a:t>
            </a:r>
          </a:p>
          <a:p>
            <a:pPr algn="l">
              <a:lnSpc>
                <a:spcPct val="155000"/>
              </a:lnSpc>
              <a:spcBef>
                <a:spcPts val="800"/>
              </a:spcBef>
              <a:spcAft>
                <a:spcPts val="0"/>
              </a:spcAft>
            </a:pPr>
            <a:r>
              <a:rPr sz="1050" b="0">
                <a:solidFill>
                  <a:srgbClr val="D2CABE"/>
                </a:solidFill>
                <a:latin typeface="Malgun Gothic"/>
                <a:ea typeface="Malgun Gothic"/>
                <a:cs typeface="Malgun Gothic"/>
              </a:rPr>
              <a:t>산부인과 의사 슈.
저주를 과학으로 부정한다.</a:t>
            </a:r>
          </a:p>
        </p:txBody>
      </p:sp>
      <p:sp>
        <p:nvSpPr>
          <p:cNvPr id="17" name="Oval 16"/>
          <p:cNvSpPr/>
          <p:nvPr/>
        </p:nvSpPr>
        <p:spPr>
          <a:xfrm>
            <a:off x="9684486" y="2103120"/>
            <a:ext cx="100584" cy="100584"/>
          </a:xfrm>
          <a:prstGeom prst="ellipse">
            <a:avLst/>
          </a:prstGeom>
          <a:solidFill>
            <a:srgbClr val="C92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84486" y="2395728"/>
            <a:ext cx="1501642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4EFE6"/>
                </a:solidFill>
                <a:latin typeface="Cambria"/>
                <a:ea typeface="Malgun Gothic"/>
                <a:cs typeface="Malgun Gothic"/>
              </a:rPr>
              <a:t>현재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050" b="1" spc="80">
                <a:solidFill>
                  <a:srgbClr val="AE5C4F"/>
                </a:solidFill>
                <a:latin typeface="Malgun Gothic"/>
                <a:ea typeface="Malgun Gothic"/>
                <a:cs typeface="Malgun Gothic"/>
              </a:rPr>
              <a:t>그리고 하루마</a:t>
            </a:r>
          </a:p>
          <a:p>
            <a:pPr algn="l">
              <a:lnSpc>
                <a:spcPct val="155000"/>
              </a:lnSpc>
              <a:spcBef>
                <a:spcPts val="800"/>
              </a:spcBef>
              <a:spcAft>
                <a:spcPts val="0"/>
              </a:spcAft>
            </a:pPr>
            <a:r>
              <a:rPr sz="1050" b="0">
                <a:solidFill>
                  <a:srgbClr val="D2CABE"/>
                </a:solidFill>
                <a:latin typeface="Malgun Gothic"/>
                <a:ea typeface="Malgun Gothic"/>
                <a:cs typeface="Malgun Gothic"/>
              </a:rPr>
              <a:t>핏줄이 끊긴 자리에
저주가 되돌아온다.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3524" y="2150668"/>
            <a:ext cx="9021546" cy="7620"/>
          </a:xfrm>
          <a:prstGeom prst="rect">
            <a:avLst/>
          </a:prstGeom>
          <a:solidFill>
            <a:srgbClr val="F4EFE6">
              <a:alpha val="2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13232" y="4517136"/>
            <a:ext cx="10765505" cy="1411732"/>
          </a:xfrm>
          <a:prstGeom prst="rect">
            <a:avLst/>
          </a:prstGeom>
          <a:solidFill>
            <a:srgbClr val="050404">
              <a:alpha val="8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0976" y="4754880"/>
            <a:ext cx="10290017" cy="9362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160">
                <a:solidFill>
                  <a:srgbClr val="C92E22"/>
                </a:solidFill>
                <a:latin typeface="Malgun Gothic"/>
                <a:ea typeface="Malgun Gothic"/>
                <a:cs typeface="Malgun Gothic"/>
              </a:rPr>
              <a:t>네 세대의 공통점</a:t>
            </a:r>
          </a:p>
          <a:p>
            <a:pPr algn="l">
              <a:lnSpc>
                <a:spcPct val="140000"/>
              </a:lnSpc>
              <a:spcBef>
                <a:spcPts val="800"/>
              </a:spcBef>
              <a:spcAft>
                <a:spcPts val="0"/>
              </a:spcAft>
            </a:pPr>
            <a:r>
              <a:rPr sz="1250" b="0">
                <a:solidFill>
                  <a:srgbClr val="D2CABE"/>
                </a:solidFill>
                <a:latin typeface="Malgun Gothic"/>
                <a:ea typeface="Malgun Gothic"/>
                <a:cs typeface="Malgun Gothic"/>
              </a:rPr>
              <a:t>네 세대 모두 죽음을 다루는 자리에 있었다.  칼 → 제복 → 버튼 → 메스.</a:t>
            </a:r>
          </a:p>
          <a:p>
            <a: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</a:pPr>
            <a:r>
              <a:rPr sz="1250" b="0">
                <a:solidFill>
                  <a:srgbClr val="D2CABE"/>
                </a:solidFill>
                <a:latin typeface="Malgun Gothic"/>
                <a:ea typeface="Malgun Gothic"/>
                <a:cs typeface="Malgun Gothic"/>
              </a:rPr>
              <a:t>도구는 문명화되었지만 하는 일은 같다. 「그것」은 그 400년을 지켜본 유일한 목격자다.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6382512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spc="120">
                <a:solidFill>
                  <a:srgbClr val="7E766C"/>
                </a:solidFill>
                <a:latin typeface="Malgun Gothic"/>
                <a:ea typeface="Malgun Gothic"/>
                <a:cs typeface="Malgun Gothic"/>
              </a:rPr>
              <a:t>赫血 KAKKETSU   ·   「그것」 封神 컨셉 레퍼런스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15697" y="6382512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spc="100">
                <a:solidFill>
                  <a:srgbClr val="7E766C"/>
                </a:solidFill>
                <a:latin typeface="Cambria"/>
                <a:ea typeface="Malgun Gothic"/>
                <a:cs typeface="Malgun Gothic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80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ront_stand.jpg"/>
          <p:cNvPicPr>
            <a:picLocks noChangeAspect="1"/>
          </p:cNvPicPr>
          <p:nvPr/>
        </p:nvPicPr>
        <p:blipFill>
          <a:blip r:embed="rId2"/>
          <a:srcRect t="11525" b="11525"/>
          <a:stretch>
            <a:fillRect/>
          </a:stretch>
        </p:blipFill>
        <p:spPr>
          <a:xfrm>
            <a:off x="5059667" y="0"/>
            <a:ext cx="713230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608305" cy="6858000"/>
          </a:xfrm>
          <a:prstGeom prst="rect">
            <a:avLst/>
          </a:prstGeom>
          <a:solidFill>
            <a:srgbClr val="0A08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crim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787" y="0"/>
            <a:ext cx="3169912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3232" y="47548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140">
                <a:solidFill>
                  <a:srgbClr val="C92E22"/>
                </a:solidFill>
                <a:latin typeface="Cambria"/>
                <a:ea typeface="Malgun Gothic"/>
                <a:cs typeface="Malgun Gothic"/>
              </a:rPr>
              <a:t>03</a:t>
            </a:r>
            <a:r>
              <a:rPr sz="1000" b="1" spc="180">
                <a:solidFill>
                  <a:srgbClr val="A2998E"/>
                </a:solidFill>
                <a:latin typeface="Cambria"/>
                <a:ea typeface="Malgun Gothic"/>
                <a:cs typeface="Malgun Gothic"/>
              </a:rPr>
              <a:t>   CHARACTER SPEC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822960"/>
            <a:ext cx="4572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spc="-60">
                <a:solidFill>
                  <a:srgbClr val="F4EFE6"/>
                </a:solidFill>
                <a:latin typeface="Malgun Gothic"/>
                <a:ea typeface="Malgun Gothic"/>
                <a:cs typeface="Malgun Gothic"/>
              </a:rPr>
              <a:t>封神  봉신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920240"/>
            <a:ext cx="106070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spc="100">
                <a:solidFill>
                  <a:srgbClr val="C92E22"/>
                </a:solidFill>
                <a:latin typeface="Malgun Gothic"/>
                <a:ea typeface="Malgun Gothic"/>
                <a:cs typeface="Malgun Gothic"/>
              </a:rPr>
              <a:t>신장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65376" y="1874520"/>
            <a:ext cx="341985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4EFE6"/>
                </a:solidFill>
                <a:latin typeface="Malgun Gothic"/>
                <a:ea typeface="Malgun Gothic"/>
                <a:cs typeface="Malgun Gothic"/>
              </a:rPr>
              <a:t>150cm  ·  연출 스케일 180 / 190 / 260cm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2231136"/>
            <a:ext cx="4572000" cy="7620"/>
          </a:xfrm>
          <a:prstGeom prst="rect">
            <a:avLst/>
          </a:prstGeom>
          <a:solidFill>
            <a:srgbClr val="F4EFE6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432304"/>
            <a:ext cx="106070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spc="100">
                <a:solidFill>
                  <a:srgbClr val="C92E22"/>
                </a:solidFill>
                <a:latin typeface="Malgun Gothic"/>
                <a:ea typeface="Malgun Gothic"/>
                <a:cs typeface="Malgun Gothic"/>
              </a:rPr>
              <a:t>성별 · 연령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65376" y="2386584"/>
            <a:ext cx="341985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4EFE6"/>
                </a:solidFill>
                <a:latin typeface="Malgun Gothic"/>
                <a:ea typeface="Malgun Gothic"/>
                <a:cs typeface="Malgun Gothic"/>
              </a:rPr>
              <a:t>여성 · 노인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2743200"/>
            <a:ext cx="4572000" cy="7620"/>
          </a:xfrm>
          <a:prstGeom prst="rect">
            <a:avLst/>
          </a:prstGeom>
          <a:solidFill>
            <a:srgbClr val="F4EFE6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2944368"/>
            <a:ext cx="106070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spc="100">
                <a:solidFill>
                  <a:srgbClr val="C92E22"/>
                </a:solidFill>
                <a:latin typeface="Malgun Gothic"/>
                <a:ea typeface="Malgun Gothic"/>
                <a:cs typeface="Malgun Gothic"/>
              </a:rPr>
              <a:t>정체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65376" y="2898648"/>
            <a:ext cx="341985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4EFE6"/>
                </a:solidFill>
                <a:latin typeface="Malgun Gothic"/>
                <a:ea typeface="Malgun Gothic"/>
                <a:cs typeface="Malgun Gothic"/>
              </a:rPr>
              <a:t>망나니의 노모 — 굿판에서 봉인된 시신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" y="3255264"/>
            <a:ext cx="4572000" cy="7620"/>
          </a:xfrm>
          <a:prstGeom prst="rect">
            <a:avLst/>
          </a:prstGeom>
          <a:solidFill>
            <a:srgbClr val="F4EFE6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3712463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spc="160">
                <a:solidFill>
                  <a:srgbClr val="C92E22"/>
                </a:solidFill>
                <a:latin typeface="Malgun Gothic"/>
                <a:ea typeface="Malgun Gothic"/>
                <a:cs typeface="Malgun Gothic"/>
              </a:rPr>
              <a:t>특징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4005072"/>
            <a:ext cx="45720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2CABE"/>
                </a:solidFill>
                <a:latin typeface="Malgun Gothic"/>
                <a:ea typeface="Malgun Gothic"/>
                <a:cs typeface="Malgun Gothic"/>
              </a:rPr>
              <a:t>·  이마의 붉은 부적이 얼굴을 대신한다</a:t>
            </a:r>
          </a:p>
          <a:p>
            <a:pPr algn="l">
              <a:lnSpc>
                <a:spcPct val="150000"/>
              </a:lnSpc>
              <a:spcBef>
                <a:spcPts val="900"/>
              </a:spcBef>
              <a:spcAft>
                <a:spcPts val="0"/>
              </a:spcAft>
            </a:pPr>
            <a:r>
              <a:rPr sz="1200" b="0">
                <a:solidFill>
                  <a:srgbClr val="D2CABE"/>
                </a:solidFill>
                <a:latin typeface="Malgun Gothic"/>
                <a:ea typeface="Malgun Gothic"/>
                <a:cs typeface="Malgun Gothic"/>
              </a:rPr>
              <a:t>·  극도로 마른 체형, 메마른 피부</a:t>
            </a:r>
          </a:p>
          <a:p>
            <a:pPr algn="l">
              <a:lnSpc>
                <a:spcPct val="150000"/>
              </a:lnSpc>
              <a:spcBef>
                <a:spcPts val="900"/>
              </a:spcBef>
              <a:spcAft>
                <a:spcPts val="0"/>
              </a:spcAft>
            </a:pPr>
            <a:r>
              <a:rPr sz="1200" b="0">
                <a:solidFill>
                  <a:srgbClr val="D2CABE"/>
                </a:solidFill>
                <a:latin typeface="Malgun Gothic"/>
                <a:ea typeface="Malgun Gothic"/>
                <a:cs typeface="Malgun Gothic"/>
              </a:rPr>
              <a:t>·  빛바랜 색동저고리 누더기</a:t>
            </a:r>
          </a:p>
          <a:p>
            <a:pPr algn="l">
              <a:lnSpc>
                <a:spcPct val="150000"/>
              </a:lnSpc>
              <a:spcBef>
                <a:spcPts val="900"/>
              </a:spcBef>
              <a:spcAft>
                <a:spcPts val="0"/>
              </a:spcAft>
            </a:pPr>
            <a:r>
              <a:rPr sz="1200" b="0">
                <a:solidFill>
                  <a:srgbClr val="D2CABE"/>
                </a:solidFill>
                <a:latin typeface="Malgun Gothic"/>
                <a:ea typeface="Malgun Gothic"/>
                <a:cs typeface="Malgun Gothic"/>
              </a:rPr>
              <a:t>·  한쪽 다리를 절며 무겁게 이동한다</a:t>
            </a:r>
          </a:p>
          <a:p>
            <a:pPr algn="l">
              <a:lnSpc>
                <a:spcPct val="150000"/>
              </a:lnSpc>
              <a:spcBef>
                <a:spcPts val="900"/>
              </a:spcBef>
              <a:spcAft>
                <a:spcPts val="0"/>
              </a:spcAft>
            </a:pPr>
            <a:r>
              <a:rPr sz="1200" b="0">
                <a:solidFill>
                  <a:srgbClr val="D2CABE"/>
                </a:solidFill>
                <a:latin typeface="Malgun Gothic"/>
                <a:ea typeface="Malgun Gothic"/>
                <a:cs typeface="Malgun Gothic"/>
              </a:rPr>
              <a:t>·  등에 결박된 원혼 덩어리를 머리카락이 억누른다</a:t>
            </a:r>
          </a:p>
        </p:txBody>
      </p:sp>
      <p:sp>
        <p:nvSpPr>
          <p:cNvPr id="18" name="Oval 17"/>
          <p:cNvSpPr/>
          <p:nvPr/>
        </p:nvSpPr>
        <p:spPr>
          <a:xfrm>
            <a:off x="8503919" y="2715768"/>
            <a:ext cx="91440" cy="91440"/>
          </a:xfrm>
          <a:prstGeom prst="ellipse">
            <a:avLst/>
          </a:prstGeom>
          <a:solidFill>
            <a:srgbClr val="C92E22"/>
          </a:solidFill>
          <a:ln w="9525">
            <a:solidFill>
              <a:srgbClr val="F4EFE6">
                <a:alpha val="7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5863" y="2757830"/>
            <a:ext cx="493776" cy="9525"/>
          </a:xfrm>
          <a:prstGeom prst="rect">
            <a:avLst/>
          </a:prstGeom>
          <a:solidFill>
            <a:srgbClr val="F4EFE6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24144" y="2596896"/>
            <a:ext cx="2331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4EFE6"/>
                </a:solidFill>
                <a:latin typeface="Malgun Gothic"/>
                <a:ea typeface="Malgun Gothic"/>
                <a:cs typeface="Malgun Gothic"/>
              </a:rPr>
              <a:t>이마의 부적 「封神」</a:t>
            </a:r>
          </a:p>
          <a:p>
            <a:pPr algn="r">
              <a:lnSpc>
                <a:spcPct val="135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>
                <a:solidFill>
                  <a:srgbClr val="D2CABE"/>
                </a:solidFill>
                <a:latin typeface="Malgun Gothic"/>
                <a:ea typeface="Malgun Gothic"/>
                <a:cs typeface="Malgun Gothic"/>
              </a:rPr>
              <a:t>얼굴이 있어야 할 자리</a:t>
            </a:r>
          </a:p>
        </p:txBody>
      </p:sp>
      <p:sp>
        <p:nvSpPr>
          <p:cNvPr id="21" name="Oval 20"/>
          <p:cNvSpPr/>
          <p:nvPr/>
        </p:nvSpPr>
        <p:spPr>
          <a:xfrm>
            <a:off x="8567928" y="4014216"/>
            <a:ext cx="91440" cy="91440"/>
          </a:xfrm>
          <a:prstGeom prst="ellipse">
            <a:avLst/>
          </a:prstGeom>
          <a:solidFill>
            <a:srgbClr val="C92E22"/>
          </a:solidFill>
          <a:ln w="9525">
            <a:solidFill>
              <a:srgbClr val="F4EFE6">
                <a:alpha val="7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55863" y="4056278"/>
            <a:ext cx="557784" cy="9525"/>
          </a:xfrm>
          <a:prstGeom prst="rect">
            <a:avLst/>
          </a:prstGeom>
          <a:solidFill>
            <a:srgbClr val="F4EFE6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24144" y="3895344"/>
            <a:ext cx="2331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4EFE6"/>
                </a:solidFill>
                <a:latin typeface="Malgun Gothic"/>
                <a:ea typeface="Malgun Gothic"/>
                <a:cs typeface="Malgun Gothic"/>
              </a:rPr>
              <a:t>빛바랜 색동저고리</a:t>
            </a:r>
          </a:p>
          <a:p>
            <a:pPr algn="r">
              <a:lnSpc>
                <a:spcPct val="135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>
                <a:solidFill>
                  <a:srgbClr val="D2CABE"/>
                </a:solidFill>
                <a:latin typeface="Malgun Gothic"/>
                <a:ea typeface="Malgun Gothic"/>
                <a:cs typeface="Malgun Gothic"/>
              </a:rPr>
              <a:t>색이 거의 빠진 누더기</a:t>
            </a:r>
          </a:p>
        </p:txBody>
      </p:sp>
      <p:sp>
        <p:nvSpPr>
          <p:cNvPr id="24" name="Oval 23"/>
          <p:cNvSpPr/>
          <p:nvPr/>
        </p:nvSpPr>
        <p:spPr>
          <a:xfrm>
            <a:off x="9756648" y="1618488"/>
            <a:ext cx="91440" cy="91440"/>
          </a:xfrm>
          <a:prstGeom prst="ellipse">
            <a:avLst/>
          </a:prstGeom>
          <a:solidFill>
            <a:srgbClr val="C92E22"/>
          </a:solidFill>
          <a:ln w="9525">
            <a:solidFill>
              <a:srgbClr val="F4EFE6">
                <a:alpha val="7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802368" y="1660550"/>
            <a:ext cx="256031" cy="9525"/>
          </a:xfrm>
          <a:prstGeom prst="rect">
            <a:avLst/>
          </a:prstGeom>
          <a:solidFill>
            <a:srgbClr val="F4EFE6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0" y="1499616"/>
            <a:ext cx="14447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4EFE6"/>
                </a:solidFill>
                <a:latin typeface="Malgun Gothic"/>
                <a:ea typeface="Malgun Gothic"/>
                <a:cs typeface="Malgun Gothic"/>
              </a:rPr>
              <a:t>원혼 덩어리</a:t>
            </a:r>
          </a:p>
          <a:p>
            <a:pPr algn="l">
              <a:lnSpc>
                <a:spcPct val="135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>
                <a:solidFill>
                  <a:srgbClr val="D2CABE"/>
                </a:solidFill>
                <a:latin typeface="Malgun Gothic"/>
                <a:ea typeface="Malgun Gothic"/>
                <a:cs typeface="Malgun Gothic"/>
              </a:rPr>
              <a:t>등에 결박된 수백의 원혼</a:t>
            </a:r>
          </a:p>
        </p:txBody>
      </p:sp>
      <p:sp>
        <p:nvSpPr>
          <p:cNvPr id="27" name="Oval 26"/>
          <p:cNvSpPr/>
          <p:nvPr/>
        </p:nvSpPr>
        <p:spPr>
          <a:xfrm>
            <a:off x="8458200" y="5916168"/>
            <a:ext cx="91440" cy="91440"/>
          </a:xfrm>
          <a:prstGeom prst="ellipse">
            <a:avLst/>
          </a:prstGeom>
          <a:solidFill>
            <a:srgbClr val="C92E22"/>
          </a:solidFill>
          <a:ln w="9525">
            <a:solidFill>
              <a:srgbClr val="F4EFE6">
                <a:alpha val="7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55863" y="5958230"/>
            <a:ext cx="448056" cy="9525"/>
          </a:xfrm>
          <a:prstGeom prst="rect">
            <a:avLst/>
          </a:prstGeom>
          <a:solidFill>
            <a:srgbClr val="F4EFE6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24144" y="5797296"/>
            <a:ext cx="2331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4EFE6"/>
                </a:solidFill>
                <a:latin typeface="Malgun Gothic"/>
                <a:ea typeface="Malgun Gothic"/>
                <a:cs typeface="Malgun Gothic"/>
              </a:rPr>
              <a:t>뒤틀린 다리 · 짚신</a:t>
            </a:r>
          </a:p>
          <a:p>
            <a:pPr algn="r">
              <a:lnSpc>
                <a:spcPct val="135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>
                <a:solidFill>
                  <a:srgbClr val="D2CABE"/>
                </a:solidFill>
                <a:latin typeface="Malgun Gothic"/>
                <a:ea typeface="Malgun Gothic"/>
                <a:cs typeface="Malgun Gothic"/>
              </a:rPr>
              <a:t>질질 끌리는 한쪽 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6382512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spc="120">
                <a:solidFill>
                  <a:srgbClr val="7E766C"/>
                </a:solidFill>
                <a:latin typeface="Malgun Gothic"/>
                <a:ea typeface="Malgun Gothic"/>
                <a:cs typeface="Malgun Gothic"/>
              </a:rPr>
              <a:t>赫血 KAKKETSU   ·   「그것」 封神 컨셉 레퍼런스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15697" y="6382512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spc="100">
                <a:solidFill>
                  <a:srgbClr val="7E766C"/>
                </a:solidFill>
                <a:latin typeface="Cambria"/>
                <a:ea typeface="Malgun Gothic"/>
                <a:cs typeface="Malgun Gothic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80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ront_arms.jpg"/>
          <p:cNvPicPr>
            <a:picLocks noChangeAspect="1"/>
          </p:cNvPicPr>
          <p:nvPr/>
        </p:nvPicPr>
        <p:blipFill>
          <a:blip r:embed="rId2"/>
          <a:srcRect t="8318" b="8318"/>
          <a:stretch>
            <a:fillRect/>
          </a:stretch>
        </p:blipFill>
        <p:spPr>
          <a:xfrm>
            <a:off x="5608305" y="0"/>
            <a:ext cx="6583663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095984" cy="6858000"/>
          </a:xfrm>
          <a:prstGeom prst="rect">
            <a:avLst/>
          </a:prstGeom>
          <a:solidFill>
            <a:srgbClr val="0A08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crim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4466" y="0"/>
            <a:ext cx="3169912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3232" y="475488"/>
            <a:ext cx="5074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140">
                <a:solidFill>
                  <a:srgbClr val="C92E22"/>
                </a:solidFill>
                <a:latin typeface="Cambria"/>
                <a:ea typeface="Malgun Gothic"/>
                <a:cs typeface="Malgun Gothic"/>
              </a:rPr>
              <a:t>04</a:t>
            </a:r>
            <a:r>
              <a:rPr sz="1000" b="1" spc="180">
                <a:solidFill>
                  <a:srgbClr val="A2998E"/>
                </a:solidFill>
                <a:latin typeface="Cambria"/>
                <a:ea typeface="Malgun Gothic"/>
                <a:cs typeface="Malgun Gothic"/>
              </a:rPr>
              <a:t>   DESIGN ANCHOR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822960"/>
            <a:ext cx="5074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spc="-60">
                <a:solidFill>
                  <a:srgbClr val="F4EFE6"/>
                </a:solidFill>
                <a:latin typeface="Malgun Gothic"/>
                <a:ea typeface="Malgun Gothic"/>
                <a:cs typeface="Malgun Gothic"/>
              </a:rPr>
              <a:t>부적 「封神」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389888"/>
            <a:ext cx="50749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A2998E"/>
                </a:solidFill>
                <a:latin typeface="Malgun Gothic"/>
                <a:ea typeface="Malgun Gothic"/>
                <a:cs typeface="Malgun Gothic"/>
              </a:rPr>
              <a:t>얼굴을 대신하는 봉인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2011680"/>
            <a:ext cx="5074920" cy="1745132"/>
          </a:xfrm>
          <a:prstGeom prst="rect">
            <a:avLst/>
          </a:prstGeom>
          <a:solidFill>
            <a:srgbClr val="050404">
              <a:alpha val="8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2249424"/>
            <a:ext cx="4599431" cy="12696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160">
                <a:solidFill>
                  <a:srgbClr val="C92E22"/>
                </a:solidFill>
                <a:latin typeface="Malgun Gothic"/>
                <a:ea typeface="Malgun Gothic"/>
                <a:cs typeface="Malgun Gothic"/>
              </a:rPr>
              <a:t>문화 주석</a:t>
            </a:r>
          </a:p>
          <a:p>
            <a:pPr algn="l">
              <a:lnSpc>
                <a:spcPct val="140000"/>
              </a:lnSpc>
              <a:spcBef>
                <a:spcPts val="800"/>
              </a:spcBef>
              <a:spcAft>
                <a:spcPts val="0"/>
              </a:spcAft>
            </a:pPr>
            <a:r>
              <a:rPr sz="1200" b="0">
                <a:solidFill>
                  <a:srgbClr val="D2CABE"/>
                </a:solidFill>
                <a:latin typeface="Malgun Gothic"/>
                <a:ea typeface="Malgun Gothic"/>
                <a:cs typeface="Malgun Gothic"/>
              </a:rPr>
              <a:t>부적은 복을 부르는 물건이 아니다.</a:t>
            </a:r>
          </a:p>
          <a:p>
            <a: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</a:pPr>
            <a:r>
              <a:rPr sz="1200" b="0">
                <a:solidFill>
                  <a:srgbClr val="D2CABE"/>
                </a:solidFill>
                <a:latin typeface="Malgun Gothic"/>
                <a:ea typeface="Malgun Gothic"/>
                <a:cs typeface="Malgun Gothic"/>
              </a:rPr>
              <a:t>위험한 것을 눌러 가두는 물건이다.</a:t>
            </a:r>
          </a:p>
          <a:p>
            <a: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</a:pPr>
            <a:r>
              <a:rPr sz="1200" b="0">
                <a:solidFill>
                  <a:srgbClr val="D2CABE"/>
                </a:solidFill>
                <a:latin typeface="Malgun Gothic"/>
                <a:ea typeface="Malgun Gothic"/>
                <a:cs typeface="Malgun Gothic"/>
              </a:rPr>
              <a:t>「封神」 — 봉할 봉, 귀신 신.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3976268"/>
            <a:ext cx="5074920" cy="1387195"/>
          </a:xfrm>
          <a:prstGeom prst="rect">
            <a:avLst/>
          </a:prstGeom>
          <a:solidFill>
            <a:srgbClr val="050404">
              <a:alpha val="8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4214012"/>
            <a:ext cx="4599431" cy="9117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160">
                <a:solidFill>
                  <a:srgbClr val="C92E22"/>
                </a:solidFill>
                <a:latin typeface="Malgun Gothic"/>
                <a:ea typeface="Malgun Gothic"/>
                <a:cs typeface="Malgun Gothic"/>
              </a:rPr>
              <a:t>연출 의도</a:t>
            </a:r>
          </a:p>
          <a:p>
            <a:pPr algn="l">
              <a:lnSpc>
                <a:spcPct val="140000"/>
              </a:lnSpc>
              <a:spcBef>
                <a:spcPts val="800"/>
              </a:spcBef>
              <a:spcAft>
                <a:spcPts val="0"/>
              </a:spcAft>
            </a:pPr>
            <a:r>
              <a:rPr sz="1200" b="0">
                <a:solidFill>
                  <a:srgbClr val="D2CABE"/>
                </a:solidFill>
                <a:latin typeface="Malgun Gothic"/>
                <a:ea typeface="Malgun Gothic"/>
                <a:cs typeface="Malgun Gothic"/>
              </a:rPr>
              <a:t>얼굴이 없으므로 표정 연기가 성립하지 않는다.</a:t>
            </a:r>
          </a:p>
          <a:p>
            <a: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</a:pPr>
            <a:r>
              <a:rPr sz="1200" b="0">
                <a:solidFill>
                  <a:srgbClr val="D2CABE"/>
                </a:solidFill>
                <a:latin typeface="Malgun Gothic"/>
                <a:ea typeface="Malgun Gothic"/>
                <a:cs typeface="Malgun Gothic"/>
              </a:rPr>
              <a:t>관객은 「그것」의 의도를 끝까지 알 수 없다.</a:t>
            </a:r>
          </a:p>
        </p:txBody>
      </p:sp>
      <p:pic>
        <p:nvPicPr>
          <p:cNvPr id="12" name="Picture 11" descr="tile_empty_fac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647" y="5546344"/>
            <a:ext cx="723265" cy="76809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682496" y="5601207"/>
            <a:ext cx="4023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4EFE6"/>
                </a:solidFill>
                <a:latin typeface="Malgun Gothic"/>
                <a:ea typeface="Malgun Gothic"/>
                <a:cs typeface="Malgun Gothic"/>
              </a:rPr>
              <a:t>3막</a:t>
            </a:r>
          </a:p>
          <a:p>
            <a:pPr algn="l">
              <a:lnSpc>
                <a:spcPct val="145000"/>
              </a:lnSpc>
              <a:spcBef>
                <a:spcPts val="500"/>
              </a:spcBef>
              <a:spcAft>
                <a:spcPts val="0"/>
              </a:spcAft>
            </a:pPr>
            <a:r>
              <a:rPr sz="1100" b="0">
                <a:solidFill>
                  <a:srgbClr val="D2CABE"/>
                </a:solidFill>
                <a:latin typeface="Malgun Gothic"/>
                <a:ea typeface="Malgun Gothic"/>
                <a:cs typeface="Malgun Gothic"/>
              </a:rPr>
              <a:t>머리카락을 걷어내면 부적 뒤에는 아무것도 없다.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6382512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spc="120">
                <a:solidFill>
                  <a:srgbClr val="7E766C"/>
                </a:solidFill>
                <a:latin typeface="Malgun Gothic"/>
                <a:ea typeface="Malgun Gothic"/>
                <a:cs typeface="Malgun Gothic"/>
              </a:rPr>
              <a:t>赫血 KAKKETSU   ·   「그것」 封神 컨셉 레퍼런스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15697" y="6382512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spc="100">
                <a:solidFill>
                  <a:srgbClr val="7E766C"/>
                </a:solidFill>
                <a:latin typeface="Cambria"/>
                <a:ea typeface="Malgun Gothic"/>
                <a:cs typeface="Malgun Gothic"/>
              </a:rPr>
              <a:t>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80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aekdong_back.jpg"/>
          <p:cNvPicPr>
            <a:picLocks noChangeAspect="1"/>
          </p:cNvPicPr>
          <p:nvPr/>
        </p:nvPicPr>
        <p:blipFill>
          <a:blip r:embed="rId2"/>
          <a:srcRect l="10714" r="13095"/>
          <a:stretch>
            <a:fillRect/>
          </a:stretch>
        </p:blipFill>
        <p:spPr>
          <a:xfrm>
            <a:off x="0" y="0"/>
            <a:ext cx="7315181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766543" y="0"/>
            <a:ext cx="5425426" cy="6858000"/>
          </a:xfrm>
          <a:prstGeom prst="rect">
            <a:avLst/>
          </a:prstGeom>
          <a:solidFill>
            <a:srgbClr val="0A08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crim_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1430" y="0"/>
            <a:ext cx="3413751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32302" y="475488"/>
            <a:ext cx="43464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140">
                <a:solidFill>
                  <a:srgbClr val="C92E22"/>
                </a:solidFill>
                <a:latin typeface="Cambria"/>
                <a:ea typeface="Malgun Gothic"/>
                <a:cs typeface="Malgun Gothic"/>
              </a:rPr>
              <a:t>05</a:t>
            </a:r>
            <a:r>
              <a:rPr sz="1000" b="1" spc="180">
                <a:solidFill>
                  <a:srgbClr val="A2998E"/>
                </a:solidFill>
                <a:latin typeface="Cambria"/>
                <a:ea typeface="Malgun Gothic"/>
                <a:cs typeface="Malgun Gothic"/>
              </a:rPr>
              <a:t>   DESIGN ANCHOR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02" y="822960"/>
            <a:ext cx="434643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spc="-60">
                <a:solidFill>
                  <a:srgbClr val="F4EFE6"/>
                </a:solidFill>
                <a:latin typeface="Malgun Gothic"/>
                <a:ea typeface="Malgun Gothic"/>
                <a:cs typeface="Malgun Gothic"/>
              </a:rPr>
              <a:t>색동저고리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02" y="1389888"/>
            <a:ext cx="434643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A2998E"/>
                </a:solidFill>
                <a:latin typeface="Malgun Gothic"/>
                <a:ea typeface="Malgun Gothic"/>
                <a:cs typeface="Malgun Gothic"/>
              </a:rPr>
              <a:t>아이를 지키는 옷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02" y="2011680"/>
            <a:ext cx="4343400" cy="1745132"/>
          </a:xfrm>
          <a:prstGeom prst="rect">
            <a:avLst/>
          </a:prstGeom>
          <a:solidFill>
            <a:srgbClr val="050404">
              <a:alpha val="8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70046" y="2249424"/>
            <a:ext cx="3867912" cy="12696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160">
                <a:solidFill>
                  <a:srgbClr val="C92E22"/>
                </a:solidFill>
                <a:latin typeface="Malgun Gothic"/>
                <a:ea typeface="Malgun Gothic"/>
                <a:cs typeface="Malgun Gothic"/>
              </a:rPr>
              <a:t>문화 주석</a:t>
            </a:r>
          </a:p>
          <a:p>
            <a:pPr algn="l">
              <a:lnSpc>
                <a:spcPct val="140000"/>
              </a:lnSpc>
              <a:spcBef>
                <a:spcPts val="800"/>
              </a:spcBef>
              <a:spcAft>
                <a:spcPts val="0"/>
              </a:spcAft>
            </a:pPr>
            <a:r>
              <a:rPr sz="1200" b="0">
                <a:solidFill>
                  <a:srgbClr val="D2CABE"/>
                </a:solidFill>
                <a:latin typeface="Malgun Gothic"/>
                <a:ea typeface="Malgun Gothic"/>
                <a:cs typeface="Malgun Gothic"/>
              </a:rPr>
              <a:t>색동저고리는 아이에게 입히는 옷이다.</a:t>
            </a:r>
          </a:p>
          <a:p>
            <a: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</a:pPr>
            <a:r>
              <a:rPr sz="1200" b="0">
                <a:solidFill>
                  <a:srgbClr val="D2CABE"/>
                </a:solidFill>
                <a:latin typeface="Malgun Gothic"/>
                <a:ea typeface="Malgun Gothic"/>
                <a:cs typeface="Malgun Gothic"/>
              </a:rPr>
              <a:t>액을 막고 무사히 자라기를 비는 옷이다.</a:t>
            </a:r>
          </a:p>
          <a:p>
            <a: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</a:pPr>
            <a:r>
              <a:rPr sz="1200" b="0">
                <a:solidFill>
                  <a:srgbClr val="D2CABE"/>
                </a:solidFill>
                <a:latin typeface="Malgun Gothic"/>
                <a:ea typeface="Malgun Gothic"/>
                <a:cs typeface="Malgun Gothic"/>
              </a:rPr>
              <a:t>배색은 오방색 — 청·적·황·백·흑.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02" y="3976268"/>
            <a:ext cx="4343400" cy="1387195"/>
          </a:xfrm>
          <a:prstGeom prst="rect">
            <a:avLst/>
          </a:prstGeom>
          <a:solidFill>
            <a:srgbClr val="050404">
              <a:alpha val="8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70046" y="4214012"/>
            <a:ext cx="3867912" cy="9117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160">
                <a:solidFill>
                  <a:srgbClr val="C92E22"/>
                </a:solidFill>
                <a:latin typeface="Malgun Gothic"/>
                <a:ea typeface="Malgun Gothic"/>
                <a:cs typeface="Malgun Gothic"/>
              </a:rPr>
              <a:t>연출 의도</a:t>
            </a:r>
          </a:p>
          <a:p>
            <a:pPr algn="l">
              <a:lnSpc>
                <a:spcPct val="140000"/>
              </a:lnSpc>
              <a:spcBef>
                <a:spcPts val="800"/>
              </a:spcBef>
              <a:spcAft>
                <a:spcPts val="0"/>
              </a:spcAft>
            </a:pPr>
            <a:r>
              <a:rPr sz="1200" b="0">
                <a:solidFill>
                  <a:srgbClr val="D2CABE"/>
                </a:solidFill>
                <a:latin typeface="Malgun Gothic"/>
                <a:ea typeface="Malgun Gothic"/>
                <a:cs typeface="Malgun Gothic"/>
              </a:rPr>
              <a:t>위협적인 형상에 가장 다정한 옷을 입힌다.</a:t>
            </a:r>
          </a:p>
          <a:p>
            <a: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</a:pPr>
            <a:r>
              <a:rPr sz="1200" b="0">
                <a:solidFill>
                  <a:srgbClr val="D2CABE"/>
                </a:solidFill>
                <a:latin typeface="Malgun Gothic"/>
                <a:ea typeface="Malgun Gothic"/>
                <a:cs typeface="Malgun Gothic"/>
              </a:rPr>
              <a:t>색이 빠진 정도가 지켜온 시간을 보여준다.</a:t>
            </a:r>
          </a:p>
        </p:txBody>
      </p:sp>
      <p:pic>
        <p:nvPicPr>
          <p:cNvPr id="12" name="Picture 11" descr="tile_blood_jeogori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02" y="5558799"/>
            <a:ext cx="768096" cy="74318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101566" y="5637783"/>
            <a:ext cx="3337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4EFE6"/>
                </a:solidFill>
                <a:latin typeface="Malgun Gothic"/>
                <a:ea typeface="Malgun Gothic"/>
                <a:cs typeface="Malgun Gothic"/>
              </a:rPr>
              <a:t>1945 시퀀스</a:t>
            </a:r>
          </a:p>
          <a:p>
            <a:pPr algn="l">
              <a:lnSpc>
                <a:spcPct val="145000"/>
              </a:lnSpc>
              <a:spcBef>
                <a:spcPts val="500"/>
              </a:spcBef>
              <a:spcAft>
                <a:spcPts val="0"/>
              </a:spcAft>
            </a:pPr>
            <a:r>
              <a:rPr sz="1100" b="0">
                <a:solidFill>
                  <a:srgbClr val="D2CABE"/>
                </a:solidFill>
                <a:latin typeface="Malgun Gothic"/>
                <a:ea typeface="Malgun Gothic"/>
                <a:cs typeface="Malgun Gothic"/>
              </a:rPr>
              <a:t>색동은 극 중 새것으로 등장하지 않는다.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02" y="6382512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spc="120">
                <a:solidFill>
                  <a:srgbClr val="7E766C"/>
                </a:solidFill>
                <a:latin typeface="Malgun Gothic"/>
                <a:ea typeface="Malgun Gothic"/>
                <a:cs typeface="Malgun Gothic"/>
              </a:rPr>
              <a:t>赫血 KAKKETSU   ·   「그것」 封神 컨셉 레퍼런스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15697" y="6382512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spc="100">
                <a:solidFill>
                  <a:srgbClr val="7E766C"/>
                </a:solidFill>
                <a:latin typeface="Cambria"/>
                <a:ea typeface="Malgun Gothic"/>
                <a:cs typeface="Malgun Gothic"/>
              </a:rPr>
              <a:t>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80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oot_closeup.jpg"/>
          <p:cNvPicPr>
            <a:picLocks noChangeAspect="1"/>
          </p:cNvPicPr>
          <p:nvPr/>
        </p:nvPicPr>
        <p:blipFill>
          <a:blip r:embed="rId2"/>
          <a:srcRect t="3108" b="3108"/>
          <a:stretch>
            <a:fillRect/>
          </a:stretch>
        </p:blipFill>
        <p:spPr>
          <a:xfrm>
            <a:off x="6339824" y="0"/>
            <a:ext cx="585214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827502" cy="6858000"/>
          </a:xfrm>
          <a:prstGeom prst="rect">
            <a:avLst/>
          </a:prstGeom>
          <a:solidFill>
            <a:srgbClr val="0A08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crim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45" y="0"/>
            <a:ext cx="2926072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3232" y="4754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140">
                <a:solidFill>
                  <a:srgbClr val="C92E22"/>
                </a:solidFill>
                <a:latin typeface="Cambria"/>
                <a:ea typeface="Malgun Gothic"/>
                <a:cs typeface="Malgun Gothic"/>
              </a:rPr>
              <a:t>06</a:t>
            </a:r>
            <a:r>
              <a:rPr sz="1000" b="1" spc="180">
                <a:solidFill>
                  <a:srgbClr val="A2998E"/>
                </a:solidFill>
                <a:latin typeface="Cambria"/>
                <a:ea typeface="Malgun Gothic"/>
                <a:cs typeface="Malgun Gothic"/>
              </a:rPr>
              <a:t>   DESIGN ANCHOR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822960"/>
            <a:ext cx="5486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spc="-60">
                <a:solidFill>
                  <a:srgbClr val="F4EFE6"/>
                </a:solidFill>
                <a:latin typeface="Malgun Gothic"/>
                <a:ea typeface="Malgun Gothic"/>
                <a:cs typeface="Malgun Gothic"/>
              </a:rPr>
              <a:t>짚신과 뒤틀린 다리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389888"/>
            <a:ext cx="5486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A2998E"/>
                </a:solidFill>
                <a:latin typeface="Malgun Gothic"/>
                <a:ea typeface="Malgun Gothic"/>
                <a:cs typeface="Malgun Gothic"/>
              </a:rPr>
              <a:t>업을 지고 걷는 몸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2011680"/>
            <a:ext cx="5394960" cy="1387195"/>
          </a:xfrm>
          <a:prstGeom prst="rect">
            <a:avLst/>
          </a:prstGeom>
          <a:solidFill>
            <a:srgbClr val="050404">
              <a:alpha val="8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2249424"/>
            <a:ext cx="4919472" cy="9117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160">
                <a:solidFill>
                  <a:srgbClr val="C92E22"/>
                </a:solidFill>
                <a:latin typeface="Malgun Gothic"/>
                <a:ea typeface="Malgun Gothic"/>
                <a:cs typeface="Malgun Gothic"/>
              </a:rPr>
              <a:t>문화 주석</a:t>
            </a:r>
          </a:p>
          <a:p>
            <a:pPr algn="l">
              <a:lnSpc>
                <a:spcPct val="140000"/>
              </a:lnSpc>
              <a:spcBef>
                <a:spcPts val="800"/>
              </a:spcBef>
              <a:spcAft>
                <a:spcPts val="0"/>
              </a:spcAft>
            </a:pPr>
            <a:r>
              <a:rPr sz="1200" b="0">
                <a:solidFill>
                  <a:srgbClr val="D2CABE"/>
                </a:solidFill>
                <a:latin typeface="Malgun Gothic"/>
                <a:ea typeface="Malgun Gothic"/>
                <a:cs typeface="Malgun Gothic"/>
              </a:rPr>
              <a:t>짚신은 신분의 바닥을 뜻하는 신발이다.</a:t>
            </a:r>
          </a:p>
          <a:p>
            <a: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</a:pPr>
            <a:r>
              <a:rPr sz="1200" b="0">
                <a:solidFill>
                  <a:srgbClr val="D2CABE"/>
                </a:solidFill>
                <a:latin typeface="Malgun Gothic"/>
                <a:ea typeface="Malgun Gothic"/>
                <a:cs typeface="Malgun Gothic"/>
              </a:rPr>
              <a:t>업을 짊어진 채 계속 걸어가는 인간의 상징이다.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3618331"/>
            <a:ext cx="5394960" cy="1745132"/>
          </a:xfrm>
          <a:prstGeom prst="rect">
            <a:avLst/>
          </a:prstGeom>
          <a:solidFill>
            <a:srgbClr val="050404">
              <a:alpha val="8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3856075"/>
            <a:ext cx="4919472" cy="12696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160">
                <a:solidFill>
                  <a:srgbClr val="C92E22"/>
                </a:solidFill>
                <a:latin typeface="Malgun Gothic"/>
                <a:ea typeface="Malgun Gothic"/>
                <a:cs typeface="Malgun Gothic"/>
              </a:rPr>
              <a:t>연출 의도 — 절룩임은 상해가 아니라 하중이다</a:t>
            </a:r>
          </a:p>
          <a:p>
            <a:pPr algn="l">
              <a:lnSpc>
                <a:spcPct val="140000"/>
              </a:lnSpc>
              <a:spcBef>
                <a:spcPts val="800"/>
              </a:spcBef>
              <a:spcAft>
                <a:spcPts val="0"/>
              </a:spcAft>
            </a:pPr>
            <a:r>
              <a:rPr sz="1200" b="0">
                <a:solidFill>
                  <a:srgbClr val="D2CABE"/>
                </a:solidFill>
                <a:latin typeface="Malgun Gothic"/>
                <a:ea typeface="Malgun Gothic"/>
                <a:cs typeface="Malgun Gothic"/>
              </a:rPr>
              <a:t>수백의 원혼을 대신 짊어져 무거워진 결과다.</a:t>
            </a:r>
          </a:p>
          <a:p>
            <a: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</a:pPr>
            <a:r>
              <a:rPr sz="1200" b="0">
                <a:solidFill>
                  <a:srgbClr val="D2CABE"/>
                </a:solidFill>
                <a:latin typeface="Malgun Gothic"/>
                <a:ea typeface="Malgun Gothic"/>
                <a:cs typeface="Malgun Gothic"/>
              </a:rPr>
              <a:t>핏줄이 끊어지는 순간, 걸음은 정상으로 돌아온다.</a:t>
            </a:r>
          </a:p>
          <a:p>
            <a: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</a:pPr>
            <a:r>
              <a:rPr sz="1200" b="0">
                <a:solidFill>
                  <a:srgbClr val="D2CABE"/>
                </a:solidFill>
                <a:latin typeface="Malgun Gothic"/>
                <a:ea typeface="Malgun Gothic"/>
                <a:cs typeface="Malgun Gothic"/>
              </a:rPr>
              <a:t>관객이 대사 없이 반전을 알아채는 지점이다.</a:t>
            </a:r>
          </a:p>
        </p:txBody>
      </p:sp>
      <p:pic>
        <p:nvPicPr>
          <p:cNvPr id="12" name="Picture 11" descr="tile_shoe_walk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5546596"/>
            <a:ext cx="1243584" cy="76759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5601207"/>
            <a:ext cx="3931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C92E22"/>
                </a:solidFill>
                <a:latin typeface="Malgun Gothic"/>
                <a:ea typeface="Malgun Gothic"/>
                <a:cs typeface="Malgun Gothic"/>
              </a:rPr>
              <a:t>슥……  쿵……</a:t>
            </a:r>
          </a:p>
          <a:p>
            <a:pPr algn="l">
              <a:lnSpc>
                <a:spcPct val="145000"/>
              </a:lnSpc>
              <a:spcBef>
                <a:spcPts val="500"/>
              </a:spcBef>
              <a:spcAft>
                <a:spcPts val="0"/>
              </a:spcAft>
            </a:pPr>
            <a:r>
              <a:rPr sz="1100" b="0">
                <a:solidFill>
                  <a:srgbClr val="D2CABE"/>
                </a:solidFill>
                <a:latin typeface="Malgun Gothic"/>
                <a:ea typeface="Malgun Gothic"/>
                <a:cs typeface="Malgun Gothic"/>
              </a:rPr>
              <a:t>「그것」의 등장은 화면보다 이 소리가 먼저 알린다.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6382512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spc="120">
                <a:solidFill>
                  <a:srgbClr val="7E766C"/>
                </a:solidFill>
                <a:latin typeface="Malgun Gothic"/>
                <a:ea typeface="Malgun Gothic"/>
                <a:cs typeface="Malgun Gothic"/>
              </a:rPr>
              <a:t>赫血 KAKKETSU   ·   「그것」 封神 컨셉 레퍼런스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15697" y="6382512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spc="100">
                <a:solidFill>
                  <a:srgbClr val="7E766C"/>
                </a:solidFill>
                <a:latin typeface="Cambria"/>
                <a:ea typeface="Malgun Gothic"/>
                <a:cs typeface="Malgun Gothic"/>
              </a:rPr>
              <a:t>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80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ass_closeup.jpg"/>
          <p:cNvPicPr>
            <a:picLocks noChangeAspect="1"/>
          </p:cNvPicPr>
          <p:nvPr/>
        </p:nvPicPr>
        <p:blipFill>
          <a:blip r:embed="rId2"/>
          <a:srcRect t="21809" b="30117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3" name="Picture 2" descr="vignet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4" name="Picture 3" descr="scrim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0715" y="0"/>
            <a:ext cx="10241254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386" y="475488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140">
                <a:solidFill>
                  <a:srgbClr val="C92E22"/>
                </a:solidFill>
                <a:latin typeface="Cambria"/>
                <a:ea typeface="Malgun Gothic"/>
                <a:cs typeface="Malgun Gothic"/>
              </a:rPr>
              <a:t>07</a:t>
            </a:r>
            <a:r>
              <a:rPr sz="1000" b="1" spc="180">
                <a:solidFill>
                  <a:srgbClr val="A2998E"/>
                </a:solidFill>
                <a:latin typeface="Cambria"/>
                <a:ea typeface="Malgun Gothic"/>
                <a:cs typeface="Malgun Gothic"/>
              </a:rPr>
              <a:t>   THE BURDEN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386" y="822960"/>
            <a:ext cx="5120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spc="-60">
                <a:solidFill>
                  <a:srgbClr val="F4EFE6"/>
                </a:solidFill>
                <a:latin typeface="Malgun Gothic"/>
                <a:ea typeface="Malgun Gothic"/>
                <a:cs typeface="Malgun Gothic"/>
              </a:rPr>
              <a:t>등에 결박된
수백의 원혼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386" y="2468880"/>
            <a:ext cx="512064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4EFE6"/>
                </a:solidFill>
                <a:latin typeface="Malgun Gothic"/>
                <a:ea typeface="Malgun Gothic"/>
                <a:cs typeface="Malgun Gothic"/>
              </a:rPr>
              <a:t>움직임</a:t>
            </a:r>
            <a:r>
              <a:rPr sz="1200" b="0">
                <a:solidFill>
                  <a:srgbClr val="D2CABE"/>
                </a:solidFill>
                <a:latin typeface="Malgun Gothic"/>
                <a:ea typeface="Malgun Gothic"/>
                <a:cs typeface="Malgun Gothic"/>
              </a:rPr>
              <a:t>   고정된 실루엣 없이 액체처럼 흐른다</a:t>
            </a:r>
          </a:p>
          <a:p>
            <a:pPr algn="l">
              <a:lnSpc>
                <a:spcPct val="145000"/>
              </a:lnSpc>
              <a:spcBef>
                <a:spcPts val="1100"/>
              </a:spcBef>
              <a:spcAft>
                <a:spcPts val="0"/>
              </a:spcAft>
            </a:pPr>
            <a:r>
              <a:rPr sz="1200" b="1">
                <a:solidFill>
                  <a:srgbClr val="F4EFE6"/>
                </a:solidFill>
                <a:latin typeface="Malgun Gothic"/>
                <a:ea typeface="Malgun Gothic"/>
                <a:cs typeface="Malgun Gothic"/>
              </a:rPr>
              <a:t>구성</a:t>
            </a:r>
            <a:r>
              <a:rPr sz="1200" b="0">
                <a:solidFill>
                  <a:srgbClr val="D2CABE"/>
                </a:solidFill>
                <a:latin typeface="Malgun Gothic"/>
                <a:ea typeface="Malgun Gothic"/>
                <a:cs typeface="Malgun Gothic"/>
              </a:rPr>
              <a:t>   얼굴 · 사지 · 손등이 얽혀 유기적으로 변형된다</a:t>
            </a:r>
          </a:p>
          <a:p>
            <a:pPr algn="l">
              <a:lnSpc>
                <a:spcPct val="145000"/>
              </a:lnSpc>
              <a:spcBef>
                <a:spcPts val="1100"/>
              </a:spcBef>
              <a:spcAft>
                <a:spcPts val="0"/>
              </a:spcAft>
            </a:pPr>
            <a:r>
              <a:rPr sz="1200" b="1">
                <a:solidFill>
                  <a:srgbClr val="F4EFE6"/>
                </a:solidFill>
                <a:latin typeface="Malgun Gothic"/>
                <a:ea typeface="Malgun Gothic"/>
                <a:cs typeface="Malgun Gothic"/>
              </a:rPr>
              <a:t>결박</a:t>
            </a:r>
            <a:r>
              <a:rPr sz="1200" b="0">
                <a:solidFill>
                  <a:srgbClr val="D2CABE"/>
                </a:solidFill>
                <a:latin typeface="Malgun Gothic"/>
                <a:ea typeface="Malgun Gothic"/>
                <a:cs typeface="Malgun Gothic"/>
              </a:rPr>
              <a:t>   긴 머리카락이 덩어리 전체를 감아 억제한다</a:t>
            </a:r>
          </a:p>
          <a:p>
            <a:pPr algn="l">
              <a:lnSpc>
                <a:spcPct val="145000"/>
              </a:lnSpc>
              <a:spcBef>
                <a:spcPts val="1100"/>
              </a:spcBef>
              <a:spcAft>
                <a:spcPts val="0"/>
              </a:spcAft>
            </a:pPr>
            <a:r>
              <a:rPr sz="1200" b="1">
                <a:solidFill>
                  <a:srgbClr val="F4EFE6"/>
                </a:solidFill>
                <a:latin typeface="Malgun Gothic"/>
                <a:ea typeface="Malgun Gothic"/>
                <a:cs typeface="Malgun Gothic"/>
              </a:rPr>
              <a:t>이동</a:t>
            </a:r>
            <a:r>
              <a:rPr sz="1200" b="0">
                <a:solidFill>
                  <a:srgbClr val="D2CABE"/>
                </a:solidFill>
                <a:latin typeface="Malgun Gothic"/>
                <a:ea typeface="Malgun Gothic"/>
                <a:cs typeface="Malgun Gothic"/>
              </a:rPr>
              <a:t>   덩어리도 바닥을 따라 흘러 함께 움직인다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386" y="4626864"/>
            <a:ext cx="5120640" cy="1681632"/>
          </a:xfrm>
          <a:prstGeom prst="rect">
            <a:avLst/>
          </a:prstGeom>
          <a:solidFill>
            <a:srgbClr val="050404">
              <a:alpha val="8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24130" y="4864607"/>
            <a:ext cx="4645152" cy="1206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160">
                <a:solidFill>
                  <a:srgbClr val="C92E22"/>
                </a:solidFill>
                <a:latin typeface="Malgun Gothic"/>
                <a:ea typeface="Malgun Gothic"/>
                <a:cs typeface="Malgun Gothic"/>
              </a:rPr>
              <a:t>연출 · VFX 노트</a:t>
            </a:r>
          </a:p>
          <a:p>
            <a:pPr algn="l">
              <a:lnSpc>
                <a:spcPct val="140000"/>
              </a:lnSpc>
              <a:spcBef>
                <a:spcPts val="800"/>
              </a:spcBef>
              <a:spcAft>
                <a:spcPts val="0"/>
              </a:spcAft>
            </a:pPr>
            <a:r>
              <a:rPr sz="1200" b="0">
                <a:solidFill>
                  <a:srgbClr val="D2CABE"/>
                </a:solidFill>
                <a:latin typeface="Malgun Gothic"/>
                <a:ea typeface="Malgun Gothic"/>
                <a:cs typeface="Malgun Gothic"/>
              </a:rPr>
              <a:t>계단 시퀀스에서 결박이 풀린다.</a:t>
            </a:r>
          </a:p>
          <a:p>
            <a: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</a:pPr>
            <a:r>
              <a:rPr sz="1200" b="0">
                <a:solidFill>
                  <a:srgbClr val="D2CABE"/>
                </a:solidFill>
                <a:latin typeface="Malgun Gothic"/>
                <a:ea typeface="Malgun Gothic"/>
                <a:cs typeface="Malgun Gothic"/>
              </a:rPr>
              <a:t>하중을 버린 「그것」의 이동 속도가 급격히 빨라진다.</a:t>
            </a:r>
          </a:p>
        </p:txBody>
      </p:sp>
      <p:pic>
        <p:nvPicPr>
          <p:cNvPr id="10" name="Picture 9" descr="sheet_mont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9802" y="4626864"/>
            <a:ext cx="1381418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13232" y="6382512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spc="120">
                <a:solidFill>
                  <a:srgbClr val="7E766C"/>
                </a:solidFill>
                <a:latin typeface="Malgun Gothic"/>
                <a:ea typeface="Malgun Gothic"/>
                <a:cs typeface="Malgun Gothic"/>
              </a:rPr>
              <a:t>赫血 KAKKETSU   ·   「그것」 封神 컨셉 레퍼런스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15697" y="6382512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spc="100">
                <a:solidFill>
                  <a:srgbClr val="7E766C"/>
                </a:solidFill>
                <a:latin typeface="Cambria"/>
                <a:ea typeface="Malgun Gothic"/>
                <a:cs typeface="Malgun Gothic"/>
              </a:rPr>
              <a:t>08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8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75488"/>
            <a:ext cx="1076550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140">
                <a:solidFill>
                  <a:srgbClr val="C92E22"/>
                </a:solidFill>
                <a:latin typeface="Cambria"/>
                <a:ea typeface="Malgun Gothic"/>
                <a:cs typeface="Malgun Gothic"/>
              </a:rPr>
              <a:t>08</a:t>
            </a:r>
            <a:r>
              <a:rPr sz="1000" b="1" spc="180">
                <a:solidFill>
                  <a:srgbClr val="A2998E"/>
                </a:solidFill>
                <a:latin typeface="Cambria"/>
                <a:ea typeface="Malgun Gothic"/>
                <a:cs typeface="Malgun Gothic"/>
              </a:rPr>
              <a:t>   LOOK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822960"/>
            <a:ext cx="1076550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spc="-60">
                <a:solidFill>
                  <a:srgbClr val="F4EFE6"/>
                </a:solidFill>
                <a:latin typeface="Malgun Gothic"/>
                <a:ea typeface="Malgun Gothic"/>
                <a:cs typeface="Malgun Gothic"/>
              </a:rPr>
              <a:t>룩 개발 — 4안</a:t>
            </a:r>
          </a:p>
        </p:txBody>
      </p:sp>
      <p:pic>
        <p:nvPicPr>
          <p:cNvPr id="4" name="Picture 3" descr="look_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500" y="1426464"/>
            <a:ext cx="1691098" cy="324690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3232" y="4882896"/>
            <a:ext cx="248563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60">
                <a:solidFill>
                  <a:srgbClr val="F4EFE6"/>
                </a:solidFill>
                <a:latin typeface="Malgun Gothic"/>
                <a:ea typeface="Malgun Gothic"/>
                <a:cs typeface="Malgun Gothic"/>
              </a:rPr>
              <a:t>A · WET / BLACK</a:t>
            </a:r>
          </a:p>
          <a:p>
            <a:pPr algn="l">
              <a:lnSpc>
                <a:spcPct val="145000"/>
              </a:lnSpc>
              <a:spcBef>
                <a:spcPts val="700"/>
              </a:spcBef>
              <a:spcAft>
                <a:spcPts val="0"/>
              </a:spcAft>
            </a:pPr>
            <a:r>
              <a:rPr sz="1050" b="0">
                <a:solidFill>
                  <a:srgbClr val="D2CABE"/>
                </a:solidFill>
                <a:latin typeface="Malgun Gothic"/>
                <a:ea typeface="Malgun Gothic"/>
                <a:cs typeface="Malgun Gothic"/>
              </a:rPr>
              <a:t>젖은 흑색 점액 톤이다.
원혼과 머리카락이 한 덩어리로 보인다.</a:t>
            </a:r>
          </a:p>
        </p:txBody>
      </p:sp>
      <p:pic>
        <p:nvPicPr>
          <p:cNvPr id="6" name="Picture 5" descr="look_b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0457" y="1426464"/>
            <a:ext cx="1691098" cy="324690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473188" y="4882896"/>
            <a:ext cx="248563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60">
                <a:solidFill>
                  <a:srgbClr val="F4EFE6"/>
                </a:solidFill>
                <a:latin typeface="Malgun Gothic"/>
                <a:ea typeface="Malgun Gothic"/>
                <a:cs typeface="Malgun Gothic"/>
              </a:rPr>
              <a:t>B · WET / DETAIL</a:t>
            </a:r>
          </a:p>
          <a:p>
            <a:pPr algn="l">
              <a:lnSpc>
                <a:spcPct val="145000"/>
              </a:lnSpc>
              <a:spcBef>
                <a:spcPts val="700"/>
              </a:spcBef>
              <a:spcAft>
                <a:spcPts val="0"/>
              </a:spcAft>
            </a:pPr>
            <a:r>
              <a:rPr sz="1050" b="0">
                <a:solidFill>
                  <a:srgbClr val="D2CABE"/>
                </a:solidFill>
                <a:latin typeface="Malgun Gothic"/>
                <a:ea typeface="Malgun Gothic"/>
                <a:cs typeface="Malgun Gothic"/>
              </a:rPr>
              <a:t>같은 톤에서 원혼을 개체로 분리했다.
클로즈업 장면에 쓴다.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33144" y="1152144"/>
            <a:ext cx="248563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60">
                <a:solidFill>
                  <a:srgbClr val="C92E22"/>
                </a:solidFill>
                <a:latin typeface="Malgun Gothic"/>
                <a:ea typeface="Malgun Gothic"/>
                <a:cs typeface="Malgun Gothic"/>
              </a:rPr>
              <a:t>본편 기준안</a:t>
            </a:r>
          </a:p>
        </p:txBody>
      </p:sp>
      <p:pic>
        <p:nvPicPr>
          <p:cNvPr id="9" name="Picture 8" descr="look_c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0413" y="1426464"/>
            <a:ext cx="1691098" cy="324690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33144" y="4882896"/>
            <a:ext cx="248563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60">
                <a:solidFill>
                  <a:srgbClr val="F4EFE6"/>
                </a:solidFill>
                <a:latin typeface="Malgun Gothic"/>
                <a:ea typeface="Malgun Gothic"/>
                <a:cs typeface="Malgun Gothic"/>
              </a:rPr>
              <a:t>C · SAEKDONG</a:t>
            </a:r>
          </a:p>
          <a:p>
            <a:pPr algn="l">
              <a:lnSpc>
                <a:spcPct val="145000"/>
              </a:lnSpc>
              <a:spcBef>
                <a:spcPts val="700"/>
              </a:spcBef>
              <a:spcAft>
                <a:spcPts val="0"/>
              </a:spcAft>
            </a:pPr>
            <a:r>
              <a:rPr sz="1050" b="0">
                <a:solidFill>
                  <a:srgbClr val="D2CABE"/>
                </a:solidFill>
                <a:latin typeface="Malgun Gothic"/>
                <a:ea typeface="Malgun Gothic"/>
                <a:cs typeface="Malgun Gothic"/>
              </a:rPr>
              <a:t>색동의 채도를 살렸다.
반전 단서가 가장 먼저 읽힌다.</a:t>
            </a:r>
          </a:p>
        </p:txBody>
      </p:sp>
      <p:pic>
        <p:nvPicPr>
          <p:cNvPr id="11" name="Picture 10" descr="look_d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90369" y="1426464"/>
            <a:ext cx="1691098" cy="324690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993101" y="4882896"/>
            <a:ext cx="248563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60">
                <a:solidFill>
                  <a:srgbClr val="F4EFE6"/>
                </a:solidFill>
                <a:latin typeface="Malgun Gothic"/>
                <a:ea typeface="Malgun Gothic"/>
                <a:cs typeface="Malgun Gothic"/>
              </a:rPr>
              <a:t>D · MIST</a:t>
            </a:r>
          </a:p>
          <a:p>
            <a:pPr algn="l">
              <a:lnSpc>
                <a:spcPct val="145000"/>
              </a:lnSpc>
              <a:spcBef>
                <a:spcPts val="700"/>
              </a:spcBef>
              <a:spcAft>
                <a:spcPts val="0"/>
              </a:spcAft>
            </a:pPr>
            <a:r>
              <a:rPr sz="1050" b="0">
                <a:solidFill>
                  <a:srgbClr val="D2CABE"/>
                </a:solidFill>
                <a:latin typeface="Malgun Gothic"/>
                <a:ea typeface="Malgun Gothic"/>
                <a:cs typeface="Malgun Gothic"/>
              </a:rPr>
              <a:t>안개와 저채도로 실루엣만 남겼다.
티저와 키비주얼에 쓴다.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" y="5852160"/>
            <a:ext cx="10765505" cy="7620"/>
          </a:xfrm>
          <a:prstGeom prst="rect">
            <a:avLst/>
          </a:prstGeom>
          <a:solidFill>
            <a:srgbClr val="F4EFE6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5998464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2CABE"/>
                </a:solidFill>
                <a:latin typeface="Malgun Gothic"/>
                <a:ea typeface="Malgun Gothic"/>
                <a:cs typeface="Malgun Gothic"/>
              </a:rPr>
              <a:t>네 안은 실루엣과 비율이 동일하며, 차이는 채도와 질감에 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6382512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spc="120">
                <a:solidFill>
                  <a:srgbClr val="7E766C"/>
                </a:solidFill>
                <a:latin typeface="Malgun Gothic"/>
                <a:ea typeface="Malgun Gothic"/>
                <a:cs typeface="Malgun Gothic"/>
              </a:rPr>
              <a:t>赫血 KAKKETSU   ·   「그것」 封神 컨셉 레퍼런스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15697" y="6382512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spc="100">
                <a:solidFill>
                  <a:srgbClr val="7E766C"/>
                </a:solidFill>
                <a:latin typeface="Cambria"/>
                <a:ea typeface="Malgun Gothic"/>
                <a:cs typeface="Malgun Gothic"/>
              </a:rPr>
              <a:t>09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8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75488"/>
            <a:ext cx="1076550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140">
                <a:solidFill>
                  <a:srgbClr val="C92E22"/>
                </a:solidFill>
                <a:latin typeface="Cambria"/>
                <a:ea typeface="Malgun Gothic"/>
                <a:cs typeface="Malgun Gothic"/>
              </a:rPr>
              <a:t>09</a:t>
            </a:r>
            <a:r>
              <a:rPr sz="1000" b="1" spc="180">
                <a:solidFill>
                  <a:srgbClr val="A2998E"/>
                </a:solidFill>
                <a:latin typeface="Cambria"/>
                <a:ea typeface="Malgun Gothic"/>
                <a:cs typeface="Malgun Gothic"/>
              </a:rPr>
              <a:t>   TURNAROUND &amp; SCALE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822960"/>
            <a:ext cx="1076550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spc="-60">
                <a:solidFill>
                  <a:srgbClr val="F4EFE6"/>
                </a:solidFill>
                <a:latin typeface="Malgun Gothic"/>
                <a:ea typeface="Malgun Gothic"/>
                <a:cs typeface="Malgun Gothic"/>
              </a:rPr>
              <a:t>3면도 · 크기 설계</a:t>
            </a:r>
          </a:p>
        </p:txBody>
      </p:sp>
      <p:pic>
        <p:nvPicPr>
          <p:cNvPr id="4" name="Picture 3" descr="sheet_siz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2612" y="1426464"/>
            <a:ext cx="3930518" cy="3145536"/>
          </a:xfrm>
          <a:prstGeom prst="rect">
            <a:avLst/>
          </a:prstGeom>
        </p:spPr>
      </p:pic>
      <p:pic>
        <p:nvPicPr>
          <p:cNvPr id="5" name="Picture 4" descr="scale_char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704039"/>
            <a:ext cx="4553712" cy="259038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3232" y="4754880"/>
            <a:ext cx="5669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spc="160">
                <a:solidFill>
                  <a:srgbClr val="C92E22"/>
                </a:solidFill>
                <a:latin typeface="Malgun Gothic"/>
                <a:ea typeface="Malgun Gothic"/>
                <a:cs typeface="Malgun Gothic"/>
              </a:rPr>
              <a:t>파트별 확정 항목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5047488"/>
            <a:ext cx="5669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D2CABE"/>
                </a:solidFill>
                <a:latin typeface="Malgun Gothic"/>
                <a:ea typeface="Malgun Gothic"/>
                <a:cs typeface="Malgun Gothic"/>
              </a:rPr>
              <a:t>3면 실루엣  ·  이마 부적  ·  색동 탈색 단계
피부와 관절  ·  젖은 발목  ·  원혼 밀도  ·  손등 질감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4754880"/>
            <a:ext cx="45537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spc="160">
                <a:solidFill>
                  <a:srgbClr val="C92E22"/>
                </a:solidFill>
                <a:latin typeface="Malgun Gothic"/>
                <a:ea typeface="Malgun Gothic"/>
                <a:cs typeface="Malgun Gothic"/>
              </a:rPr>
              <a:t>스케일 운용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5065776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C92E22"/>
                </a:solidFill>
                <a:latin typeface="Cambria"/>
                <a:ea typeface="Malgun Gothic"/>
                <a:cs typeface="Malgun Gothic"/>
              </a:rPr>
              <a:t>150cm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42631" y="5047488"/>
            <a:ext cx="3794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D2CABE"/>
                </a:solidFill>
                <a:latin typeface="Malgun Gothic"/>
                <a:ea typeface="Malgun Gothic"/>
                <a:cs typeface="Malgun Gothic"/>
              </a:rPr>
              <a:t>일상과 미행. 사람 크기로, 무해해 보여야 한다.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5394960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C92E22"/>
                </a:solidFill>
                <a:latin typeface="Cambria"/>
                <a:ea typeface="Malgun Gothic"/>
                <a:cs typeface="Malgun Gothic"/>
              </a:rPr>
              <a:t>180cm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42631" y="5376672"/>
            <a:ext cx="3794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D2CABE"/>
                </a:solidFill>
                <a:latin typeface="Malgun Gothic"/>
                <a:ea typeface="Malgun Gothic"/>
                <a:cs typeface="Malgun Gothic"/>
              </a:rPr>
              <a:t>대면. 인물과 눈높이가 맞는 장면에 쓴다.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572414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C92E22"/>
                </a:solidFill>
                <a:latin typeface="Cambria"/>
                <a:ea typeface="Malgun Gothic"/>
                <a:cs typeface="Malgun Gothic"/>
              </a:rPr>
              <a:t>190cm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42631" y="5705856"/>
            <a:ext cx="3794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D2CABE"/>
                </a:solidFill>
                <a:latin typeface="Malgun Gothic"/>
                <a:ea typeface="Malgun Gothic"/>
                <a:cs typeface="Malgun Gothic"/>
              </a:rPr>
              <a:t>추격. 공간이 좁아 보이는 크기다.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6053328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C92E22"/>
                </a:solidFill>
                <a:latin typeface="Cambria"/>
                <a:ea typeface="Malgun Gothic"/>
                <a:cs typeface="Malgun Gothic"/>
              </a:rPr>
              <a:t>260cm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42631" y="6035040"/>
            <a:ext cx="3794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D2CABE"/>
                </a:solidFill>
                <a:latin typeface="Malgun Gothic"/>
                <a:ea typeface="Malgun Gothic"/>
                <a:cs typeface="Malgun Gothic"/>
              </a:rPr>
              <a:t>굿판과 강림. 공간 전체를 압도한다.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6382512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spc="120">
                <a:solidFill>
                  <a:srgbClr val="7E766C"/>
                </a:solidFill>
                <a:latin typeface="Malgun Gothic"/>
                <a:ea typeface="Malgun Gothic"/>
                <a:cs typeface="Malgun Gothic"/>
              </a:rPr>
              <a:t>赫血 KAKKETSU   ·   「그것」 封神 컨셉 레퍼런스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15697" y="6382512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spc="100">
                <a:solidFill>
                  <a:srgbClr val="7E766C"/>
                </a:solidFill>
                <a:latin typeface="Cambria"/>
                <a:ea typeface="Malgun Gothic"/>
                <a:cs typeface="Malgun Gothic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8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75488"/>
            <a:ext cx="1076550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140">
                <a:solidFill>
                  <a:srgbClr val="C92E22"/>
                </a:solidFill>
                <a:latin typeface="Cambria"/>
                <a:ea typeface="Malgun Gothic"/>
                <a:cs typeface="Malgun Gothic"/>
              </a:rPr>
              <a:t>10</a:t>
            </a:r>
            <a:r>
              <a:rPr sz="1000" b="1" spc="180">
                <a:solidFill>
                  <a:srgbClr val="A2998E"/>
                </a:solidFill>
                <a:latin typeface="Cambria"/>
                <a:ea typeface="Malgun Gothic"/>
                <a:cs typeface="Malgun Gothic"/>
              </a:rPr>
              <a:t>   COSTUME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822960"/>
            <a:ext cx="1076550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spc="-60">
                <a:solidFill>
                  <a:srgbClr val="F4EFE6"/>
                </a:solidFill>
                <a:latin typeface="Malgun Gothic"/>
                <a:ea typeface="Malgun Gothic"/>
                <a:cs typeface="Malgun Gothic"/>
              </a:rPr>
              <a:t>의상 컨셉 — 4벌</a:t>
            </a:r>
          </a:p>
        </p:txBody>
      </p:sp>
      <p:pic>
        <p:nvPicPr>
          <p:cNvPr id="4" name="Picture 3" descr="detail_talisman_ta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5600" y="530352"/>
            <a:ext cx="368766" cy="4206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32320" y="493776"/>
            <a:ext cx="4343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4EFE6"/>
                </a:solidFill>
                <a:latin typeface="Malgun Gothic"/>
                <a:ea typeface="Malgun Gothic"/>
                <a:cs typeface="Malgun Gothic"/>
              </a:rPr>
              <a:t>소품 — 「封神」 부적</a:t>
            </a:r>
          </a:p>
          <a:p>
            <a:pPr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>
                <a:solidFill>
                  <a:srgbClr val="D2CABE"/>
                </a:solidFill>
                <a:latin typeface="Malgun Gothic"/>
                <a:ea typeface="Malgun Gothic"/>
                <a:cs typeface="Malgun Gothic"/>
              </a:rPr>
              <a:t>무당이 자신의 피로 그린 부적. 색을 잃지 않는 유일한 물건.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115568"/>
            <a:ext cx="4983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D2CABE"/>
                </a:solidFill>
                <a:latin typeface="Malgun Gothic"/>
                <a:ea typeface="Malgun Gothic"/>
                <a:cs typeface="Malgun Gothic"/>
              </a:rPr>
              <a:t>구성 — 색동 소매 저고리 + 홍색 끈 · 술 노리개 + 갈래 치마</a:t>
            </a:r>
          </a:p>
          <a:p>
            <a: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</a:pPr>
            <a:r>
              <a:rPr sz="1100" b="0">
                <a:solidFill>
                  <a:srgbClr val="D2CABE"/>
                </a:solidFill>
                <a:latin typeface="Malgun Gothic"/>
                <a:ea typeface="Malgun Gothic"/>
                <a:cs typeface="Malgun Gothic"/>
              </a:rPr>
              <a:t>제작 — 동일 패턴 3벌 + 스턴트용 바지 변형 1벌</a:t>
            </a:r>
          </a:p>
        </p:txBody>
      </p:sp>
      <p:pic>
        <p:nvPicPr>
          <p:cNvPr id="7" name="Picture 6" descr="cost_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3674" y="1756296"/>
            <a:ext cx="1444752" cy="380068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3232" y="5669280"/>
            <a:ext cx="248563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4EFE6"/>
                </a:solidFill>
                <a:latin typeface="Malgun Gothic"/>
                <a:ea typeface="Malgun Gothic"/>
                <a:cs typeface="Malgun Gothic"/>
              </a:rPr>
              <a:t>A · 저고리 &amp; 치마</a:t>
            </a:r>
          </a:p>
          <a:p>
            <a:pPr algn="l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</a:pPr>
            <a:r>
              <a:rPr sz="1050" b="0">
                <a:solidFill>
                  <a:srgbClr val="D2CABE"/>
                </a:solidFill>
                <a:latin typeface="Malgun Gothic"/>
                <a:ea typeface="Malgun Gothic"/>
                <a:cs typeface="Malgun Gothic"/>
              </a:rPr>
              <a:t>저채도 흙빛으로 세트에 묻힌다.</a:t>
            </a:r>
          </a:p>
        </p:txBody>
      </p:sp>
      <p:pic>
        <p:nvPicPr>
          <p:cNvPr id="9" name="Picture 8" descr="cost_b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3630" y="1756296"/>
            <a:ext cx="1444752" cy="380068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473188" y="5669280"/>
            <a:ext cx="248563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4EFE6"/>
                </a:solidFill>
                <a:latin typeface="Malgun Gothic"/>
                <a:ea typeface="Malgun Gothic"/>
                <a:cs typeface="Malgun Gothic"/>
              </a:rPr>
              <a:t>B · 저고리 &amp; 치마</a:t>
            </a:r>
          </a:p>
          <a:p>
            <a:pPr algn="l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</a:pPr>
            <a:r>
              <a:rPr sz="1050" b="0">
                <a:solidFill>
                  <a:srgbClr val="D2CABE"/>
                </a:solidFill>
                <a:latin typeface="Malgun Gothic"/>
                <a:ea typeface="Malgun Gothic"/>
                <a:cs typeface="Malgun Gothic"/>
              </a:rPr>
              <a:t>색동 채도를 유지한 기준안이다.</a:t>
            </a:r>
          </a:p>
        </p:txBody>
      </p:sp>
      <p:pic>
        <p:nvPicPr>
          <p:cNvPr id="11" name="Picture 10" descr="cost_c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3586" y="1756296"/>
            <a:ext cx="1444752" cy="380068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33144" y="5669280"/>
            <a:ext cx="248563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4EFE6"/>
                </a:solidFill>
                <a:latin typeface="Malgun Gothic"/>
                <a:ea typeface="Malgun Gothic"/>
                <a:cs typeface="Malgun Gothic"/>
              </a:rPr>
              <a:t>C · 저고리 &amp; 치마</a:t>
            </a:r>
          </a:p>
          <a:p>
            <a:pPr algn="l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</a:pPr>
            <a:r>
              <a:rPr sz="1050" b="0">
                <a:solidFill>
                  <a:srgbClr val="D2CABE"/>
                </a:solidFill>
                <a:latin typeface="Malgun Gothic"/>
                <a:ea typeface="Malgun Gothic"/>
                <a:cs typeface="Malgun Gothic"/>
              </a:rPr>
              <a:t>올이 삭아 풀린 상태다.</a:t>
            </a:r>
          </a:p>
        </p:txBody>
      </p:sp>
      <p:pic>
        <p:nvPicPr>
          <p:cNvPr id="13" name="Picture 12" descr="cost_d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13543" y="1756296"/>
            <a:ext cx="1444752" cy="380068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993101" y="5669280"/>
            <a:ext cx="248563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4EFE6"/>
                </a:solidFill>
                <a:latin typeface="Malgun Gothic"/>
                <a:ea typeface="Malgun Gothic"/>
                <a:cs typeface="Malgun Gothic"/>
              </a:rPr>
              <a:t>D · 저고리 &amp; 바지</a:t>
            </a:r>
          </a:p>
          <a:p>
            <a:pPr algn="l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</a:pPr>
            <a:r>
              <a:rPr sz="1050" b="0">
                <a:solidFill>
                  <a:srgbClr val="D2CABE"/>
                </a:solidFill>
                <a:latin typeface="Malgun Gothic"/>
                <a:ea typeface="Malgun Gothic"/>
                <a:cs typeface="Malgun Gothic"/>
              </a:rPr>
              <a:t>액션과 와이어 촬영용 변형이다.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6382512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spc="120">
                <a:solidFill>
                  <a:srgbClr val="7E766C"/>
                </a:solidFill>
                <a:latin typeface="Malgun Gothic"/>
                <a:ea typeface="Malgun Gothic"/>
                <a:cs typeface="Malgun Gothic"/>
              </a:rPr>
              <a:t>赫血 KAKKETSU   ·   「그것」 封神 컨셉 레퍼런스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15697" y="6382512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spc="100">
                <a:solidFill>
                  <a:srgbClr val="7E766C"/>
                </a:solidFill>
                <a:latin typeface="Cambria"/>
                <a:ea typeface="Malgun Gothic"/>
                <a:cs typeface="Malgun Gothic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80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all_open.jpg"/>
          <p:cNvPicPr>
            <a:picLocks noChangeAspect="1"/>
          </p:cNvPicPr>
          <p:nvPr/>
        </p:nvPicPr>
        <p:blipFill>
          <a:blip r:embed="rId2"/>
          <a:srcRect t="26" b="26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3" name="Picture 2" descr="vignet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4" name="Picture 3" descr="scrim_t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969" cy="2331720"/>
          </a:xfrm>
          <a:prstGeom prst="rect">
            <a:avLst/>
          </a:prstGeom>
        </p:spPr>
      </p:pic>
      <p:pic>
        <p:nvPicPr>
          <p:cNvPr id="5" name="Picture 4" descr="scrim_botto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057400"/>
            <a:ext cx="12191969" cy="4800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3232" y="475488"/>
            <a:ext cx="1076550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140">
                <a:solidFill>
                  <a:srgbClr val="C92E22"/>
                </a:solidFill>
                <a:latin typeface="Cambria"/>
                <a:ea typeface="Malgun Gothic"/>
                <a:cs typeface="Malgun Gothic"/>
              </a:rPr>
              <a:t>11</a:t>
            </a:r>
            <a:r>
              <a:rPr sz="1000" b="1" spc="180">
                <a:solidFill>
                  <a:srgbClr val="A2998E"/>
                </a:solidFill>
                <a:latin typeface="Cambria"/>
                <a:ea typeface="Malgun Gothic"/>
                <a:cs typeface="Malgun Gothic"/>
              </a:rPr>
              <a:t>   SET PIECE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822960"/>
            <a:ext cx="1076550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spc="-60">
                <a:solidFill>
                  <a:srgbClr val="F4EFE6"/>
                </a:solidFill>
                <a:latin typeface="Malgun Gothic"/>
                <a:ea typeface="Malgun Gothic"/>
                <a:cs typeface="Malgun Gothic"/>
              </a:rPr>
              <a:t>굿판 — 강림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810512"/>
            <a:ext cx="5852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80">
                <a:solidFill>
                  <a:srgbClr val="C92E22"/>
                </a:solidFill>
                <a:latin typeface="Malgun Gothic"/>
                <a:ea typeface="Malgun Gothic"/>
                <a:cs typeface="Malgun Gothic"/>
              </a:rPr>
              <a:t>1587  ·  조선 평양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121408"/>
            <a:ext cx="5852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F4EFE6"/>
                </a:solidFill>
                <a:latin typeface="Malgun Gothic"/>
                <a:ea typeface="Malgun Gothic"/>
                <a:cs typeface="Malgun Gothic"/>
              </a:rPr>
              <a:t>무당이 자신의 피로 부적을 만들고, 망나니가 노모의 무덤을 판다.
부적이 이마에 닿는 순간, 시신은 인간의 형상을 잃는다.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5377" y="2121408"/>
            <a:ext cx="4023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D2CABE"/>
                </a:solidFill>
                <a:latin typeface="Malgun Gothic"/>
                <a:ea typeface="Malgun Gothic"/>
                <a:cs typeface="Malgun Gothic"/>
              </a:rPr>
              <a:t>“괴물이 아니다. 핏줄을 지키기 위해
모든 원혼을 스스로 떠안은 봉인이다.”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3529584"/>
            <a:ext cx="12191969" cy="3328416"/>
          </a:xfrm>
          <a:prstGeom prst="rect">
            <a:avLst/>
          </a:prstGeom>
          <a:solidFill>
            <a:srgbClr val="05040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hall_descend_a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232" y="3738232"/>
            <a:ext cx="2540500" cy="142979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13232" y="5285232"/>
            <a:ext cx="25405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C92E22"/>
                </a:solidFill>
                <a:latin typeface="Cambria"/>
                <a:ea typeface="Malgun Gothic"/>
                <a:cs typeface="Malgun Gothic"/>
              </a:rPr>
              <a:t>01</a:t>
            </a:r>
            <a:r>
              <a:rPr sz="1250" b="1">
                <a:solidFill>
                  <a:srgbClr val="F4EFE6"/>
                </a:solidFill>
                <a:latin typeface="Malgun Gothic"/>
                <a:ea typeface="Malgun Gothic"/>
                <a:cs typeface="Malgun Gothic"/>
              </a:rPr>
              <a:t>   하강</a:t>
            </a:r>
          </a:p>
          <a:p>
            <a:pPr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</a:pPr>
            <a:r>
              <a:rPr sz="1000" b="0">
                <a:solidFill>
                  <a:srgbClr val="D2CABE"/>
                </a:solidFill>
                <a:latin typeface="Malgun Gothic"/>
                <a:ea typeface="Malgun Gothic"/>
                <a:cs typeface="Malgun Gothic"/>
              </a:rPr>
              <a:t>천장에서 한 줄기로 쏟아진다.</a:t>
            </a:r>
          </a:p>
        </p:txBody>
      </p:sp>
      <p:pic>
        <p:nvPicPr>
          <p:cNvPr id="14" name="Picture 13" descr="hall_descend_b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54900" y="3738232"/>
            <a:ext cx="2540500" cy="142979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454900" y="5285232"/>
            <a:ext cx="25405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C92E22"/>
                </a:solidFill>
                <a:latin typeface="Cambria"/>
                <a:ea typeface="Malgun Gothic"/>
                <a:cs typeface="Malgun Gothic"/>
              </a:rPr>
              <a:t>02</a:t>
            </a:r>
            <a:r>
              <a:rPr sz="1250" b="1">
                <a:solidFill>
                  <a:srgbClr val="F4EFE6"/>
                </a:solidFill>
                <a:latin typeface="Malgun Gothic"/>
                <a:ea typeface="Malgun Gothic"/>
                <a:cs typeface="Malgun Gothic"/>
              </a:rPr>
              <a:t>   전개</a:t>
            </a:r>
          </a:p>
          <a:p>
            <a:pPr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</a:pPr>
            <a:r>
              <a:rPr sz="1000" b="0">
                <a:solidFill>
                  <a:srgbClr val="D2CABE"/>
                </a:solidFill>
                <a:latin typeface="Malgun Gothic"/>
                <a:ea typeface="Malgun Gothic"/>
                <a:cs typeface="Malgun Gothic"/>
              </a:rPr>
              <a:t>부챗살처럼 벌어진다.</a:t>
            </a:r>
          </a:p>
        </p:txBody>
      </p:sp>
      <p:pic>
        <p:nvPicPr>
          <p:cNvPr id="16" name="Picture 15" descr="hall_sweep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6568" y="3738232"/>
            <a:ext cx="2540500" cy="142979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196568" y="5285232"/>
            <a:ext cx="25405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C92E22"/>
                </a:solidFill>
                <a:latin typeface="Cambria"/>
                <a:ea typeface="Malgun Gothic"/>
                <a:cs typeface="Malgun Gothic"/>
              </a:rPr>
              <a:t>03</a:t>
            </a:r>
            <a:r>
              <a:rPr sz="1250" b="1">
                <a:solidFill>
                  <a:srgbClr val="F4EFE6"/>
                </a:solidFill>
                <a:latin typeface="Malgun Gothic"/>
                <a:ea typeface="Malgun Gothic"/>
                <a:cs typeface="Malgun Gothic"/>
              </a:rPr>
              <a:t>   확산</a:t>
            </a:r>
          </a:p>
          <a:p>
            <a:pPr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</a:pPr>
            <a:r>
              <a:rPr sz="1000" b="0">
                <a:solidFill>
                  <a:srgbClr val="D2CABE"/>
                </a:solidFill>
                <a:latin typeface="Malgun Gothic"/>
                <a:ea typeface="Malgun Gothic"/>
                <a:cs typeface="Malgun Gothic"/>
              </a:rPr>
              <a:t>얼굴들이 한꺼번에 드러난다.</a:t>
            </a:r>
          </a:p>
        </p:txBody>
      </p:sp>
      <p:pic>
        <p:nvPicPr>
          <p:cNvPr id="18" name="Picture 17" descr="hall_tilt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38237" y="3738232"/>
            <a:ext cx="2540500" cy="142979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938237" y="5285232"/>
            <a:ext cx="25405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C92E22"/>
                </a:solidFill>
                <a:latin typeface="Cambria"/>
                <a:ea typeface="Malgun Gothic"/>
                <a:cs typeface="Malgun Gothic"/>
              </a:rPr>
              <a:t>04</a:t>
            </a:r>
            <a:r>
              <a:rPr sz="1250" b="1">
                <a:solidFill>
                  <a:srgbClr val="F4EFE6"/>
                </a:solidFill>
                <a:latin typeface="Malgun Gothic"/>
                <a:ea typeface="Malgun Gothic"/>
                <a:cs typeface="Malgun Gothic"/>
              </a:rPr>
              <a:t>   소산</a:t>
            </a:r>
          </a:p>
          <a:p>
            <a:pPr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</a:pPr>
            <a:r>
              <a:rPr sz="1000" b="0">
                <a:solidFill>
                  <a:srgbClr val="D2CABE"/>
                </a:solidFill>
                <a:latin typeface="Malgun Gothic"/>
                <a:ea typeface="Malgun Gothic"/>
                <a:cs typeface="Malgun Gothic"/>
              </a:rPr>
              <a:t>질량을 잃고 흩어진다.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5961888"/>
            <a:ext cx="10424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D2CABE"/>
                </a:solidFill>
                <a:latin typeface="Malgun Gothic"/>
                <a:ea typeface="Malgun Gothic"/>
                <a:cs typeface="Malgun Gothic"/>
              </a:rPr>
              <a:t>VFX 범위 — 같은 세트, 같은 렌즈에서 원혼의 양만 단계적으로 늘린다. 실물 의상과 배우 연기를 바탕으로 덩어리만 CG로 처리한다.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6382512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spc="120">
                <a:solidFill>
                  <a:srgbClr val="7E766C"/>
                </a:solidFill>
                <a:latin typeface="Malgun Gothic"/>
                <a:ea typeface="Malgun Gothic"/>
                <a:cs typeface="Malgun Gothic"/>
              </a:rPr>
              <a:t>赫血 KAKKETSU   ·   「그것」 封神 컨셉 레퍼런스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15697" y="6382512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spc="100">
                <a:solidFill>
                  <a:srgbClr val="7E766C"/>
                </a:solidFill>
                <a:latin typeface="Cambria"/>
                <a:ea typeface="Malgun Gothic"/>
                <a:cs typeface="Malgun Gothic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80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eyar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32" y="0"/>
            <a:ext cx="5755910" cy="6858000"/>
          </a:xfrm>
          <a:prstGeom prst="rect">
            <a:avLst/>
          </a:prstGeom>
        </p:spPr>
      </p:pic>
      <p:pic>
        <p:nvPicPr>
          <p:cNvPr id="3" name="Picture 2" descr="scrim_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590" y="0"/>
            <a:ext cx="8534378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75120" y="877824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140">
                <a:solidFill>
                  <a:srgbClr val="C92E22"/>
                </a:solidFill>
                <a:latin typeface="Cambria"/>
                <a:ea typeface="Malgun Gothic"/>
                <a:cs typeface="Malgun Gothic"/>
              </a:rPr>
              <a:t>12</a:t>
            </a:r>
            <a:r>
              <a:rPr sz="1000" b="1" spc="180">
                <a:solidFill>
                  <a:srgbClr val="A2998E"/>
                </a:solidFill>
                <a:latin typeface="Cambria"/>
                <a:ea typeface="Malgun Gothic"/>
                <a:cs typeface="Malgun Gothic"/>
              </a:rPr>
              <a:t>   KEY ART  ·  VISUAL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0" y="1298448"/>
            <a:ext cx="475488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spc="200">
                <a:solidFill>
                  <a:srgbClr val="F4EFE6"/>
                </a:solidFill>
                <a:latin typeface="Malgun Gothic"/>
                <a:ea typeface="Malgun Gothic"/>
                <a:cs typeface="Malgun Gothic"/>
              </a:rPr>
              <a:t>罪 · 血 · 記憶</a:t>
            </a:r>
          </a:p>
          <a:p>
            <a:pPr algn="l">
              <a:lnSpc>
                <a:spcPct val="155000"/>
              </a:lnSpc>
              <a:spcBef>
                <a:spcPts val="2000"/>
              </a:spcBef>
              <a:spcAft>
                <a:spcPts val="0"/>
              </a:spcAft>
            </a:pPr>
            <a:r>
              <a:rPr sz="1200" b="0">
                <a:solidFill>
                  <a:srgbClr val="D2CABE"/>
                </a:solidFill>
                <a:latin typeface="Malgun Gothic"/>
                <a:ea typeface="Malgun Gothic"/>
                <a:cs typeface="Malgun Gothic"/>
              </a:rPr>
              <a:t>티저에서는 「그것」을 정면으로 보여주지 않는다.
짚신, 색동 자락, 부적, 벽에 새겨진 세 글자만 노출해
관객이 형상을 스스로 맞추게 한다.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6675120" y="3236976"/>
            <a:ext cx="4754880" cy="7620"/>
          </a:xfrm>
          <a:prstGeom prst="rect">
            <a:avLst/>
          </a:prstGeom>
          <a:solidFill>
            <a:srgbClr val="F4EFE6">
              <a:alpha val="2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3438144"/>
            <a:ext cx="4754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spc="160">
                <a:solidFill>
                  <a:srgbClr val="C92E22"/>
                </a:solidFill>
                <a:latin typeface="Malgun Gothic"/>
                <a:ea typeface="Malgun Gothic"/>
                <a:cs typeface="Malgun Gothic"/>
              </a:rPr>
              <a:t>컬러 팔레트</a:t>
            </a:r>
          </a:p>
        </p:txBody>
      </p:sp>
      <p:sp>
        <p:nvSpPr>
          <p:cNvPr id="8" name="Rectangle 7"/>
          <p:cNvSpPr/>
          <p:nvPr/>
        </p:nvSpPr>
        <p:spPr>
          <a:xfrm>
            <a:off x="6675120" y="3730752"/>
            <a:ext cx="512064" cy="658368"/>
          </a:xfrm>
          <a:prstGeom prst="rect">
            <a:avLst/>
          </a:prstGeom>
          <a:solidFill>
            <a:srgbClr val="0F0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210044" y="3730752"/>
            <a:ext cx="512064" cy="658368"/>
          </a:xfrm>
          <a:prstGeom prst="rect">
            <a:avLst/>
          </a:prstGeom>
          <a:solidFill>
            <a:srgbClr val="3534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44967" y="3730752"/>
            <a:ext cx="512064" cy="658368"/>
          </a:xfrm>
          <a:prstGeom prst="rect">
            <a:avLst/>
          </a:prstGeom>
          <a:solidFill>
            <a:srgbClr val="4B48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79892" y="3730752"/>
            <a:ext cx="512064" cy="658368"/>
          </a:xfrm>
          <a:prstGeom prst="rect">
            <a:avLst/>
          </a:prstGeom>
          <a:solidFill>
            <a:srgbClr val="6F6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814816" y="3730752"/>
            <a:ext cx="512064" cy="658368"/>
          </a:xfrm>
          <a:prstGeom prst="rect">
            <a:avLst/>
          </a:prstGeom>
          <a:solidFill>
            <a:srgbClr val="C4B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349740" y="3730752"/>
            <a:ext cx="512064" cy="658368"/>
          </a:xfrm>
          <a:prstGeom prst="rect">
            <a:avLst/>
          </a:prstGeom>
          <a:solidFill>
            <a:srgbClr val="A96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884664" y="3730752"/>
            <a:ext cx="512064" cy="658368"/>
          </a:xfrm>
          <a:prstGeom prst="rect">
            <a:avLst/>
          </a:prstGeom>
          <a:solidFill>
            <a:srgbClr val="5F6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419588" y="3730752"/>
            <a:ext cx="512064" cy="658368"/>
          </a:xfrm>
          <a:prstGeom prst="rect">
            <a:avLst/>
          </a:prstGeom>
          <a:solidFill>
            <a:srgbClr val="8A4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4535424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D2CABE"/>
                </a:solidFill>
                <a:latin typeface="Malgun Gothic"/>
                <a:ea typeface="Malgun Gothic"/>
                <a:cs typeface="Malgun Gothic"/>
              </a:rPr>
              <a:t>무채색 화면에 두 가지 색만 쓴다. 색동의 청과 부적의 홍이다.
화면에서 색을 가진 것은 「그것」뿐이다.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5230368"/>
            <a:ext cx="4754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spc="160">
                <a:solidFill>
                  <a:srgbClr val="C92E22"/>
                </a:solidFill>
                <a:latin typeface="Malgun Gothic"/>
                <a:ea typeface="Malgun Gothic"/>
                <a:cs typeface="Malgun Gothic"/>
              </a:rPr>
              <a:t>컨셉 키워드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5522976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4EFE6"/>
                </a:solidFill>
                <a:latin typeface="Malgun Gothic"/>
                <a:ea typeface="Malgun Gothic"/>
                <a:cs typeface="Malgun Gothic"/>
              </a:rPr>
              <a:t>원한 · 저주 · 무거움 · 억압 · 끌려다님 · 구속 · 공포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6382512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spc="120">
                <a:solidFill>
                  <a:srgbClr val="7E766C"/>
                </a:solidFill>
                <a:latin typeface="Malgun Gothic"/>
                <a:ea typeface="Malgun Gothic"/>
                <a:cs typeface="Malgun Gothic"/>
              </a:rPr>
              <a:t>赫血 KAKKETSU   ·   「그것」 封神 컨셉 레퍼런스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15697" y="6382512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spc="100">
                <a:solidFill>
                  <a:srgbClr val="7E766C"/>
                </a:solidFill>
                <a:latin typeface="Cambria"/>
                <a:ea typeface="Malgun Gothic"/>
                <a:cs typeface="Malgun Gothic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8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75488"/>
            <a:ext cx="1076550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140">
                <a:solidFill>
                  <a:srgbClr val="C92E22"/>
                </a:solidFill>
                <a:latin typeface="Cambria"/>
                <a:ea typeface="Malgun Gothic"/>
                <a:cs typeface="Malgun Gothic"/>
              </a:rPr>
              <a:t>13</a:t>
            </a:r>
            <a:r>
              <a:rPr sz="1000" b="1" spc="180">
                <a:solidFill>
                  <a:srgbClr val="A2998E"/>
                </a:solidFill>
                <a:latin typeface="Cambria"/>
                <a:ea typeface="Malgun Gothic"/>
                <a:cs typeface="Malgun Gothic"/>
              </a:rPr>
              <a:t>   IP EXTENSION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822960"/>
            <a:ext cx="1076550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spc="-60">
                <a:solidFill>
                  <a:srgbClr val="F4EFE6"/>
                </a:solidFill>
                <a:latin typeface="Malgun Gothic"/>
                <a:ea typeface="Malgun Gothic"/>
                <a:cs typeface="Malgun Gothic"/>
              </a:rPr>
              <a:t>머천다이징 — 실루엣만으로 식별되는 캐릭터</a:t>
            </a:r>
          </a:p>
        </p:txBody>
      </p:sp>
      <p:pic>
        <p:nvPicPr>
          <p:cNvPr id="4" name="Picture 3" descr="goods_keyring_hanj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63040"/>
            <a:ext cx="3657600" cy="3657600"/>
          </a:xfrm>
          <a:prstGeom prst="rect">
            <a:avLst/>
          </a:prstGeom>
        </p:spPr>
      </p:pic>
      <p:pic>
        <p:nvPicPr>
          <p:cNvPr id="5" name="Picture 4" descr="goods_keyring_hangu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0288" y="1463040"/>
            <a:ext cx="3657600" cy="3657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3232" y="5358384"/>
            <a:ext cx="753465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D2CABE"/>
                </a:solidFill>
                <a:latin typeface="Malgun Gothic"/>
                <a:ea typeface="Malgun Gothic"/>
                <a:cs typeface="Malgun Gothic"/>
              </a:rPr>
              <a:t>封神(한자)과 봉신(국문) 패키지를 함께 준비해 한국 · 일본 동시 유통에 대응한다.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05672" y="1499616"/>
            <a:ext cx="26700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spc="160">
                <a:solidFill>
                  <a:srgbClr val="C92E22"/>
                </a:solidFill>
                <a:latin typeface="Malgun Gothic"/>
                <a:ea typeface="Malgun Gothic"/>
                <a:cs typeface="Malgun Gothic"/>
              </a:rPr>
              <a:t>확장 근거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5672" y="1810512"/>
            <a:ext cx="2670048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D2CABE"/>
                </a:solidFill>
                <a:latin typeface="Malgun Gothic"/>
                <a:ea typeface="Malgun Gothic"/>
                <a:cs typeface="Malgun Gothic"/>
              </a:rPr>
              <a:t>·  부적 · 색동 · 원혼 덩어리 세 요소가 축소 모형에서도 유지된다</a:t>
            </a:r>
          </a:p>
          <a:p>
            <a:pPr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</a:pPr>
            <a:r>
              <a:rPr sz="1100" b="0">
                <a:solidFill>
                  <a:srgbClr val="D2CABE"/>
                </a:solidFill>
                <a:latin typeface="Malgun Gothic"/>
                <a:ea typeface="Malgun Gothic"/>
                <a:cs typeface="Malgun Gothic"/>
              </a:rPr>
              <a:t>·  얼굴이 없어 배우 초상권과 무관하게 상품화할 수 있다</a:t>
            </a:r>
          </a:p>
          <a:p>
            <a:pPr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</a:pPr>
            <a:r>
              <a:rPr sz="1100" b="0">
                <a:solidFill>
                  <a:srgbClr val="D2CABE"/>
                </a:solidFill>
                <a:latin typeface="Malgun Gothic"/>
                <a:ea typeface="Malgun Gothic"/>
                <a:cs typeface="Malgun Gothic"/>
              </a:rPr>
              <a:t>·  키링, 피규어, 아크릴 순으로 전개한다</a:t>
            </a:r>
          </a:p>
          <a:p>
            <a:pPr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</a:pPr>
            <a:r>
              <a:rPr sz="1100" b="0">
                <a:solidFill>
                  <a:srgbClr val="D2CABE"/>
                </a:solidFill>
                <a:latin typeface="Malgun Gothic"/>
                <a:ea typeface="Malgun Gothic"/>
                <a:cs typeface="Malgun Gothic"/>
              </a:rPr>
              <a:t>·  티저 공개 시점부터 선판매가 가능하다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6382512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spc="120">
                <a:solidFill>
                  <a:srgbClr val="7E766C"/>
                </a:solidFill>
                <a:latin typeface="Malgun Gothic"/>
                <a:ea typeface="Malgun Gothic"/>
                <a:cs typeface="Malgun Gothic"/>
              </a:rPr>
              <a:t>赫血 KAKKETSU   ·   「그것」 封神 컨셉 레퍼런스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15697" y="6382512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spc="100">
                <a:solidFill>
                  <a:srgbClr val="7E766C"/>
                </a:solidFill>
                <a:latin typeface="Cambria"/>
                <a:ea typeface="Malgun Gothic"/>
                <a:cs typeface="Malgun Gothic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80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early_white.jpg"/>
          <p:cNvPicPr>
            <a:picLocks noChangeAspect="1"/>
          </p:cNvPicPr>
          <p:nvPr/>
        </p:nvPicPr>
        <p:blipFill>
          <a:blip r:embed="rId2"/>
          <a:srcRect l="7293" r="7293"/>
          <a:stretch>
            <a:fillRect/>
          </a:stretch>
        </p:blipFill>
        <p:spPr>
          <a:xfrm>
            <a:off x="6095984" y="0"/>
            <a:ext cx="6095984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583663" cy="6858000"/>
          </a:xfrm>
          <a:prstGeom prst="rect">
            <a:avLst/>
          </a:prstGeom>
          <a:solidFill>
            <a:srgbClr val="0A08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crim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8305" y="0"/>
            <a:ext cx="365759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3232" y="2103120"/>
            <a:ext cx="539496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spc="-50">
                <a:solidFill>
                  <a:srgbClr val="F4EFE6"/>
                </a:solidFill>
                <a:latin typeface="Malgun Gothic"/>
                <a:ea typeface="Malgun Gothic"/>
                <a:cs typeface="Malgun Gothic"/>
              </a:rPr>
              <a:t>“저주는 사라진 것이 아니다.
다만, 형태를 바꿨을 뿐이다.”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3877056"/>
            <a:ext cx="1920240" cy="7620"/>
          </a:xfrm>
          <a:prstGeom prst="rect">
            <a:avLst/>
          </a:prstGeom>
          <a:solidFill>
            <a:srgbClr val="F4EFE6">
              <a:alpha val="4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4169663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spc="140">
                <a:solidFill>
                  <a:srgbClr val="F4EFE6"/>
                </a:solidFill>
                <a:latin typeface="Malgun Gothic"/>
                <a:ea typeface="Malgun Gothic"/>
                <a:cs typeface="Malgun Gothic"/>
              </a:rPr>
              <a:t>赫血  KAKKETSU  ·  각혈</a:t>
            </a:r>
          </a:p>
          <a:p>
            <a:pPr algn="l">
              <a:lnSpc>
                <a:spcPct val="135000"/>
              </a:lnSpc>
              <a:spcBef>
                <a:spcPts val="900"/>
              </a:spcBef>
              <a:spcAft>
                <a:spcPts val="0"/>
              </a:spcAft>
            </a:pPr>
            <a:r>
              <a:rPr sz="1300" b="0">
                <a:solidFill>
                  <a:srgbClr val="D2CABE"/>
                </a:solidFill>
                <a:latin typeface="Malgun Gothic"/>
                <a:ea typeface="Malgun Gothic"/>
                <a:cs typeface="Malgun Gothic"/>
              </a:rPr>
              <a:t>「그것」 封神 · 봉신   —   컨셉 레퍼런스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5358384"/>
            <a:ext cx="5394960" cy="7620"/>
          </a:xfrm>
          <a:prstGeom prst="rect">
            <a:avLst/>
          </a:prstGeom>
          <a:solidFill>
            <a:srgbClr val="F4EFE6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5559552"/>
            <a:ext cx="5669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4EFE6"/>
                </a:solidFill>
                <a:latin typeface="Malgun Gothic"/>
                <a:ea typeface="Malgun Gothic"/>
                <a:cs typeface="Malgun Gothic"/>
              </a:rPr>
              <a:t>각본 · 감독   한동하</a:t>
            </a:r>
          </a:p>
          <a:p>
            <a:pPr algn="l">
              <a:lnSpc>
                <a:spcPct val="135000"/>
              </a:lnSpc>
              <a:spcBef>
                <a:spcPts val="600"/>
              </a:spcBef>
              <a:spcAft>
                <a:spcPts val="0"/>
              </a:spcAft>
            </a:pPr>
            <a:r>
              <a:rPr sz="1100" b="0">
                <a:solidFill>
                  <a:srgbClr val="A2998E"/>
                </a:solidFill>
                <a:latin typeface="Malgun Gothic"/>
                <a:ea typeface="Malgun Gothic"/>
                <a:cs typeface="Malgun Gothic"/>
              </a:rPr>
              <a:t>제작   WALLAH PROJECT  ×  SUPERNOVA STUDIOS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6382512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spc="120">
                <a:solidFill>
                  <a:srgbClr val="7E766C"/>
                </a:solidFill>
                <a:latin typeface="Malgun Gothic"/>
                <a:ea typeface="Malgun Gothic"/>
                <a:cs typeface="Malgun Gothic"/>
              </a:rPr>
              <a:t>赫血 KAKKETSU   ·   「그것」 封神 컨셉 레퍼런스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15697" y="6382512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spc="100">
                <a:solidFill>
                  <a:srgbClr val="7E766C"/>
                </a:solidFill>
                <a:latin typeface="Cambria"/>
                <a:ea typeface="Malgun Gothic"/>
                <a:cs typeface="Malgun Gothic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