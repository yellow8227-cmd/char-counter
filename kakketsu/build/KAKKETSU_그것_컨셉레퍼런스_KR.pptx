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1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3.png"/><Relationship Id="rId4" Type="http://schemas.openxmlformats.org/officeDocument/2006/relationships/image" Target="../media/image1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image" Target="../media/image4.pn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hospital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022057" cy="685800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880360"/>
            <a:ext cx="12191969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303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220">
                <a:solidFill>
                  <a:srgbClr val="D2CABE"/>
                </a:solidFill>
                <a:latin typeface="Cambria"/>
                <a:ea typeface="Malgun Gothic"/>
                <a:cs typeface="Malgun Gothic"/>
              </a:rPr>
              <a:t>WALLAH PROJECT   ×   SUPERNOVA STUDIOS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5544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36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CREATURE DESIGN BIBLE</a:t>
            </a:r>
          </a:p>
        </p:txBody>
      </p:sp>
      <p:pic>
        <p:nvPicPr>
          <p:cNvPr id="8" name="Picture 7" descr="title_lock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1901952"/>
            <a:ext cx="5120640" cy="18790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858768"/>
            <a:ext cx="8046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20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각혈  ·  KAKKETSU</a:t>
            </a:r>
          </a:p>
          <a:p>
            <a:pPr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1" spc="-8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「그것」 封神 · 봉신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49824"/>
            <a:ext cx="2194560" cy="7620"/>
          </a:xfrm>
          <a:prstGeom prst="rect">
            <a:avLst/>
          </a:prstGeom>
          <a:solidFill>
            <a:srgbClr val="F4EFE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5632704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장편 오컬트 호러 · 세대극   |   한국 – 일본   |   각본 · 감독  한동하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2026 투자 검토용   · 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g_white.jpg"/>
          <p:cNvPicPr>
            <a:picLocks noChangeAspect="1"/>
          </p:cNvPicPr>
          <p:nvPr/>
        </p:nvPicPr>
        <p:blipFill>
          <a:blip r:embed="rId2"/>
          <a:srcRect t="10500" b="3325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light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11338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32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LOGLINE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64208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spc="-40">
                <a:solidFill>
                  <a:srgbClr val="141111"/>
                </a:solidFill>
                <a:latin typeface="Malgun Gothic"/>
                <a:ea typeface="Malgun Gothic"/>
                <a:cs typeface="Malgun Gothic"/>
              </a:rPr>
              <a:t>대대로 이어진 가문의 저주를 끊기 위해
싸워온 한 남자는, 그 저주라 믿었던 존재가
사실은 가족을 지켜온 수호였음을 깨닫고
핏줄과 죄의 진짜 의미와 마주한다.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992624"/>
            <a:ext cx="1645920" cy="7620"/>
          </a:xfrm>
          <a:prstGeom prst="rect">
            <a:avLst/>
          </a:prstGeom>
          <a:solidFill>
            <a:srgbClr val="453E3A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212080"/>
            <a:ext cx="5760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53E3A"/>
                </a:solidFill>
                <a:latin typeface="Malgun Gothic"/>
                <a:ea typeface="Malgun Gothic"/>
                <a:cs typeface="Malgun Gothic"/>
              </a:rPr>
              <a:t>1582 조선  →  현재 일본   ·   4대에 걸친 핏줄, 하나의 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453E3A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453E3A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neel_closeup.jpg"/>
          <p:cNvPicPr>
            <a:picLocks noChangeAspect="1"/>
          </p:cNvPicPr>
          <p:nvPr/>
        </p:nvPicPr>
        <p:blipFill>
          <a:blip r:embed="rId2"/>
          <a:srcRect t="8591" b="11864"/>
          <a:stretch>
            <a:fillRect/>
          </a:stretch>
        </p:blipFill>
        <p:spPr>
          <a:xfrm>
            <a:off x="5730225" y="0"/>
            <a:ext cx="646174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21790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86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THE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저주가 아니라
수호였다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139696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「그것」은 개인도 유령도 아니다. 가문이 축적한 죄와
원념이 형태를 얻은, 저주의 얼굴을 한 봉인이다.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944368"/>
            <a:ext cx="5212080" cy="7620"/>
          </a:xfrm>
          <a:prstGeom prst="rect">
            <a:avLst/>
          </a:prstGeom>
          <a:solidFill>
            <a:srgbClr val="F4EFE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23697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320040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추적</a:t>
            </a:r>
            <a:r>
              <a:rPr sz="900" b="1" spc="160">
                <a:solidFill>
                  <a:srgbClr val="AE5C4F"/>
                </a:solidFill>
                <a:latin typeface="Cambria"/>
                <a:ea typeface="Malgun Gothic"/>
                <a:cs typeface="Malgun Gothic"/>
              </a:rPr>
              <a:t>   STALK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1582년 처형장에서 발생. 이름도 얼굴도 아닌, 핏줄만을 기준으로 이동한다.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078224"/>
            <a:ext cx="5212080" cy="7620"/>
          </a:xfrm>
          <a:prstGeom prst="rect">
            <a:avLst/>
          </a:prstGeom>
          <a:solidFill>
            <a:srgbClr val="F4EF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24281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20624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소멸</a:t>
            </a:r>
            <a:r>
              <a:rPr sz="900" b="1" spc="160">
                <a:solidFill>
                  <a:srgbClr val="AE5C4F"/>
                </a:solidFill>
                <a:latin typeface="Cambria"/>
                <a:ea typeface="Malgun Gothic"/>
                <a:cs typeface="Malgun Gothic"/>
              </a:rPr>
              <a:t>   ATTRITION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조부 동필, 부친 종문. 두 세대가 동일한 방식으로 제거된다.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5084064"/>
            <a:ext cx="5212080" cy="7620"/>
          </a:xfrm>
          <a:prstGeom prst="rect">
            <a:avLst/>
          </a:prstGeom>
          <a:solidFill>
            <a:srgbClr val="F4EF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24865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521208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부재</a:t>
            </a:r>
            <a:r>
              <a:rPr sz="900" b="1" spc="160">
                <a:solidFill>
                  <a:srgbClr val="AE5C4F"/>
                </a:solidFill>
                <a:latin typeface="Cambria"/>
                <a:ea typeface="Malgun Gothic"/>
                <a:cs typeface="Malgun Gothic"/>
              </a:rPr>
              <a:t>   ABSENCE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아들이 죽자 걸음을 되찾고 퇴장한다. 지옥은 그 다음에 시작된다.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wood.jpg"/>
          <p:cNvPicPr>
            <a:picLocks noChangeAspect="1"/>
          </p:cNvPicPr>
          <p:nvPr/>
        </p:nvPicPr>
        <p:blipFill>
          <a:blip r:embed="rId2"/>
          <a:srcRect t="24743" b="30241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vign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BLOODLINE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핏줄의 계보 — 「그것」이 따라온 길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1582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조선 · 평양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처형장의 망나니.
피와 원망이 땅에 쌓인다.</a:t>
            </a:r>
          </a:p>
        </p:txBody>
      </p:sp>
      <p:sp>
        <p:nvSpPr>
          <p:cNvPr id="9" name="Oval 8"/>
          <p:cNvSpPr/>
          <p:nvPr/>
        </p:nvSpPr>
        <p:spPr>
          <a:xfrm>
            <a:off x="2507482" y="2103120"/>
            <a:ext cx="100584" cy="100584"/>
          </a:xfrm>
          <a:prstGeom prst="ellipse">
            <a:avLst/>
          </a:prstGeom>
          <a:solidFill>
            <a:srgbClr val="C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07482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1587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굿판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무당이 노모의 시신을
부적으로 봉인한다.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4301733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1733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1945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일제강점기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순사 백동필.
제복을 입고 동족을 벤다.</a:t>
            </a:r>
          </a:p>
        </p:txBody>
      </p:sp>
      <p:sp>
        <p:nvSpPr>
          <p:cNvPr id="13" name="Oval 12"/>
          <p:cNvSpPr/>
          <p:nvPr/>
        </p:nvSpPr>
        <p:spPr>
          <a:xfrm>
            <a:off x="6095984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984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1984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일본 오사카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사형집행관 백종문.
버튼으로 사람을 죽인다.</a:t>
            </a:r>
          </a:p>
        </p:txBody>
      </p:sp>
      <p:sp>
        <p:nvSpPr>
          <p:cNvPr id="15" name="Oval 14"/>
          <p:cNvSpPr/>
          <p:nvPr/>
        </p:nvSpPr>
        <p:spPr>
          <a:xfrm>
            <a:off x="7890235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0235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2011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일본 후쿠오카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산부인과 의사 슈.
생명을 지우며 산다.</a:t>
            </a:r>
          </a:p>
        </p:txBody>
      </p:sp>
      <p:sp>
        <p:nvSpPr>
          <p:cNvPr id="17" name="Oval 16"/>
          <p:cNvSpPr/>
          <p:nvPr/>
        </p:nvSpPr>
        <p:spPr>
          <a:xfrm>
            <a:off x="9684486" y="2103120"/>
            <a:ext cx="100584" cy="100584"/>
          </a:xfrm>
          <a:prstGeom prst="ellipse">
            <a:avLst/>
          </a:prstGeom>
          <a:solidFill>
            <a:srgbClr val="C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84486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현재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그리고 하루마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핏줄이 끊긴 자리에
저주가 되돌아온다.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" y="2150668"/>
            <a:ext cx="9021546" cy="7620"/>
          </a:xfrm>
          <a:prstGeom prst="rect">
            <a:avLst/>
          </a:prstGeom>
          <a:solidFill>
            <a:srgbClr val="F4EFE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517136"/>
            <a:ext cx="10765505" cy="14117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4754880"/>
            <a:ext cx="10290017" cy="936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이 계보가 만드는 것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네 세대 모두 사람을 죽이는 직업을 가졌다.  칼 → 제복 → 버튼 → 메스.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도구는 문명화되었지만 행위는 같다. 「그것」은 그 400년을 목격한 유일한 증인이다.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stand.jpg"/>
          <p:cNvPicPr>
            <a:picLocks noChangeAspect="1"/>
          </p:cNvPicPr>
          <p:nvPr/>
        </p:nvPicPr>
        <p:blipFill>
          <a:blip r:embed="rId2"/>
          <a:srcRect t="11525" b="11525"/>
          <a:stretch>
            <a:fillRect/>
          </a:stretch>
        </p:blipFill>
        <p:spPr>
          <a:xfrm>
            <a:off x="5059667" y="0"/>
            <a:ext cx="713230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608305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87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CHARACTER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封神  봉신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20240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신장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5376" y="1874520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150cm  ·  연출 스케일 180 / 190 / 260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31136"/>
            <a:ext cx="457200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32304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성별 · 연령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86584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여성 · 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2743200"/>
            <a:ext cx="457200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944368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정체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898648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망나니의 노모 — 굿판에서 봉인된 시신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255264"/>
            <a:ext cx="457200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71246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특징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005072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이마의 붉은 부적이 얼굴을 대체한다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극도로 마른 체형, 메마른 피부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빛바랜 색동저고리 누더기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한쪽 다리를 절며 무겁게 이동한다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등에 결박된 원혼 덩어리를 머리카락이 억누른다</a:t>
            </a:r>
          </a:p>
        </p:txBody>
      </p:sp>
      <p:sp>
        <p:nvSpPr>
          <p:cNvPr id="18" name="Oval 17"/>
          <p:cNvSpPr/>
          <p:nvPr/>
        </p:nvSpPr>
        <p:spPr>
          <a:xfrm>
            <a:off x="8503919" y="271576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3" y="2757830"/>
            <a:ext cx="493776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24144" y="2596896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이마의 부적 「封神」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얼굴이 있어야 할 자리</a:t>
            </a:r>
          </a:p>
        </p:txBody>
      </p:sp>
      <p:sp>
        <p:nvSpPr>
          <p:cNvPr id="21" name="Oval 20"/>
          <p:cNvSpPr/>
          <p:nvPr/>
        </p:nvSpPr>
        <p:spPr>
          <a:xfrm>
            <a:off x="8567928" y="4014216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55863" y="4056278"/>
            <a:ext cx="557784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24144" y="3895344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빛바랜 색동저고리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색이 거의 빠진 누더기</a:t>
            </a:r>
          </a:p>
        </p:txBody>
      </p:sp>
      <p:sp>
        <p:nvSpPr>
          <p:cNvPr id="24" name="Oval 23"/>
          <p:cNvSpPr/>
          <p:nvPr/>
        </p:nvSpPr>
        <p:spPr>
          <a:xfrm>
            <a:off x="9756648" y="161848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02368" y="1660550"/>
            <a:ext cx="256031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1499616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원혼 덩어리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등에 결박된 수백의 원혼</a:t>
            </a:r>
          </a:p>
        </p:txBody>
      </p:sp>
      <p:sp>
        <p:nvSpPr>
          <p:cNvPr id="27" name="Oval 26"/>
          <p:cNvSpPr/>
          <p:nvPr/>
        </p:nvSpPr>
        <p:spPr>
          <a:xfrm>
            <a:off x="8458200" y="591616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55863" y="5958230"/>
            <a:ext cx="448056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24144" y="5797296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뒤틀린 다리 · 짚신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질질 끌리는 한쪽 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arms.jpg"/>
          <p:cNvPicPr>
            <a:picLocks noChangeAspect="1"/>
          </p:cNvPicPr>
          <p:nvPr/>
        </p:nvPicPr>
        <p:blipFill>
          <a:blip r:embed="rId2"/>
          <a:srcRect t="8318" b="8318"/>
          <a:stretch>
            <a:fillRect/>
          </a:stretch>
        </p:blipFill>
        <p:spPr>
          <a:xfrm>
            <a:off x="5608305" y="0"/>
            <a:ext cx="658366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98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66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074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부적 「封神」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얼굴을 대체하는 봉인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11680"/>
            <a:ext cx="5074920" cy="16816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4"/>
            <a:ext cx="4599431" cy="12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부적은 좋은 기운을 부르는 오마모리가 아니다.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위험한 존재를 눌러 봉하는 물건 — 후다(札) · 인(印) · 결계(結界)에 가깝다.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912768"/>
            <a:ext cx="507492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4150512"/>
            <a:ext cx="4599431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얼굴이 없으므로 표정 연기가 성립하지 않는다.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의도를 판독할 수 없다는 사실이 서스펜스를 만든다.</a:t>
            </a:r>
          </a:p>
        </p:txBody>
      </p:sp>
      <p:pic>
        <p:nvPicPr>
          <p:cNvPr id="12" name="Picture 11" descr="tile_empty_fa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47" y="5482843"/>
            <a:ext cx="723265" cy="7680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82496" y="5537707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3막 리빌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머리카락을 걷어낸 자리 — 부적 뒤에는 아무것도 없다.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ekdong_back.jpg"/>
          <p:cNvPicPr>
            <a:picLocks noChangeAspect="1"/>
          </p:cNvPicPr>
          <p:nvPr/>
        </p:nvPicPr>
        <p:blipFill>
          <a:blip r:embed="rId2"/>
          <a:srcRect l="10714" r="13095"/>
          <a:stretch>
            <a:fillRect/>
          </a:stretch>
        </p:blipFill>
        <p:spPr>
          <a:xfrm>
            <a:off x="0" y="0"/>
            <a:ext cx="7315181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766543" y="0"/>
            <a:ext cx="5425426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430" y="0"/>
            <a:ext cx="3413751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02" y="475488"/>
            <a:ext cx="43464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05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02" y="822960"/>
            <a:ext cx="43464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색동저고리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02" y="1389888"/>
            <a:ext cx="43464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아이를 지키는 옷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02" y="2011680"/>
            <a:ext cx="434340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0046" y="2249424"/>
            <a:ext cx="3867912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색동저고리는 아이에게 입히는 옷이다.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액을 막고 무사히 자라기를 비는 보호복이다.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배색은 오방색 — 청·적·황·백·흑.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02" y="3976268"/>
            <a:ext cx="434340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46" y="4214012"/>
            <a:ext cx="3867912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위협적인 형상에 가장 다정한 옷을 입힌다.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탈색된 누더기는 지켜온 시간의 증거다.</a:t>
            </a:r>
          </a:p>
        </p:txBody>
      </p:sp>
      <p:pic>
        <p:nvPicPr>
          <p:cNvPr id="12" name="Picture 11" descr="tile_blood_jeogor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02" y="5558799"/>
            <a:ext cx="768096" cy="743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01566" y="5637783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1945 시퀀스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색동은 극 중 새것으로 등장하지 않는다.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0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ot_closeup.jpg"/>
          <p:cNvPicPr>
            <a:picLocks noChangeAspect="1"/>
          </p:cNvPicPr>
          <p:nvPr/>
        </p:nvPicPr>
        <p:blipFill>
          <a:blip r:embed="rId2"/>
          <a:srcRect t="3108" b="3108"/>
          <a:stretch>
            <a:fillRect/>
          </a:stretch>
        </p:blipFill>
        <p:spPr>
          <a:xfrm>
            <a:off x="6339824" y="0"/>
            <a:ext cx="585214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827502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45" y="0"/>
            <a:ext cx="292607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06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짚신과 뒤틀린 다리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업을 지고 걷는 몸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11680"/>
            <a:ext cx="539496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4"/>
            <a:ext cx="4919472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짚신은 일본의 와라지와 형상만 비슷하다.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업을 짊어진 채 계속 걸어가는 인간의 상징이다.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618331"/>
            <a:ext cx="539496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856075"/>
            <a:ext cx="4919472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 — 절룩임은 상해가 아니라 하중이다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수백의 원혼을 대신 짊어져 무거워진 결과다.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핏줄이 끊어지는 순간, 보행은 정상으로 돌아온다.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관객이 반전을 대사 없이 알아채는 지점.</a:t>
            </a:r>
          </a:p>
        </p:txBody>
      </p:sp>
      <p:pic>
        <p:nvPicPr>
          <p:cNvPr id="12" name="Picture 11" descr="tile_shoe_wal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46596"/>
            <a:ext cx="1243584" cy="7675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5601207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슥……  쿵……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화면에 나오기 전에 관객이 먼저 아는 등장 시그니처.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ss_closeup.jpg"/>
          <p:cNvPicPr>
            <a:picLocks noChangeAspect="1"/>
          </p:cNvPicPr>
          <p:nvPr/>
        </p:nvPicPr>
        <p:blipFill>
          <a:blip r:embed="rId2"/>
          <a:srcRect t="21809" b="30117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715" y="0"/>
            <a:ext cx="10241254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386" y="47548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07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THE BURDEN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386" y="82296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등에 결박된
수백의 원혼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386" y="24688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유체 거동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고정 실루엣 없이 액체처럼 흐른다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구성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얼굴 · 사지 · 손등이 얽혀 유기적으로 변형된다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결박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긴 머리카락이 덩어리 전체를 감아 억제한다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이동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덩어리도 바닥을 따라 흘러 함께 움직인다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386" y="4626864"/>
            <a:ext cx="5120640" cy="16816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24130" y="4864607"/>
            <a:ext cx="4645152" cy="12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· VFX 노트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계단 시퀀스에서 결박이 풀린다.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하중을 버린 「그것」의 이동 속도가 급격히 상승하는 구간.</a:t>
            </a:r>
          </a:p>
        </p:txBody>
      </p:sp>
      <p:pic>
        <p:nvPicPr>
          <p:cNvPr id="10" name="Picture 9" descr="sheet_mont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02" y="4626864"/>
            <a:ext cx="1381418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08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LOOK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룩 개발 — 4안</a:t>
            </a:r>
          </a:p>
        </p:txBody>
      </p:sp>
      <p:pic>
        <p:nvPicPr>
          <p:cNvPr id="4" name="Picture 3" descr="sheet_w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81328"/>
            <a:ext cx="2513068" cy="16753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3321298"/>
            <a:ext cx="25130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A · WET / BLACK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흑색 점액 톤.
원혼과 머리카락이 단일 질량으로 읽힌다.</a:t>
            </a:r>
          </a:p>
        </p:txBody>
      </p:sp>
      <p:pic>
        <p:nvPicPr>
          <p:cNvPr id="6" name="Picture 5" descr="sheet_wet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4044" y="1481328"/>
            <a:ext cx="2513068" cy="16753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64044" y="3321298"/>
            <a:ext cx="25130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WET / DETAIL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개체 식별성 강화.
클로즈업 · 리빌 시퀀스용.</a:t>
            </a:r>
          </a:p>
        </p:txBody>
      </p:sp>
      <p:pic>
        <p:nvPicPr>
          <p:cNvPr id="8" name="Picture 7" descr="sheet_col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4856" y="1481328"/>
            <a:ext cx="2513068" cy="16753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4856" y="3321298"/>
            <a:ext cx="25130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SAEKDONG</a:t>
            </a:r>
            <a:r>
              <a:rPr sz="1100" b="1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   ★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 채도 유지.
반전 단서의 가시성이 가장 높다.</a:t>
            </a:r>
          </a:p>
        </p:txBody>
      </p:sp>
      <p:pic>
        <p:nvPicPr>
          <p:cNvPr id="10" name="Picture 9" descr="sheet_mis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5669" y="1481328"/>
            <a:ext cx="2513068" cy="167537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65669" y="3321298"/>
            <a:ext cx="25130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MIST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저채도 실루엣.
티저 · 키비주얼용.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4370832"/>
            <a:ext cx="10765505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60857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운용 전략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956048"/>
            <a:ext cx="338123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본편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SAEKDONG</a:t>
            </a:r>
          </a:p>
          <a:p>
            <a:pPr algn="l">
              <a:lnSpc>
                <a:spcPct val="14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반전 단서의 가시성이 가장 높다. 기준안.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5365" y="4956048"/>
            <a:ext cx="338123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티저 · 키비주얼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MIST</a:t>
            </a:r>
          </a:p>
          <a:p>
            <a:pPr algn="l">
              <a:lnSpc>
                <a:spcPct val="14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형태를 지우고 실루엣만 남긴다.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7499" y="4956048"/>
            <a:ext cx="338123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클로즈업 · 리빌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WET / DETAIL</a:t>
            </a:r>
          </a:p>
          <a:p>
            <a:pPr algn="l">
              <a:lnSpc>
                <a:spcPct val="14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원혼 하나하나의 얼굴이 읽힌다.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09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TURNAROUND &amp;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3면도 · 크기 설계</a:t>
            </a:r>
          </a:p>
        </p:txBody>
      </p:sp>
      <p:pic>
        <p:nvPicPr>
          <p:cNvPr id="4" name="Picture 3" descr="sheet_si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840" y="1444752"/>
            <a:ext cx="3747703" cy="2999232"/>
          </a:xfrm>
          <a:prstGeom prst="rect">
            <a:avLst/>
          </a:prstGeom>
        </p:spPr>
      </p:pic>
      <p:pic>
        <p:nvPicPr>
          <p:cNvPr id="5" name="Picture 4" descr="scale_ch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1500930"/>
            <a:ext cx="5074920" cy="28868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626864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파트별 확정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919472"/>
            <a:ext cx="5074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3면 실루엣  ·  이마 부적  ·  색동 탈색 단계
피부와 관절  ·  젖은 발목  ·  원혼 밀도  ·  손등 질감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2472" y="4626864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스케일 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4937760"/>
            <a:ext cx="676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4919472"/>
            <a:ext cx="43708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일상 · 미행 — 사람 크기. 무해해 보여야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62472" y="5285232"/>
            <a:ext cx="676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5266944"/>
            <a:ext cx="43708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대면 — 눈높이가 맞는 순간의 압박.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2472" y="5632704"/>
            <a:ext cx="676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5614416"/>
            <a:ext cx="43708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추격 — 공간을 좁히는 크기.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5980176"/>
            <a:ext cx="676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260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961888"/>
            <a:ext cx="43708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굿판 · 강림 — 공간 자체를 압도한다.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10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COSTUME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의상 컨셉 — 4벌</a:t>
            </a:r>
          </a:p>
        </p:txBody>
      </p:sp>
      <p:pic>
        <p:nvPicPr>
          <p:cNvPr id="4" name="Picture 3" descr="cost_skirt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603380"/>
            <a:ext cx="2513068" cy="26636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572000"/>
            <a:ext cx="251306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A · 저고리 &amp; 치마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저채도 흙빛. 세트에 묻히는 톤.</a:t>
            </a:r>
          </a:p>
        </p:txBody>
      </p:sp>
      <p:pic>
        <p:nvPicPr>
          <p:cNvPr id="6" name="Picture 5" descr="cost_skirt_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4044" y="1560267"/>
            <a:ext cx="2513068" cy="2749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64044" y="4572000"/>
            <a:ext cx="251306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저고리 &amp; 치마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 채도 유지. 반전 단서 노출.</a:t>
            </a:r>
          </a:p>
        </p:txBody>
      </p:sp>
      <p:pic>
        <p:nvPicPr>
          <p:cNvPr id="8" name="Picture 7" descr="cost_skirt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4856" y="1678689"/>
            <a:ext cx="2513068" cy="25130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4856" y="4572000"/>
            <a:ext cx="251306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저고리 &amp; 치마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삭아 풀린 올. 세월과 하중의 질감.</a:t>
            </a:r>
          </a:p>
        </p:txBody>
      </p:sp>
      <p:pic>
        <p:nvPicPr>
          <p:cNvPr id="10" name="Picture 9" descr="cost_pan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5669" y="1641075"/>
            <a:ext cx="2513068" cy="25882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65669" y="4572000"/>
            <a:ext cx="251306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저고리 &amp; 바지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액션 · 와이어 리그 촬영용 변형.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5358384"/>
            <a:ext cx="10765505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etail_talisman_ta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755" y="5541264"/>
            <a:ext cx="497032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54480" y="5559552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소품 — 「封神」 부적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무당이 자신의 피로 그린 부적. 극 중 유일하게 색을 잃지 않는다.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2417" y="555955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구성 — 색동 소매 저고리 + 홍색 끈 · 술 노리개 + 갈래 치마</a:t>
            </a:r>
          </a:p>
          <a:p>
            <a:pPr algn="r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제작 — 동일 패턴 3벌 + 스턴트용 바지 변형 1벌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ll_open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233172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057400"/>
            <a:ext cx="12191969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11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SET 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굿판 — 강림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8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1587  ·  조선 평양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무당이 자신의 피로 부적을 만들고, 망나니가 노모의 무덤을 판다.
부적이 이마에 닿는 순간, 시신은 인간의 형상을 잃는다.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5377" y="2121408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“괴물이 아니다. 핏줄을 지키기 위해
모든 원혼을 스스로 떠안은 봉인이다.”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3529584"/>
            <a:ext cx="12191969" cy="3328416"/>
          </a:xfrm>
          <a:prstGeom prst="rect">
            <a:avLst/>
          </a:prstGeom>
          <a:solidFill>
            <a:srgbClr val="050404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all_descend_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738232"/>
            <a:ext cx="2540500" cy="14297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하강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천장에서 한 줄기로 쏟아진다.</a:t>
            </a:r>
          </a:p>
        </p:txBody>
      </p:sp>
      <p:pic>
        <p:nvPicPr>
          <p:cNvPr id="14" name="Picture 13" descr="hall_descend_b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4900" y="3738232"/>
            <a:ext cx="2540500" cy="1429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54900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전개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부챗살처럼 벌어진다.</a:t>
            </a:r>
          </a:p>
        </p:txBody>
      </p:sp>
      <p:pic>
        <p:nvPicPr>
          <p:cNvPr id="16" name="Picture 15" descr="hall_sweep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568" y="3738232"/>
            <a:ext cx="2540500" cy="1429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6568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확산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얼굴들이 한꺼번에 드러난다.</a:t>
            </a:r>
          </a:p>
        </p:txBody>
      </p:sp>
      <p:pic>
        <p:nvPicPr>
          <p:cNvPr id="18" name="Picture 17" descr="hall_til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8237" y="3738232"/>
            <a:ext cx="2540500" cy="1429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38237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소산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질량을 잃고 흩어진다.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961888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VFX 스코프 — 동일 세트 · 동일 렌즈에서 원혼 볼륨만 단계적으로 증식. 프랙티컬 의상과 배우 연기를 베이스로 덩어리만 CG.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y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32" y="0"/>
            <a:ext cx="5755910" cy="6858000"/>
          </a:xfrm>
          <a:prstGeom prst="rect">
            <a:avLst/>
          </a:prstGeom>
        </p:spPr>
      </p:pic>
      <p:pic>
        <p:nvPicPr>
          <p:cNvPr id="3" name="Picture 2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0" y="0"/>
            <a:ext cx="853437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87782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KEY ART   ·   VISUAL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298448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20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罪 · 血 · 記憶</a:t>
            </a:r>
          </a:p>
          <a:p>
            <a:pPr algn="l">
              <a:lnSpc>
                <a:spcPct val="155000"/>
              </a:lnSpc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티저는 「그것」을 정면으로 노출하지 않는다.
짚신, 색동 자락, 부적, 벽에 새겨진 세 글자 —
관객이 조립하게 만드는 방식으로 제시한다.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3236976"/>
            <a:ext cx="4754880" cy="7620"/>
          </a:xfrm>
          <a:prstGeom prst="rect">
            <a:avLst/>
          </a:prstGeom>
          <a:solidFill>
            <a:srgbClr val="F4EFE6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34381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컬러 팔레트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3730752"/>
            <a:ext cx="512064" cy="658368"/>
          </a:xfrm>
          <a:prstGeom prst="rect">
            <a:avLst/>
          </a:prstGeom>
          <a:solidFill>
            <a:srgbClr val="0F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10044" y="3730752"/>
            <a:ext cx="512064" cy="658368"/>
          </a:xfrm>
          <a:prstGeom prst="rect">
            <a:avLst/>
          </a:prstGeom>
          <a:solidFill>
            <a:srgbClr val="353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44967" y="3730752"/>
            <a:ext cx="512064" cy="658368"/>
          </a:xfrm>
          <a:prstGeom prst="rect">
            <a:avLst/>
          </a:prstGeom>
          <a:solidFill>
            <a:srgbClr val="4B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79892" y="3730752"/>
            <a:ext cx="512064" cy="658368"/>
          </a:xfrm>
          <a:prstGeom prst="rect">
            <a:avLst/>
          </a:prstGeom>
          <a:solidFill>
            <a:srgbClr val="6F6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14816" y="3730752"/>
            <a:ext cx="512064" cy="658368"/>
          </a:xfrm>
          <a:prstGeom prst="rect">
            <a:avLst/>
          </a:prstGeom>
          <a:solidFill>
            <a:srgbClr val="C4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49740" y="3730752"/>
            <a:ext cx="512064" cy="658368"/>
          </a:xfrm>
          <a:prstGeom prst="rect">
            <a:avLst/>
          </a:prstGeom>
          <a:solidFill>
            <a:srgbClr val="A96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84664" y="3730752"/>
            <a:ext cx="512064" cy="658368"/>
          </a:xfrm>
          <a:prstGeom prst="rect">
            <a:avLst/>
          </a:prstGeom>
          <a:solidFill>
            <a:srgbClr val="5F6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19588" y="3730752"/>
            <a:ext cx="512064" cy="658368"/>
          </a:xfrm>
          <a:prstGeom prst="rect">
            <a:avLst/>
          </a:prstGeom>
          <a:solidFill>
            <a:srgbClr val="8A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5354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무채색 위에 단 두 개의 채도 — 색동의 청, 부적의 홍.
화면에서 색을 가진 것은 「그것」뿐이다.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23036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컨셉 키워드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52297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원한 · 저주 · 무거움 · 억압 · 끌려다님 · 구속 · 공포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12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IP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머천다이징 — 실루엣이 곧 상품이다</a:t>
            </a:r>
          </a:p>
        </p:txBody>
      </p:sp>
      <p:pic>
        <p:nvPicPr>
          <p:cNvPr id="4" name="Picture 3" descr="goods_keyring_hanj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63040"/>
            <a:ext cx="3657600" cy="3657600"/>
          </a:xfrm>
          <a:prstGeom prst="rect">
            <a:avLst/>
          </a:prstGeom>
        </p:spPr>
      </p:pic>
      <p:pic>
        <p:nvPicPr>
          <p:cNvPr id="5" name="Picture 4" descr="goods_keyring_hangu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1463040"/>
            <a:ext cx="36576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358384"/>
            <a:ext cx="7534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封神 (한자)  ·  봉신 (국문) 패키지 병행 — 한국 · 일본 동시 유통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5672" y="1499616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확장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5672" y="1810512"/>
            <a:ext cx="267004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부적 · 색동 · 원혼 덩어리 세 요소가 축소 모형에서도 유지된다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얼굴이 없어 초상권 · 캐스팅과 무관하게 상품화 가능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키링 · 피규어 · 아크릴 순차 전개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티저 시점부터 선판매 가능한 캐릭터 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ly_white.jpg"/>
          <p:cNvPicPr>
            <a:picLocks noChangeAspect="1"/>
          </p:cNvPicPr>
          <p:nvPr/>
        </p:nvPicPr>
        <p:blipFill>
          <a:blip r:embed="rId2"/>
          <a:srcRect l="7293" r="7293"/>
          <a:stretch>
            <a:fillRect/>
          </a:stretch>
        </p:blipFill>
        <p:spPr>
          <a:xfrm>
            <a:off x="6095984" y="0"/>
            <a:ext cx="609598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83663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05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1883664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5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“저주는 사라진 것이 아니다.
다만, 형태를 바꿨을 뿐이다.”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3493008"/>
            <a:ext cx="1920240" cy="7620"/>
          </a:xfrm>
          <a:prstGeom prst="rect">
            <a:avLst/>
          </a:prstGeom>
          <a:solidFill>
            <a:srgbClr val="F4EFE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3749039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8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059936"/>
            <a:ext cx="5394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룩 C(색동) 기준 확정 → 실물 의상 제작 · 슈트 액터 캐스팅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원혼 덩어리 시뮬레이션 파일럿 (대청 시퀀스 30초)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일본 투자사 제출용 — 문화 주석 확장판 (8월 말)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5577840"/>
            <a:ext cx="539496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576072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1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赫血  KAKKETSU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WALLAH PROJECT  ×  SUPERNOVA STUDIOS   |   각본 · 감독  한동하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