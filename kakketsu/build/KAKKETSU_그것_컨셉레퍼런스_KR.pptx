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3.png"/><Relationship Id="rId4" Type="http://schemas.openxmlformats.org/officeDocument/2006/relationships/image" Target="../media/image1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image" Target="../media/image1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3.png"/><Relationship Id="rId4" Type="http://schemas.openxmlformats.org/officeDocument/2006/relationships/image" Target="../media/image1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.png"/><Relationship Id="rId4" Type="http://schemas.openxmlformats.org/officeDocument/2006/relationships/image" Target="../media/image3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hospital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8778218" cy="685800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086100"/>
            <a:ext cx="12191969" cy="3771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B7AD9F"/>
                </a:solidFill>
                <a:latin typeface="Cambria"/>
                <a:ea typeface="Malgun Gothic"/>
                <a:cs typeface="Malgun Gothic"/>
              </a:rPr>
              <a:t>WALLAH PROJECT   ×   SUPERNOVA STUDIOS</a:t>
            </a:r>
          </a:p>
        </p:txBody>
      </p:sp>
      <p:pic>
        <p:nvPicPr>
          <p:cNvPr id="7" name="Picture 6" descr="logo_kakket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" y="2011680"/>
            <a:ext cx="4389120" cy="10881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15727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3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CHARACTER CONCEPT REFERENCE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310128"/>
            <a:ext cx="7863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20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각혈  ·  KAKKETSU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sz="4200" b="1" i="0" spc="-8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「그것」— 封神 (봉신)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</a:pPr>
            <a:r>
              <a:rPr sz="14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저주라 믿었던 존재의 설계도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358384"/>
            <a:ext cx="2103120" cy="7620"/>
          </a:xfrm>
          <a:prstGeom prst="rect">
            <a:avLst/>
          </a:prstGeom>
          <a:solidFill>
            <a:srgbClr val="ECE6DA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541264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각본 · 감독   한동하   |   장편 · 공포 · 오컬트   |   한국 – 일본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 i="0">
                <a:solidFill>
                  <a:srgbClr val="8A443B"/>
                </a:solidFill>
                <a:latin typeface="Malgun Gothic"/>
                <a:ea typeface="Malgun Gothic"/>
                <a:cs typeface="Malgun Gothic"/>
              </a:rPr>
              <a:t>2026 투자 검토용 캐릭터 비주얼 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8257" y="614476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60">
                <a:solidFill>
                  <a:srgbClr val="6E665D"/>
                </a:solidFill>
                <a:latin typeface="Cambria"/>
                <a:ea typeface="Malgun Gothic"/>
                <a:cs typeface="Malgun Gothic"/>
              </a:rPr>
              <a:t>CONFIDENTIAL  ·  FOR INVESTMENT REVIEW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g_white.jpg"/>
          <p:cNvPicPr>
            <a:picLocks noChangeAspect="1"/>
          </p:cNvPicPr>
          <p:nvPr/>
        </p:nvPicPr>
        <p:blipFill>
          <a:blip r:embed="rId2"/>
          <a:srcRect t="10500" b="3325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light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1051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32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LOGLINE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72768"/>
            <a:ext cx="59893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40">
                <a:solidFill>
                  <a:srgbClr val="171414"/>
                </a:solidFill>
                <a:latin typeface="Malgun Gothic"/>
                <a:ea typeface="Malgun Gothic"/>
                <a:cs typeface="Malgun Gothic"/>
              </a:rPr>
              <a:t>대대로 이어진 가문의 저주를 끊기 위해
싸워온 한 남자는, 그 저주라 믿었던 존재가
사실은 가족을 지켜온 수호였음을 깨닫고
핏줄과 죄의 진짜 의미와 마주한다.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956048"/>
            <a:ext cx="1554480" cy="7620"/>
          </a:xfrm>
          <a:prstGeom prst="rect">
            <a:avLst/>
          </a:prstGeom>
          <a:solidFill>
            <a:srgbClr val="4B44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B4440"/>
                </a:solidFill>
                <a:latin typeface="Malgun Gothic"/>
                <a:ea typeface="Malgun Gothic"/>
                <a:cs typeface="Malgun Gothic"/>
              </a:rPr>
              <a:t>4대에 걸친 핏줄, 하나의 형상. 「그것」은 이 이야기의 괴물이자,
이 이야기의 마지막 진실이다.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4B4440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4B4440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wood.jpg"/>
          <p:cNvPicPr>
            <a:picLocks noChangeAspect="1"/>
          </p:cNvPicPr>
          <p:nvPr/>
        </p:nvPicPr>
        <p:blipFill>
          <a:blip r:embed="rId2"/>
          <a:srcRect t="24743" b="30241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753575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DIRECTOR'S INTENTION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기획의도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874519"/>
            <a:ext cx="5623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4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이 작품은 공포영화의 문법을 빌려,
‘지켜보는 존재’에 대한 이야기를 한다.</a:t>
            </a:r>
          </a:p>
          <a:p>
            <a:pPr algn="l">
              <a:lnSpc>
                <a:spcPct val="170000"/>
              </a:lnSpc>
              <a:spcBef>
                <a:spcPts val="1600"/>
              </a:spcBef>
              <a:spcAft>
                <a:spcPts val="0"/>
              </a:spcAft>
            </a:pPr>
            <a:r>
              <a:rPr sz="11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쫓아오고, 따라붙고, 침묵하는 존재. 우리는 그것을 언제나 저주라 불러왔다.
그러나 이 영화는 묻는다. 그것이 정말 파괴를 위해 존재했는가, 아니면
우리가 외면해 온 죄를 대신 짊어진 결과였는가.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4617720"/>
            <a:ext cx="5623560" cy="1261490"/>
          </a:xfrm>
          <a:prstGeom prst="rect">
            <a:avLst/>
          </a:prstGeom>
          <a:solidFill>
            <a:srgbClr val="08060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837176"/>
            <a:ext cx="5184648" cy="8225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관객이 가져가는 감정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이 영화가 끝났을 때, 관객은 더 이상 ‘귀신’을 무서워하지 않게 될 것이다.
대신, 인간의 선택을 두려워하게 될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neel_closeup.jpg"/>
          <p:cNvPicPr>
            <a:picLocks noChangeAspect="1"/>
          </p:cNvPicPr>
          <p:nvPr/>
        </p:nvPicPr>
        <p:blipFill>
          <a:blip r:embed="rId2"/>
          <a:srcRect t="9210" b="12719"/>
          <a:stretch>
            <a:fillRect/>
          </a:stretch>
        </p:blipFill>
        <p:spPr>
          <a:xfrm>
            <a:off x="5608305" y="0"/>
            <a:ext cx="658366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98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66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THE TURN · 반전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04672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저주가 아니라,
수호였다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066543"/>
            <a:ext cx="509320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「그것」은 저주가 아니었다. 이 집안이 저질러 온 죄와 선택의 대가를
스스로 떠안고, 끝까지 막아 서 있던 하나의 수호였다.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743200"/>
            <a:ext cx="5093208" cy="7620"/>
          </a:xfrm>
          <a:prstGeom prst="rect">
            <a:avLst/>
          </a:prstGeom>
          <a:solidFill>
            <a:srgbClr val="ECE6D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0175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99232"/>
            <a:ext cx="45262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따라붙는다</a:t>
            </a:r>
          </a:p>
          <a:p>
            <a:pPr algn="l">
              <a:lnSpc>
                <a:spcPct val="155000"/>
              </a:lnSpc>
              <a:spcBef>
                <a:spcPts val="500"/>
              </a:spcBef>
              <a:spcAft>
                <a:spcPts val="0"/>
              </a:spcAft>
            </a:pPr>
            <a:r>
              <a:rPr sz="98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1582년 조선의 처형장에서 태어나 4대에 걸쳐 이동한다.
이름도 얼굴도 기억하지 않는다. 기준은 오직 하나 — 핏줄.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3950208"/>
            <a:ext cx="5093208" cy="7620"/>
          </a:xfrm>
          <a:prstGeom prst="rect">
            <a:avLst/>
          </a:prstGeom>
          <a:solidFill>
            <a:srgbClr val="ECE6D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0782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059936"/>
            <a:ext cx="45262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죽어 나간다</a:t>
            </a:r>
          </a:p>
          <a:p>
            <a:pPr algn="l">
              <a:lnSpc>
                <a:spcPct val="155000"/>
              </a:lnSpc>
              <a:spcBef>
                <a:spcPts val="500"/>
              </a:spcBef>
              <a:spcAft>
                <a:spcPts val="0"/>
              </a:spcAft>
            </a:pPr>
            <a:r>
              <a:rPr sz="98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할아버지 동필, 아버지 종문. 두 세대가 같은 자리에서
같은 방식으로 사라진다. 저주는 다음 대로 넘어간다.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5010912"/>
            <a:ext cx="5093208" cy="7620"/>
          </a:xfrm>
          <a:prstGeom prst="rect">
            <a:avLst/>
          </a:prstGeom>
          <a:solidFill>
            <a:srgbClr val="ECE6D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13892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20640"/>
            <a:ext cx="45262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사라진다</a:t>
            </a:r>
          </a:p>
          <a:p>
            <a:pPr algn="l">
              <a:lnSpc>
                <a:spcPct val="155000"/>
              </a:lnSpc>
              <a:spcBef>
                <a:spcPts val="500"/>
              </a:spcBef>
              <a:spcAft>
                <a:spcPts val="0"/>
              </a:spcAft>
            </a:pPr>
            <a:r>
              <a:rPr sz="98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아들이 죽고 「그것」은 걸음을 되찾아 문을 나선다.
그리고 그때, 비로소 진짜 지옥이 시작된다.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ll_tilt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bott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920240"/>
            <a:ext cx="12191969" cy="4937759"/>
          </a:xfrm>
          <a:prstGeom prst="rect">
            <a:avLst/>
          </a:prstGeom>
        </p:spPr>
      </p:pic>
      <p:pic>
        <p:nvPicPr>
          <p:cNvPr id="5" name="Picture 4" descr="scrim_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69" cy="2880360"/>
          </a:xfrm>
          <a:prstGeom prst="rect">
            <a:avLst/>
          </a:prstGeom>
        </p:spPr>
      </p:pic>
      <p:pic>
        <p:nvPicPr>
          <p:cNvPr id="6" name="Picture 5" descr="scrim_bott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251960"/>
            <a:ext cx="12191969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WHAT IS 「IT」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「그것」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913632"/>
            <a:ext cx="6766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「그것」은 특정 개인이나 유령이 아니다.
인간의 죄와 피, 그리고 말해지지 못한 원념이 쌓이고 쌓여,
마침내 형태를 얻은 결과로서 태어난 존재이다.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63270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탄생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1587년 조선 평양 — 무당의 굿판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563270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형상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노모의 시신 + 「封神」 부적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563270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규칙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이름도 얼굴도 아닌, 오직 핏줄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2832" y="563270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정체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저주의 형상을 한 봉인(封)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stand.jpg"/>
          <p:cNvPicPr>
            <a:picLocks noChangeAspect="1"/>
          </p:cNvPicPr>
          <p:nvPr/>
        </p:nvPicPr>
        <p:blipFill>
          <a:blip r:embed="rId2"/>
          <a:srcRect t="11525" b="11525"/>
          <a:stretch>
            <a:fillRect/>
          </a:stretch>
        </p:blipFill>
        <p:spPr>
          <a:xfrm>
            <a:off x="5059667" y="0"/>
            <a:ext cx="713230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608305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87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CHARACTER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04672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封神  봉신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3852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약 150cm  (연출 스케일 180 / 190 / 260cm)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4526280" cy="7620"/>
          </a:xfrm>
          <a:prstGeom prst="rect">
            <a:avLst/>
          </a:prstGeom>
          <a:solidFill>
            <a:srgbClr val="ECE6D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39572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성별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774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여성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2670048"/>
            <a:ext cx="4526280" cy="7620"/>
          </a:xfrm>
          <a:prstGeom prst="rect">
            <a:avLst/>
          </a:prstGeom>
          <a:solidFill>
            <a:srgbClr val="ECE6D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85292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나이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8346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노인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127248"/>
            <a:ext cx="4526280" cy="7620"/>
          </a:xfrm>
          <a:prstGeom prst="rect">
            <a:avLst/>
          </a:prstGeom>
          <a:solidFill>
            <a:srgbClr val="ECE6D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31012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정체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2918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망나니의 노모 — 굿판에서 봉인된 시신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584448"/>
            <a:ext cx="4526280" cy="7620"/>
          </a:xfrm>
          <a:prstGeom prst="rect">
            <a:avLst/>
          </a:prstGeom>
          <a:solidFill>
            <a:srgbClr val="ECE6D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931920"/>
            <a:ext cx="45262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특징</a:t>
            </a:r>
          </a:p>
          <a:p>
            <a:pPr algn="l">
              <a:lnSpc>
                <a:spcPct val="162000"/>
              </a:lnSpc>
              <a:spcBef>
                <a:spcPts val="70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이마의 붉은 부적으로 인해 얼굴을 볼 수 없다.
매우 마른 체형, 메마른 피부. 빛바랜 색동저고리의 누더기 차림.
한쪽 다리를 절룩이며 무겁게 이동한다.
등 뒤에 거대한 원혼 덩어리가 단단히 붙어 있고, 긴 머리카락이
그 전체를 감싸 원혼 덩어리를 억누르고 있다.</a:t>
            </a:r>
          </a:p>
        </p:txBody>
      </p:sp>
      <p:sp>
        <p:nvSpPr>
          <p:cNvPr id="20" name="Oval 19"/>
          <p:cNvSpPr/>
          <p:nvPr/>
        </p:nvSpPr>
        <p:spPr>
          <a:xfrm>
            <a:off x="8508492" y="2720340"/>
            <a:ext cx="82296" cy="82296"/>
          </a:xfrm>
          <a:prstGeom prst="ellipse">
            <a:avLst/>
          </a:prstGeom>
          <a:solidFill>
            <a:srgbClr val="B4231A"/>
          </a:solidFill>
          <a:ln w="9525">
            <a:solidFill>
              <a:srgbClr val="ECE6DA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2" y="2757830"/>
            <a:ext cx="521207" cy="9525"/>
          </a:xfrm>
          <a:prstGeom prst="rect">
            <a:avLst/>
          </a:prstGeom>
          <a:solidFill>
            <a:srgbClr val="ECE6D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2" y="2615184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이마의 부적 「封神」</a:t>
            </a:r>
          </a:p>
          <a:p>
            <a:pPr algn="r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얼굴이 있어야 할 자리</a:t>
            </a:r>
          </a:p>
        </p:txBody>
      </p:sp>
      <p:sp>
        <p:nvSpPr>
          <p:cNvPr id="23" name="Oval 22"/>
          <p:cNvSpPr/>
          <p:nvPr/>
        </p:nvSpPr>
        <p:spPr>
          <a:xfrm>
            <a:off x="8572500" y="4018788"/>
            <a:ext cx="82296" cy="82296"/>
          </a:xfrm>
          <a:prstGeom prst="ellipse">
            <a:avLst/>
          </a:prstGeom>
          <a:solidFill>
            <a:srgbClr val="B4231A"/>
          </a:solidFill>
          <a:ln w="9525">
            <a:solidFill>
              <a:srgbClr val="ECE6DA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28432" y="4056278"/>
            <a:ext cx="585215" cy="9525"/>
          </a:xfrm>
          <a:prstGeom prst="rect">
            <a:avLst/>
          </a:prstGeom>
          <a:solidFill>
            <a:srgbClr val="ECE6D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42432" y="3913632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빛바랜 색동저고리</a:t>
            </a:r>
          </a:p>
          <a:p>
            <a:pPr algn="r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색이 거의 빠진 누더기</a:t>
            </a:r>
          </a:p>
        </p:txBody>
      </p:sp>
      <p:sp>
        <p:nvSpPr>
          <p:cNvPr id="26" name="Oval 25"/>
          <p:cNvSpPr/>
          <p:nvPr/>
        </p:nvSpPr>
        <p:spPr>
          <a:xfrm>
            <a:off x="9761220" y="1623060"/>
            <a:ext cx="82296" cy="82296"/>
          </a:xfrm>
          <a:prstGeom prst="ellipse">
            <a:avLst/>
          </a:prstGeom>
          <a:solidFill>
            <a:srgbClr val="B4231A"/>
          </a:solidFill>
          <a:ln w="9525">
            <a:solidFill>
              <a:srgbClr val="ECE6DA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02368" y="1660550"/>
            <a:ext cx="274319" cy="9525"/>
          </a:xfrm>
          <a:prstGeom prst="rect">
            <a:avLst/>
          </a:prstGeom>
          <a:solidFill>
            <a:srgbClr val="ECE6D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76688" y="1517904"/>
            <a:ext cx="1399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원혼 덩어리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등 뒤에 업힌 수백의 원혼</a:t>
            </a:r>
          </a:p>
        </p:txBody>
      </p:sp>
      <p:sp>
        <p:nvSpPr>
          <p:cNvPr id="29" name="Oval 28"/>
          <p:cNvSpPr/>
          <p:nvPr/>
        </p:nvSpPr>
        <p:spPr>
          <a:xfrm>
            <a:off x="8462772" y="5920740"/>
            <a:ext cx="82296" cy="82296"/>
          </a:xfrm>
          <a:prstGeom prst="ellipse">
            <a:avLst/>
          </a:prstGeom>
          <a:solidFill>
            <a:srgbClr val="B4231A"/>
          </a:solidFill>
          <a:ln w="9525">
            <a:solidFill>
              <a:srgbClr val="ECE6DA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28432" y="5958230"/>
            <a:ext cx="475487" cy="9525"/>
          </a:xfrm>
          <a:prstGeom prst="rect">
            <a:avLst/>
          </a:prstGeom>
          <a:solidFill>
            <a:srgbClr val="ECE6D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2432" y="5815584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뒤틀린 다리 · 짚신</a:t>
            </a:r>
          </a:p>
          <a:p>
            <a:pPr algn="r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질질 끌리는 한쪽 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arms.jpg"/>
          <p:cNvPicPr>
            <a:picLocks noChangeAspect="1"/>
          </p:cNvPicPr>
          <p:nvPr/>
        </p:nvPicPr>
        <p:blipFill>
          <a:blip r:embed="rId2"/>
          <a:srcRect t="17846" b="17846"/>
          <a:stretch>
            <a:fillRect/>
          </a:stretch>
        </p:blipFill>
        <p:spPr>
          <a:xfrm>
            <a:off x="3657590" y="0"/>
            <a:ext cx="8534378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145269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3751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05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DESIGN ANCHOR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04672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부적 「封神」
— 얼굴을 대신하는 봉인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395728"/>
            <a:ext cx="4160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한국의 부적은 일본의 오마모리처럼 ‘좋은 기운을 불러들이는 것’이
아니라, 위험한 존재나 힘을 눌러 봉해두기 위한 것에 가깝다.
일본적 감각으로는 후다(札)·인(印)·결계(結界)에 가깝다.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931920"/>
            <a:ext cx="4160520" cy="1893773"/>
          </a:xfrm>
          <a:prstGeom prst="rect">
            <a:avLst/>
          </a:prstGeom>
          <a:solidFill>
            <a:srgbClr val="080607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151376"/>
            <a:ext cx="3721608" cy="14548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연출 노트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98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얼굴이 없다 = 감정을 읽을 수 없다. 관객은 끝까지 「그것」의 의도를
판독하지 못하고, 그 판독 불가능성이 이 영화의 서스펜스를 지탱한다.
그리고 마지막, 슈가 머리카락을 걷어낸 자리에는 — 아무것도 없다.</a:t>
            </a:r>
          </a:p>
        </p:txBody>
      </p:sp>
      <p:pic>
        <p:nvPicPr>
          <p:cNvPr id="10" name="Picture 9" descr="detail_talisman_fa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358384"/>
            <a:ext cx="502920" cy="777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80744" y="5449824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「封神」 — 봉할 봉, 귀신 신</a:t>
            </a:r>
          </a:p>
          <a:p>
            <a:pPr algn="l"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귀신을 부르는 글자가 아니라, 가두는 글자다.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ekdong_back.jpg"/>
          <p:cNvPicPr>
            <a:picLocks noChangeAspect="1"/>
          </p:cNvPicPr>
          <p:nvPr/>
        </p:nvPicPr>
        <p:blipFill>
          <a:blip r:embed="rId2"/>
          <a:srcRect l="9572" r="11699"/>
          <a:stretch>
            <a:fillRect/>
          </a:stretch>
        </p:blipFill>
        <p:spPr>
          <a:xfrm>
            <a:off x="0" y="0"/>
            <a:ext cx="7559021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10382" y="0"/>
            <a:ext cx="5181587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81" y="0"/>
            <a:ext cx="3413751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181" y="47548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06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DESIGN ANCHOR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81" y="804672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색동저고리
— 아이를 지키는 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81" y="2395728"/>
            <a:ext cx="4160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색동저고리는 한국에서 아이를 지키기 위해 입히는 옷이다.
나쁜 기운을 멀리하고 생명이 무사히 자라기를 바라는,
주술적 보호의 의미가 담겨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181" y="3877056"/>
            <a:ext cx="4160520" cy="1348638"/>
          </a:xfrm>
          <a:prstGeom prst="rect">
            <a:avLst/>
          </a:prstGeom>
          <a:solidFill>
            <a:srgbClr val="080607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34637" y="4096512"/>
            <a:ext cx="3721608" cy="9097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연출 노트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98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가장 무서운 형상에 가장 다정한 옷을 입힌다.
이 모순이 곧 반전의 복선이다. 색이 다 빠진 누더기는
「그것」이 얼마나 오래 지켜왔는지를 말하는 유일한 물증이다.</a:t>
            </a:r>
          </a:p>
        </p:txBody>
      </p:sp>
      <p:pic>
        <p:nvPicPr>
          <p:cNvPr id="10" name="Picture 9" descr="detail_saekdo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181" y="5358384"/>
            <a:ext cx="501091" cy="777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73549" y="5449824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청 · 적 · 황 · 백 · 흑 — 오방색</a:t>
            </a:r>
          </a:p>
          <a:p>
            <a:pPr algn="l"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다섯 방위의 색으로 액을 막는다는 믿음에서 온 배색.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81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ot_closeup.jpg"/>
          <p:cNvPicPr>
            <a:picLocks noChangeAspect="1"/>
          </p:cNvPicPr>
          <p:nvPr/>
        </p:nvPicPr>
        <p:blipFill>
          <a:blip r:embed="rId2"/>
          <a:srcRect t="4984" b="4984"/>
          <a:stretch>
            <a:fillRect/>
          </a:stretch>
        </p:blipFill>
        <p:spPr>
          <a:xfrm>
            <a:off x="6095984" y="0"/>
            <a:ext cx="609598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83663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05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07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DESIGN ANCHOR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04672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짚신과 뒤틀린 다리
— 업을 지고 걷는 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395728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한국의 짚신은 일본의 와라지와 형상은 비슷하지만, 단순한 여행용
신발이 아니다. 고통과 업을 짊어진 채 계속 걸어가는 인간의
상징으로 쓰인다.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675887"/>
            <a:ext cx="5029200" cy="1348638"/>
          </a:xfrm>
          <a:prstGeom prst="rect">
            <a:avLst/>
          </a:prstGeom>
          <a:solidFill>
            <a:srgbClr val="080607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895344"/>
            <a:ext cx="4590288" cy="9097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연출 노트 — 절룩임은 상처가 아니라 하중이다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98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등 뒤 수백의 원혼을 대신 짊어졌기에 몸이 무거워졌고, 그래서 절 수밖에
없었다. 지켜야 할 핏줄이 끊어져 책임이 끝나는 순간, 걸음은 정상으로
돌아온다 — 관객이 반전을 몸으로 알아채는 지점.</a:t>
            </a:r>
          </a:p>
        </p:txBody>
      </p:sp>
      <p:pic>
        <p:nvPicPr>
          <p:cNvPr id="10" name="Picture 9" descr="detail_sho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358384"/>
            <a:ext cx="2377440" cy="8092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73552" y="5413248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슥……  쿵……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짚신이 바닥을 긁는 소리.
이 캐릭터의 사운드 테마이자, 등장 신호.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ll_sweep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bott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57400"/>
            <a:ext cx="12191969" cy="4800600"/>
          </a:xfrm>
          <a:prstGeom prst="rect">
            <a:avLst/>
          </a:prstGeom>
        </p:spPr>
      </p:pic>
      <p:pic>
        <p:nvPicPr>
          <p:cNvPr id="5" name="Picture 4" descr="scrim_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69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08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THE BURDEN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등에 업힌 수백의 원혼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828032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유동성</a:t>
            </a:r>
          </a:p>
          <a:p>
            <a:pPr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액체처럼 흐른다. 고정된 실루엣이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432" y="4828032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구성</a:t>
            </a:r>
          </a:p>
          <a:p>
            <a:pPr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수많은 사람의 얼굴 · 팔다리 · 손등이 얽혀 유기적으로 변형.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4828032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구속</a:t>
            </a:r>
          </a:p>
          <a:p>
            <a:pPr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긴 머리카락이 덩어리 전체를 감아 억누르고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42832" y="4828032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이동</a:t>
            </a:r>
          </a:p>
          <a:p>
            <a:pPr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덩어리도 바닥으로 흘러내리며 함께 움직인다.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9618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연출 포인트 — 계단을 도는 순간 「그것」이 온몸의 원혼을 떨쳐낸다. 짐을 버린 몸은 폭발적으로 빨라진다. 추격의 가속 구간.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09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LOOK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룩 디벨롭먼트  A · B</a:t>
            </a:r>
          </a:p>
        </p:txBody>
      </p:sp>
      <p:pic>
        <p:nvPicPr>
          <p:cNvPr id="4" name="Picture 3" descr="sheet_w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503685"/>
            <a:ext cx="5227304" cy="3484869"/>
          </a:xfrm>
          <a:prstGeom prst="rect">
            <a:avLst/>
          </a:prstGeom>
        </p:spPr>
      </p:pic>
      <p:pic>
        <p:nvPicPr>
          <p:cNvPr id="5" name="Picture 4" descr="sheet_wet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432" y="1503685"/>
            <a:ext cx="5227304" cy="34848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138928"/>
            <a:ext cx="5227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8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A  ·  WET / BLACK</a:t>
            </a:r>
          </a:p>
          <a:p>
            <a:pPr algn="l">
              <a:lnSpc>
                <a:spcPct val="15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젖은 흑색 점액 톤. 원혼 덩어리와 머리카락의 경계가 사라져
‘하나의 검은 질량’으로 읽힌다. 어두운 세트에서 가장 강한 실루엣.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432" y="5138928"/>
            <a:ext cx="5227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8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B  ·  WET / DETAIL</a:t>
            </a:r>
          </a:p>
          <a:p>
            <a:pPr algn="l">
              <a:lnSpc>
                <a:spcPct val="15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동일 톤에서 개체 식별성을 끌어올린 버전. 원혼 하나하나의 얼굴이
읽히므로 클로즈업과 반전 시퀀스에 유리하다.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10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LOOK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룩 디벨롭먼트  C · D</a:t>
            </a:r>
          </a:p>
        </p:txBody>
      </p:sp>
      <p:pic>
        <p:nvPicPr>
          <p:cNvPr id="4" name="Picture 3" descr="sheet_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503685"/>
            <a:ext cx="5227304" cy="3484869"/>
          </a:xfrm>
          <a:prstGeom prst="rect">
            <a:avLst/>
          </a:prstGeom>
        </p:spPr>
      </p:pic>
      <p:pic>
        <p:nvPicPr>
          <p:cNvPr id="5" name="Picture 4" descr="sheet_mi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432" y="1503685"/>
            <a:ext cx="5227304" cy="34848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138928"/>
            <a:ext cx="5227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8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C  ·  SAEKDONG</a:t>
            </a:r>
          </a:p>
          <a:p>
            <a:pPr algn="l">
              <a:lnSpc>
                <a:spcPct val="15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색동의 채도를 살린 버전. ‘아이를 지키는 옷’이라는 반전의 단서가
가장 먼저 읽힌다. 본편 기준안으로 제안.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432" y="5138928"/>
            <a:ext cx="5227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8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D  ·  MIST</a:t>
            </a:r>
          </a:p>
          <a:p>
            <a:pPr algn="l">
              <a:lnSpc>
                <a:spcPct val="15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안개 · 저채도. 형태를 지우고 실루엣만 남긴다. 티저 · 포스터 ·
선공개 소재로 유리한 방향.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443B"/>
                </a:solidFill>
                <a:latin typeface="Malgun Gothic"/>
                <a:ea typeface="Malgun Gothic"/>
                <a:cs typeface="Malgun Gothic"/>
              </a:rPr>
              <a:t>제안 — 본편 C(색동) / 티저 · 키비주얼 D(안개) / 클로즈업 B(디테일) 로 분리 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11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TURNAROUND &amp;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3면도 · 디테일 시트</a:t>
            </a:r>
          </a:p>
        </p:txBody>
      </p:sp>
      <p:pic>
        <p:nvPicPr>
          <p:cNvPr id="4" name="Picture 3" descr="sheet_si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805" y="1463040"/>
            <a:ext cx="5770092" cy="4617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51790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파트별 확정 항목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88366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정면 · 측면 · 후면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88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실루엣 기준 3면 확정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2414016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이마의 부적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88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위치 · 각도 · 붉기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9443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색동저고리 (누더기)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88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탈색 단계와 찢김 패턴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347472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메마른 피부와 손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88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혈관 · 관절 돌출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4005072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젖은 발목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88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흘러내리는 검은 액체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535424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원혼 덩어리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88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밀도와 얼굴 노출 비율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5065776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액체 질감의 손등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88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머리카락과의 접합부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742432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150cm · 180cm · 190cm 세 크기에서
동일 디자인의 일관성을 검증한 시트.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12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CHARACTER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크기 설계 — 같은 존재, 다른 압력</a:t>
            </a:r>
          </a:p>
        </p:txBody>
      </p:sp>
      <p:pic>
        <p:nvPicPr>
          <p:cNvPr id="4" name="Picture 3" descr="scale_ch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089" y="1426464"/>
            <a:ext cx="6992405" cy="3977639"/>
          </a:xfrm>
          <a:prstGeom prst="rect">
            <a:avLst/>
          </a:prstGeom>
        </p:spPr>
      </p:pic>
      <p:pic>
        <p:nvPicPr>
          <p:cNvPr id="5" name="Picture 4" descr="sheet_mont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1971721"/>
            <a:ext cx="2423160" cy="28871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614416"/>
            <a:ext cx="24871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150cm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일상 · 미행 — 사람 크기. 무해해 보여야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5614416"/>
            <a:ext cx="24871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180cm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대면 — 인물과 눈높이가 맞는 순간의 압박.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1888" y="5614416"/>
            <a:ext cx="24871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190cm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추격 — 공간을 좁히는 크기.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6216" y="5614416"/>
            <a:ext cx="24871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260cm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굿판 · 강림 — 공간 자체를 압도한다.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13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COSTUME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의상 컨셉 — 저고리 &amp; 치마</a:t>
            </a:r>
          </a:p>
        </p:txBody>
      </p:sp>
      <p:pic>
        <p:nvPicPr>
          <p:cNvPr id="4" name="Picture 3" descr="cost_skirt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83" y="1481328"/>
            <a:ext cx="3364510" cy="3566160"/>
          </a:xfrm>
          <a:prstGeom prst="rect">
            <a:avLst/>
          </a:prstGeom>
        </p:spPr>
      </p:pic>
      <p:pic>
        <p:nvPicPr>
          <p:cNvPr id="5" name="Picture 4" descr="cost_skirt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6477" y="1481328"/>
            <a:ext cx="3259013" cy="3566160"/>
          </a:xfrm>
          <a:prstGeom prst="rect">
            <a:avLst/>
          </a:prstGeom>
        </p:spPr>
      </p:pic>
      <p:pic>
        <p:nvPicPr>
          <p:cNvPr id="6" name="Picture 5" descr="cost_skirt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0923" y="1555501"/>
            <a:ext cx="3417813" cy="34178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193792"/>
            <a:ext cx="341781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변형 A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저채도 · 흙빛. 세트에 묻히는 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7077" y="5193792"/>
            <a:ext cx="341781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변형 B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색동 채도 유지. 반전 단서 가시성 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0923" y="5193792"/>
            <a:ext cx="341781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변형 C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삭아 풀린 올. 세월과 하중의 질감.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05332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구성 — 색동 소매 저고리 + 붉은 끈 · 술 노리개 + 갈래갈래 찢긴 치마. 동일 패턴을 저고리/치마/바지 3벌로 전개.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t_pants.jpg"/>
          <p:cNvPicPr>
            <a:picLocks noChangeAspect="1"/>
          </p:cNvPicPr>
          <p:nvPr/>
        </p:nvPicPr>
        <p:blipFill>
          <a:blip r:embed="rId2"/>
          <a:srcRect t="4487" b="4487"/>
          <a:stretch>
            <a:fillRect/>
          </a:stretch>
        </p:blipFill>
        <p:spPr>
          <a:xfrm>
            <a:off x="4876787" y="0"/>
            <a:ext cx="7315181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364466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9" y="0"/>
            <a:ext cx="3413751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14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COSTUME VARIANT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04672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의상 변형
— 저고리 &amp; 바지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6888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액션 · 추격 · 와이어 촬영용 변형. 치마 실루엣을 유지하지 못하는
장면(계단 추격, 천장 매달림, 굿판 폭주)에 사용한다.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529584"/>
            <a:ext cx="4206240" cy="1166926"/>
          </a:xfrm>
          <a:prstGeom prst="rect">
            <a:avLst/>
          </a:prstGeom>
          <a:solidFill>
            <a:srgbClr val="080607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749039"/>
            <a:ext cx="3767327" cy="7280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제작 노트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98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붉은 바지는 색동의 ‘적(赤)’을 그대로 확대한 것이다.
몸을 뒤집거나 거꾸로 매달았을 때에도 캐릭터의 색 기호가 유지된다.</a:t>
            </a:r>
          </a:p>
        </p:txBody>
      </p:sp>
      <p:pic>
        <p:nvPicPr>
          <p:cNvPr id="10" name="Picture 9" descr="detail_talisman_ta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084064"/>
            <a:ext cx="896112" cy="78729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92224" y="517550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소품 — 「封神」 부적</a:t>
            </a:r>
          </a:p>
          <a:p>
            <a:pPr algn="l">
              <a:lnSpc>
                <a:spcPct val="145000"/>
              </a:lnSpc>
              <a:spcBef>
                <a:spcPts val="400"/>
              </a:spcBef>
              <a:spcAft>
                <a:spcPts val="0"/>
              </a:spcAft>
            </a:pPr>
            <a:r>
              <a:rPr sz="93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무당이 자신의 피로 그린 부적. 극 중 유일하게
색을 잃지 않는 소품이다.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ll_open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274320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771900"/>
            <a:ext cx="12191969" cy="3086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15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SET PIECE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굿판 — 강림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1587년 조선 평양. 무당은 자신의 피로 부적을 만들고,
망나니는 노모의 무덤을 파헤친다. 부적이 이마에 붙는 순간
시신은 인간의 형상을 잃는다.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8257" y="5138928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“그것은 괴물이 아니다.
핏줄을 지키기 위해 모든 원혼을
스스로 떠안은 하나의 봉인이다.”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16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SET PIECE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대청 — 원혼의 전개</a:t>
            </a:r>
          </a:p>
        </p:txBody>
      </p:sp>
      <p:pic>
        <p:nvPicPr>
          <p:cNvPr id="4" name="Picture 3" descr="hall_descend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559700"/>
            <a:ext cx="5245592" cy="2952214"/>
          </a:xfrm>
          <a:prstGeom prst="rect">
            <a:avLst/>
          </a:prstGeom>
        </p:spPr>
      </p:pic>
      <p:pic>
        <p:nvPicPr>
          <p:cNvPr id="5" name="Picture 4" descr="hall_descend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144" y="1559700"/>
            <a:ext cx="5245592" cy="29522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91456"/>
            <a:ext cx="524559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8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BEFORE  ·  응축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천장에서 한 줄기로 쏟아져 내린다. 색동 소매만 색을 가진다.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44" y="4791456"/>
            <a:ext cx="524559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8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AFTER  ·  전개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공간 전체로 부챗살처럼 벌어진다. 얼굴들이 한꺼번에 드러나는 컷.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5394960"/>
            <a:ext cx="10765505" cy="992632"/>
          </a:xfrm>
          <a:prstGeom prst="rect">
            <a:avLst/>
          </a:prstGeom>
          <a:solidFill>
            <a:srgbClr val="080607">
              <a:alpha val="6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5614416"/>
            <a:ext cx="10326593" cy="553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VFX 스코프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동일 세트 · 동일 카메라 위치에서 원혼 덩어리의 볼륨만 단계적으로 확장한다.
실물 의상과 배우 연기를 베이스로 덩어리만 CG로 증식시키는 구조 — 촬영 회차를 늘리지 않고 스케일을 확보하는 설계다.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ly_white.jpg"/>
          <p:cNvPicPr>
            <a:picLocks noChangeAspect="1"/>
          </p:cNvPicPr>
          <p:nvPr/>
        </p:nvPicPr>
        <p:blipFill>
          <a:blip r:embed="rId2"/>
          <a:srcRect l="2168" r="2168"/>
          <a:stretch>
            <a:fillRect/>
          </a:stretch>
        </p:blipFill>
        <p:spPr>
          <a:xfrm>
            <a:off x="5364466" y="0"/>
            <a:ext cx="682750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852145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87" y="0"/>
            <a:ext cx="3413751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17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ORIGIN OF THE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04672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디자인의 출발점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011680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초기 컨셉은 ‘업힌 원혼’ 하나로 시작했다.
흰 소복 · 붉은 부적 · 등에 매달린 사람들.</a:t>
            </a:r>
          </a:p>
          <a:p>
            <a:pPr algn="l">
              <a:lnSpc>
                <a:spcPct val="165000"/>
              </a:lnSpc>
              <a:spcBef>
                <a:spcPts val="140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이후 개발에서 세 가지가 확정되었다 — ① 흰 소복을 색동저고리로 바꿔
‘지키는 옷’이라는 반전 단서를 심었고, ② 업힌 원혼을 개체에서 유동하는
덩어리로 바꿔 하중을 시각화했으며, ③ 절룩이는 다리와 짚신으로
그 하중을 걸음걸이에 새겼다.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4754880"/>
            <a:ext cx="4572000" cy="1166926"/>
          </a:xfrm>
          <a:prstGeom prst="rect">
            <a:avLst/>
          </a:prstGeom>
          <a:solidFill>
            <a:srgbClr val="080607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974336"/>
            <a:ext cx="4133087" cy="7280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IP 관점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98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부적 · 색동 · 짚신 세 기호는 실루엣만으로 식별된다.
포스터 · 굿즈 · 게임 · 어트랙션까지 확장 가능한 캐릭터 자산이다.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ll_sweep.jpg"/>
          <p:cNvPicPr>
            <a:picLocks noChangeAspect="1"/>
          </p:cNvPicPr>
          <p:nvPr/>
        </p:nvPicPr>
        <p:blipFill>
          <a:blip r:embed="rId2"/>
          <a:srcRect t="33" b="2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vign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18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PALETTE &amp; KEYWORDS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컬러 팔레트 · 컨셉 키워드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011680"/>
            <a:ext cx="1133856" cy="1133856"/>
          </a:xfrm>
          <a:prstGeom prst="rect">
            <a:avLst/>
          </a:prstGeom>
          <a:solidFill>
            <a:srgbClr val="0F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236976"/>
            <a:ext cx="1133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#0F0E0E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칠흑</a:t>
            </a:r>
          </a:p>
        </p:txBody>
      </p:sp>
      <p:sp>
        <p:nvSpPr>
          <p:cNvPr id="9" name="Rectangle 8"/>
          <p:cNvSpPr/>
          <p:nvPr/>
        </p:nvSpPr>
        <p:spPr>
          <a:xfrm>
            <a:off x="2029967" y="2011680"/>
            <a:ext cx="1133856" cy="1133856"/>
          </a:xfrm>
          <a:prstGeom prst="rect">
            <a:avLst/>
          </a:prstGeom>
          <a:solidFill>
            <a:srgbClr val="353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9967" y="3236976"/>
            <a:ext cx="1133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#353434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6703" y="2011680"/>
            <a:ext cx="1133856" cy="1133856"/>
          </a:xfrm>
          <a:prstGeom prst="rect">
            <a:avLst/>
          </a:prstGeom>
          <a:solidFill>
            <a:srgbClr val="4B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6703" y="3236976"/>
            <a:ext cx="1133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#4B4844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마른 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011680"/>
            <a:ext cx="1133856" cy="1133856"/>
          </a:xfrm>
          <a:prstGeom prst="rect">
            <a:avLst/>
          </a:prstGeom>
          <a:solidFill>
            <a:srgbClr val="6F6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3236976"/>
            <a:ext cx="1133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#6F6357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젖은 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0175" y="2011680"/>
            <a:ext cx="1133856" cy="1133856"/>
          </a:xfrm>
          <a:prstGeom prst="rect">
            <a:avLst/>
          </a:prstGeom>
          <a:solidFill>
            <a:srgbClr val="C4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0175" y="3236976"/>
            <a:ext cx="1133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#C4B6A6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삼베·뼈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96911" y="2011680"/>
            <a:ext cx="1133856" cy="1133856"/>
          </a:xfrm>
          <a:prstGeom prst="rect">
            <a:avLst/>
          </a:prstGeom>
          <a:solidFill>
            <a:srgbClr val="A96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1" y="3236976"/>
            <a:ext cx="1133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#A9635C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빛바랜 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13647" y="2011680"/>
            <a:ext cx="1133856" cy="1133856"/>
          </a:xfrm>
          <a:prstGeom prst="rect">
            <a:avLst/>
          </a:prstGeom>
          <a:solidFill>
            <a:srgbClr val="5F6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7" y="3236976"/>
            <a:ext cx="1133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#5F686A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색동의 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30383" y="2011680"/>
            <a:ext cx="1133856" cy="1133856"/>
          </a:xfrm>
          <a:prstGeom prst="rect">
            <a:avLst/>
          </a:prstGeom>
          <a:solidFill>
            <a:srgbClr val="8A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30383" y="3236976"/>
            <a:ext cx="1133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#8A443B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핏빛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4133087"/>
            <a:ext cx="10765505" cy="7620"/>
          </a:xfrm>
          <a:prstGeom prst="rect">
            <a:avLst/>
          </a:prstGeom>
          <a:solidFill>
            <a:srgbClr val="ECE6D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443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컨셉 키워드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원한   ·   저주   ·   무거움   ·   억압   ·   끌려다님   ·   구속   ·   공포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61441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무채색 위에 단 두 개의 채도 — 색동의 ‘청’과 부적의 ‘홍’. 화면에서 색을 가진 것은 「그것」뿐이며, 그 색은 모두 ‘지키기 위한 색’이다.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hospital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vign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1076550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19</a:t>
            </a:r>
            <a:r>
              <a:rPr sz="950" b="1" spc="18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   BLOODLINE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04672"/>
            <a:ext cx="1076550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핏줄의 계보 — 「그것」이 따라온 길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2212848"/>
            <a:ext cx="91440" cy="91440"/>
          </a:xfrm>
          <a:prstGeom prst="ellipse">
            <a:avLst/>
          </a:prstGeom>
          <a:solidFill>
            <a:srgbClr val="B7AD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487168"/>
            <a:ext cx="151993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6DA"/>
                </a:solidFill>
                <a:latin typeface="Cambria"/>
                <a:ea typeface="Malgun Gothic"/>
                <a:cs typeface="Malgun Gothic"/>
              </a:rPr>
              <a:t>1582</a:t>
            </a:r>
          </a:p>
          <a:p>
            <a:pPr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1" i="0" spc="80">
                <a:solidFill>
                  <a:srgbClr val="8A443B"/>
                </a:solidFill>
                <a:latin typeface="Malgun Gothic"/>
                <a:ea typeface="Malgun Gothic"/>
                <a:cs typeface="Malgun Gothic"/>
              </a:rPr>
              <a:t>조선 · 평양</a:t>
            </a:r>
          </a:p>
          <a:p>
            <a:pPr algn="l"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처형장의 망나니.
피와 원망이 땅에 쌓인다.</a:t>
            </a:r>
          </a:p>
        </p:txBody>
      </p:sp>
      <p:sp>
        <p:nvSpPr>
          <p:cNvPr id="9" name="Oval 8"/>
          <p:cNvSpPr/>
          <p:nvPr/>
        </p:nvSpPr>
        <p:spPr>
          <a:xfrm>
            <a:off x="2507482" y="2212848"/>
            <a:ext cx="91440" cy="91440"/>
          </a:xfrm>
          <a:prstGeom prst="ellipse">
            <a:avLst/>
          </a:prstGeom>
          <a:solidFill>
            <a:srgbClr val="B4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7482" y="2487168"/>
            <a:ext cx="151993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6DA"/>
                </a:solidFill>
                <a:latin typeface="Cambria"/>
                <a:ea typeface="Malgun Gothic"/>
                <a:cs typeface="Malgun Gothic"/>
              </a:rPr>
              <a:t>1587</a:t>
            </a:r>
          </a:p>
          <a:p>
            <a:pPr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1" i="0" spc="80">
                <a:solidFill>
                  <a:srgbClr val="8A443B"/>
                </a:solidFill>
                <a:latin typeface="Malgun Gothic"/>
                <a:ea typeface="Malgun Gothic"/>
                <a:cs typeface="Malgun Gothic"/>
              </a:rPr>
              <a:t>굿판</a:t>
            </a:r>
          </a:p>
          <a:p>
            <a:pPr algn="l"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무당이 노모의 시신을
부적으로 봉인한다.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4301733" y="2212848"/>
            <a:ext cx="91440" cy="91440"/>
          </a:xfrm>
          <a:prstGeom prst="ellipse">
            <a:avLst/>
          </a:prstGeom>
          <a:solidFill>
            <a:srgbClr val="B7AD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1733" y="2487168"/>
            <a:ext cx="151993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6DA"/>
                </a:solidFill>
                <a:latin typeface="Cambria"/>
                <a:ea typeface="Malgun Gothic"/>
                <a:cs typeface="Malgun Gothic"/>
              </a:rPr>
              <a:t>1945</a:t>
            </a:r>
          </a:p>
          <a:p>
            <a:pPr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1" i="0" spc="80">
                <a:solidFill>
                  <a:srgbClr val="8A443B"/>
                </a:solidFill>
                <a:latin typeface="Malgun Gothic"/>
                <a:ea typeface="Malgun Gothic"/>
                <a:cs typeface="Malgun Gothic"/>
              </a:rPr>
              <a:t>일제강점기</a:t>
            </a:r>
          </a:p>
          <a:p>
            <a:pPr algn="l"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순사 백동필.
제복을 입고 동족을 벤다.</a:t>
            </a:r>
          </a:p>
        </p:txBody>
      </p:sp>
      <p:sp>
        <p:nvSpPr>
          <p:cNvPr id="13" name="Oval 12"/>
          <p:cNvSpPr/>
          <p:nvPr/>
        </p:nvSpPr>
        <p:spPr>
          <a:xfrm>
            <a:off x="6095984" y="2212848"/>
            <a:ext cx="91440" cy="91440"/>
          </a:xfrm>
          <a:prstGeom prst="ellipse">
            <a:avLst/>
          </a:prstGeom>
          <a:solidFill>
            <a:srgbClr val="B7AD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984" y="2487168"/>
            <a:ext cx="151993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6DA"/>
                </a:solidFill>
                <a:latin typeface="Cambria"/>
                <a:ea typeface="Malgun Gothic"/>
                <a:cs typeface="Malgun Gothic"/>
              </a:rPr>
              <a:t>1984</a:t>
            </a:r>
          </a:p>
          <a:p>
            <a:pPr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1" i="0" spc="80">
                <a:solidFill>
                  <a:srgbClr val="8A443B"/>
                </a:solidFill>
                <a:latin typeface="Malgun Gothic"/>
                <a:ea typeface="Malgun Gothic"/>
                <a:cs typeface="Malgun Gothic"/>
              </a:rPr>
              <a:t>일본 오사카</a:t>
            </a:r>
          </a:p>
          <a:p>
            <a:pPr algn="l"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사형집행관 백종문.
버튼으로 사람을 죽인다.</a:t>
            </a:r>
          </a:p>
        </p:txBody>
      </p:sp>
      <p:sp>
        <p:nvSpPr>
          <p:cNvPr id="15" name="Oval 14"/>
          <p:cNvSpPr/>
          <p:nvPr/>
        </p:nvSpPr>
        <p:spPr>
          <a:xfrm>
            <a:off x="7890235" y="2212848"/>
            <a:ext cx="91440" cy="91440"/>
          </a:xfrm>
          <a:prstGeom prst="ellipse">
            <a:avLst/>
          </a:prstGeom>
          <a:solidFill>
            <a:srgbClr val="B7AD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0235" y="2487168"/>
            <a:ext cx="151993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6DA"/>
                </a:solidFill>
                <a:latin typeface="Cambria"/>
                <a:ea typeface="Malgun Gothic"/>
                <a:cs typeface="Malgun Gothic"/>
              </a:rPr>
              <a:t>2011</a:t>
            </a:r>
          </a:p>
          <a:p>
            <a:pPr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1" i="0" spc="80">
                <a:solidFill>
                  <a:srgbClr val="8A443B"/>
                </a:solidFill>
                <a:latin typeface="Malgun Gothic"/>
                <a:ea typeface="Malgun Gothic"/>
                <a:cs typeface="Malgun Gothic"/>
              </a:rPr>
              <a:t>일본 후쿠오카</a:t>
            </a:r>
          </a:p>
          <a:p>
            <a:pPr algn="l"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산부인과 의사 슈.
생명을 지우며 산다.</a:t>
            </a:r>
          </a:p>
        </p:txBody>
      </p:sp>
      <p:sp>
        <p:nvSpPr>
          <p:cNvPr id="17" name="Oval 16"/>
          <p:cNvSpPr/>
          <p:nvPr/>
        </p:nvSpPr>
        <p:spPr>
          <a:xfrm>
            <a:off x="9684486" y="2212848"/>
            <a:ext cx="91440" cy="91440"/>
          </a:xfrm>
          <a:prstGeom prst="ellipse">
            <a:avLst/>
          </a:prstGeom>
          <a:solidFill>
            <a:srgbClr val="B4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84486" y="2487168"/>
            <a:ext cx="151993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6DA"/>
                </a:solidFill>
                <a:latin typeface="Cambria"/>
                <a:ea typeface="Malgun Gothic"/>
                <a:cs typeface="Malgun Gothic"/>
              </a:rPr>
              <a:t>현재</a:t>
            </a:r>
          </a:p>
          <a:p>
            <a:pPr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1" i="0" spc="80">
                <a:solidFill>
                  <a:srgbClr val="8A443B"/>
                </a:solidFill>
                <a:latin typeface="Malgun Gothic"/>
                <a:ea typeface="Malgun Gothic"/>
                <a:cs typeface="Malgun Gothic"/>
              </a:rPr>
              <a:t>그리고 하루마</a:t>
            </a:r>
          </a:p>
          <a:p>
            <a:pPr algn="l"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93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핏줄이 끊긴 자리에
저주가 되돌아온다.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" y="2253996"/>
            <a:ext cx="9016974" cy="7620"/>
          </a:xfrm>
          <a:prstGeom prst="rect">
            <a:avLst/>
          </a:prstGeom>
          <a:solidFill>
            <a:srgbClr val="ECE6D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828032"/>
            <a:ext cx="10765505" cy="1011173"/>
          </a:xfrm>
          <a:prstGeom prst="rect">
            <a:avLst/>
          </a:prstGeom>
          <a:solidFill>
            <a:srgbClr val="080607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047488"/>
            <a:ext cx="10326593" cy="57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왜 이 계보가 중요한가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네 세대 모두 ‘사람을 죽이는 직업’을 가졌다. 칼 → 제복 → 버튼 → 메스. 도구는 문명화되었지만 행위는 같다. 「그것」은 그 사실을 400년 동안 한 번도 놓치지 않고 지켜본 유일한 목격자다.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y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956" y="0"/>
            <a:ext cx="5755910" cy="6858000"/>
          </a:xfrm>
          <a:prstGeom prst="rect">
            <a:avLst/>
          </a:prstGeom>
        </p:spPr>
      </p:pic>
      <p:pic>
        <p:nvPicPr>
          <p:cNvPr id="3" name="Picture 2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269" y="0"/>
            <a:ext cx="365759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181" y="187451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320">
                <a:solidFill>
                  <a:srgbClr val="B4231A"/>
                </a:solidFill>
                <a:latin typeface="Cambria"/>
                <a:ea typeface="Malgun Gothic"/>
                <a:cs typeface="Malgun Gothic"/>
              </a:rPr>
              <a:t>KEY 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81" y="2304288"/>
            <a:ext cx="44805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spc="20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罪 · 血 · 記憶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 i="0" spc="24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죄 · 피 · 기억</a:t>
            </a:r>
          </a:p>
          <a:p>
            <a:pPr algn="l">
              <a:lnSpc>
                <a:spcPct val="165000"/>
              </a:lnSpc>
              <a:spcBef>
                <a:spcPts val="1800"/>
              </a:spcBef>
              <a:spcAft>
                <a:spcPts val="0"/>
              </a:spcAft>
            </a:pPr>
            <a:r>
              <a:rPr sz="11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티저 키아트는 「그것」을 정면으로 보여주지 않는다.
짚신, 색동 자락, 부적, 그리고 벽에 새겨진 세 글자.
관객이 조립하게 만드는 방식으로 캐릭터를 노출한다.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81" y="512064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赫血  KAKKETSU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각본 · 감독  한동하   |   제작  WALLAH PROJECT + SUPERNOVA STUDIOS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81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neel_closeup.jpg"/>
          <p:cNvPicPr>
            <a:picLocks noChangeAspect="1"/>
          </p:cNvPicPr>
          <p:nvPr/>
        </p:nvPicPr>
        <p:blipFill>
          <a:blip r:embed="rId2"/>
          <a:srcRect t="28921" b="28921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vign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2103120"/>
            <a:ext cx="8412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spc="-5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“저주는 사라진 것이 아니다.
다만, 형태를 바꿨을 뿐이다.”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3913632"/>
            <a:ext cx="1828800" cy="7620"/>
          </a:xfrm>
          <a:prstGeom prst="rect">
            <a:avLst/>
          </a:prstGeom>
          <a:solidFill>
            <a:srgbClr val="ECE6D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4224528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캐릭터</a:t>
            </a:r>
          </a:p>
          <a:p>
            <a:pPr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룩 C(색동) 기준 확정 · 실물 의상 제작 · 배우 캐스팅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4224528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VFX</a:t>
            </a:r>
          </a:p>
          <a:p>
            <a:pPr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원혼 덩어리 시뮬레이션 파일럿 (대청 시퀀스 30초)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4112" y="4224528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B4231A"/>
                </a:solidFill>
                <a:latin typeface="Malgun Gothic"/>
                <a:ea typeface="Malgun Gothic"/>
                <a:cs typeface="Malgun Gothic"/>
              </a:rPr>
              <a:t>자료</a:t>
            </a:r>
          </a:p>
          <a:p>
            <a:pPr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B7AD9F"/>
                </a:solidFill>
                <a:latin typeface="Malgun Gothic"/>
                <a:ea typeface="Malgun Gothic"/>
                <a:cs typeface="Malgun Gothic"/>
              </a:rPr>
              <a:t>일본 투자사 제출용 버전 — 문화 주석 확장판 (8월 말)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68112"/>
            <a:ext cx="10765505" cy="7620"/>
          </a:xfrm>
          <a:prstGeom prst="rect">
            <a:avLst/>
          </a:prstGeom>
          <a:solidFill>
            <a:srgbClr val="ECE6D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6692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60">
                <a:solidFill>
                  <a:srgbClr val="ECE6DA"/>
                </a:solidFill>
                <a:latin typeface="Malgun Gothic"/>
                <a:ea typeface="Malgun Gothic"/>
                <a:cs typeface="Malgun Gothic"/>
              </a:rPr>
              <a:t>赫血  KAKKETSU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8A8176"/>
                </a:solidFill>
                <a:latin typeface="Malgun Gothic"/>
                <a:ea typeface="Malgun Gothic"/>
                <a:cs typeface="Malgun Gothic"/>
              </a:rPr>
              <a:t>WALLAH PROJECT  ×  SUPERNOVA STUDIOS   |   각본 · 감독  한동하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1137" y="56692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40">
                <a:solidFill>
                  <a:srgbClr val="6E665D"/>
                </a:solidFill>
                <a:latin typeface="Cambria"/>
                <a:ea typeface="Malgun Gothic"/>
                <a:cs typeface="Malgun Gothic"/>
              </a:rPr>
              <a:t>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20">
                <a:solidFill>
                  <a:srgbClr val="6E665D"/>
                </a:solidFill>
                <a:latin typeface="Malgun Gothic"/>
                <a:ea typeface="Malgun Gothic"/>
                <a:cs typeface="Malgun Gothic"/>
              </a:rPr>
              <a:t>赫血 KAKKETSU   ·   「그것」封神 캐릭터 컨셉 레퍼런스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8A8176"/>
                </a:solidFill>
                <a:latin typeface="Cambria"/>
                <a:ea typeface="Malgun Gothic"/>
                <a:cs typeface="Malgun Gothic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