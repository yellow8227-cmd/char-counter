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9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87" r:id="rId24"/>
    <p:sldId id="288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4" userDrawn="1">
          <p15:clr>
            <a:srgbClr val="A4A3A4"/>
          </p15:clr>
        </p15:guide>
        <p15:guide id="1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7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29" Type="http://schemas.openxmlformats.org/officeDocument/2006/relationships/slide" Target="slides/slide14.xml"></Relationship><Relationship Id="rId30" Type="http://schemas.openxmlformats.org/officeDocument/2006/relationships/slide" Target="slides/slide15.xml"></Relationship><Relationship Id="rId31" Type="http://schemas.openxmlformats.org/officeDocument/2006/relationships/slide" Target="slides/slide16.xml"></Relationship><Relationship Id="rId32" Type="http://schemas.openxmlformats.org/officeDocument/2006/relationships/slide" Target="slides/slide17.xml"></Relationship><Relationship Id="rId33" Type="http://schemas.openxmlformats.org/officeDocument/2006/relationships/slide" Target="slides/slide18.xml"></Relationship><Relationship Id="rId34" Type="http://schemas.openxmlformats.org/officeDocument/2006/relationships/slide" Target="slides/slide19.xml"></Relationship><Relationship Id="rId35" Type="http://schemas.openxmlformats.org/officeDocument/2006/relationships/slide" Target="slides/slide20.xml"></Relationship><Relationship Id="rId36" Type="http://schemas.openxmlformats.org/officeDocument/2006/relationships/slide" Target="slides/slide21.xml"></Relationship><Relationship Id="rId37" Type="http://schemas.openxmlformats.org/officeDocument/2006/relationships/slide" Target="slides/slide22.xml"></Relationship><Relationship Id="rId38" Type="http://schemas.openxmlformats.org/officeDocument/2006/relationships/slide" Target="slides/slide23.xml"></Relationship><Relationship Id="rId39" Type="http://schemas.openxmlformats.org/officeDocument/2006/relationships/slide" Target="slides/slide24.xml"></Relationship><Relationship Id="rId40" Type="http://schemas.openxmlformats.org/officeDocument/2006/relationships/slide" Target="slides/slide25.xml"></Relationship><Relationship Id="rId41" Type="http://schemas.openxmlformats.org/officeDocument/2006/relationships/slide" Target="slides/slide26.xml"></Relationship><Relationship Id="rId42" Type="http://schemas.openxmlformats.org/officeDocument/2006/relationships/slide" Target="slides/slide27.xml"></Relationship><Relationship Id="rId43" Type="http://schemas.openxmlformats.org/officeDocument/2006/relationships/slide" Target="slides/slide28.xml"></Relationship><Relationship Id="rId44" Type="http://schemas.openxmlformats.org/officeDocument/2006/relationships/slide" Target="slides/slide29.xml"></Relationship><Relationship Id="rId45" Type="http://schemas.openxmlformats.org/officeDocument/2006/relationships/slide" Target="slides/slide30.xml"></Relationship><Relationship Id="rId46" Type="http://schemas.openxmlformats.org/officeDocument/2006/relationships/slide" Target="slides/slide31.xml"></Relationship><Relationship Id="rId47" Type="http://schemas.openxmlformats.org/officeDocument/2006/relationships/slide" Target="slides/slide32.xml"></Relationship><Relationship Id="rId48" Type="http://schemas.openxmlformats.org/officeDocument/2006/relationships/slide" Target="slides/slide33.xml"></Relationship><Relationship Id="rId49" Type="http://schemas.openxmlformats.org/officeDocument/2006/relationships/viewProps" Target="viewProps.xml"></Relationship><Relationship Id="rId50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otion.so/3a1512c1cf3681109947c2ef72100f9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hyperlink" Target="https://www.notion.so/3d1512c1cf3681a29d9fd090407c1f2d" TargetMode="External"/><Relationship Id="rId6" Type="http://schemas.openxmlformats.org/officeDocument/2006/relationships/hyperlink" Target="https://www.notion.so/3d1512c1cf3681a29d9fd090407c1f2d" TargetMode="External"/><Relationship Id="rId7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hyperlink" Target="https://lookback-4cut.netlify.app" TargetMode="External"/><Relationship Id="rId7" Type="http://schemas.openxmlformats.org/officeDocument/2006/relationships/image" Target="../media/image16.png"/><Relationship Id="rId8" Type="http://schemas.openxmlformats.org/officeDocument/2006/relationships/hyperlink" Target="https://lookback-4cut.netlify.app/intro" TargetMode="External"/><Relationship Id="rId9" Type="http://schemas.microsoft.com/office/2007/relationships/media" Target="../media/media1.mp4"/><Relationship Id="rId10" Type="http://schemas.openxmlformats.org/officeDocument/2006/relationships/video" Target="../media/media1.mp4"/><Relationship Id="rId11" Type="http://schemas.openxmlformats.org/officeDocument/2006/relationships/image" Target="../media/image9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series.naver.com/search/search.series?t=all&amp;fs=comic&amp;q=FUJIMOTO+Tatsuki" TargetMode="External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notion.so/3d1512c1cf3681a29d9fd090407c1f2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png"/><Relationship Id="rId6" Type="http://schemas.openxmlformats.org/officeDocument/2006/relationships/hyperlink" Target="https://www.notion.so/3a1512c1cf3681c29238e30a74bd967c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youtu.be/NtN9LgZwzNw" TargetMode="Externa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png"/><Relationship Id="rId6" Type="http://schemas.openxmlformats.org/officeDocument/2006/relationships/hyperlink" Target="https://www.notion.so/3ae512c1cf3681c6b1d1ef754adee394" TargetMode="External"/><Relationship Id="rId7" Type="http://schemas.openxmlformats.org/officeDocument/2006/relationships/hyperlink" Target="https://www.notion.so/3ae512c1cf3681c6b1d1ef754adee394" TargetMode="External"/><Relationship Id="rId8" Type="http://schemas.openxmlformats.org/officeDocument/2006/relationships/slideLayout" Target="../slideLayouts/slideLayout7.xml"/><Relationship Id="rId9" Type="http://schemas.openxmlformats.org/officeDocument/2006/relationships/image" Target="../media/image9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image32.jpg"></Relationship><Relationship Id="rId3" Type="http://schemas.openxmlformats.org/officeDocument/2006/relationships/image" Target="../media/image33.jpg"></Relationship><Relationship Id="rId4" Type="http://schemas.openxmlformats.org/officeDocument/2006/relationships/image" Target="../media/image34.jpg"></Relationship><Relationship Id="rId5" Type="http://schemas.openxmlformats.org/officeDocument/2006/relationships/image" Target="../media/image35.jpg"></Relationship><Relationship Id="rId6" Type="http://schemas.openxmlformats.org/officeDocument/2006/relationships/image" Target="../media/image36.jpg"></Relationship><Relationship Id="rId7" Type="http://schemas.openxmlformats.org/officeDocument/2006/relationships/image" Target="../media/image37.jpg"></Relationship><Relationship Id="rId8" Type="http://schemas.openxmlformats.org/officeDocument/2006/relationships/image" Target="../media/image38.jpg"></Relationship><Relationship Id="rId9" Type="http://schemas.openxmlformats.org/officeDocument/2006/relationships/image" Target="../media/image39.jpg"></Relationship><Relationship Id="rId10" Type="http://schemas.openxmlformats.org/officeDocument/2006/relationships/hyperlink" Target="https://youtu.be/NtN9LgZwzNw" TargetMode="External"></Relationship><Relationship Id="rId11" Type="http://schemas.openxmlformats.org/officeDocument/2006/relationships/image" Target="../media/image97.png"></Relationship><Relationship Id="rId12" Type="http://schemas.openxmlformats.org/officeDocument/2006/relationships/hyperlink" Target="https://youtu.be/NtN9LgZwzNw" TargetMode="External"></Relationship><Relationship Id="rId13" Type="http://schemas.openxmlformats.org/officeDocument/2006/relationships/slideLayout" Target="../slideLayouts/slideLayout7.xml"></Relationship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24.png"/><Relationship Id="rId5" Type="http://schemas.openxmlformats.org/officeDocument/2006/relationships/hyperlink" Target="https://www.notion.so/3a1512c1cf3681c29238e30a74bd967c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png"/><Relationship Id="rId7" Type="http://schemas.openxmlformats.org/officeDocument/2006/relationships/hyperlink" Target="https://www.notion.so/3a1512c1cf36811f8975ec5c46679aac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png"/><Relationship Id="rId6" Type="http://schemas.openxmlformats.org/officeDocument/2006/relationships/hyperlink" Target="https://www.notion.so/3a1512c1cf368156ab80ebf446c15968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hyperlink" Target="https://www.notion.so/3a1512c1cf368156ab80ebf446c15968" TargetMode="External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png"/><Relationship Id="rId8" Type="http://schemas.openxmlformats.org/officeDocument/2006/relationships/hyperlink" Target="https://www.instagram.com/reel/DSmrZ9qiRvC/" TargetMode="External"/><Relationship Id="rId9" Type="http://schemas.openxmlformats.org/officeDocument/2006/relationships/image" Target="../media/image55.jpg"/><Relationship Id="rId10" Type="http://schemas.openxmlformats.org/officeDocument/2006/relationships/image" Target="../media/image56.jpg"/><Relationship Id="rId11" Type="http://schemas.openxmlformats.org/officeDocument/2006/relationships/image" Target="../media/image5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image" Target="../media/image58.png"/><Relationship Id="rId3" Type="http://schemas.openxmlformats.org/officeDocument/2006/relationships/hyperlink" Target="https://www.notion.so/3a2512c1cf36812e8143e92263ef6ddf" TargetMode="External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hyperlink" Target="https://www.notion.so/3a2512c1cf36812e8143e92263ef6ddf" TargetMode="External"/><Relationship Id="rId7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jp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hyperlink" Target="https://www.notion.so/3a1512c1cf3681c8944cfae825805622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png"/><Relationship Id="rId8" Type="http://schemas.openxmlformats.org/officeDocument/2006/relationships/hyperlink" Target="https://www.notion.so/3a1512c1cf368119b850cff5b305a4d7" TargetMode="External"/><Relationship Id="rId9" Type="http://schemas.openxmlformats.org/officeDocument/2006/relationships/image" Target="../media/image71.png"/><Relationship Id="rId10" Type="http://schemas.openxmlformats.org/officeDocument/2006/relationships/hyperlink" Target="https://www.notion.so/3a1512c1cf3681b1a4a8efa37c68bb84" TargetMode="External"/><Relationship Id="rId11" Type="http://schemas.openxmlformats.org/officeDocument/2006/relationships/hyperlink" Target="https://www.notion.so/3a1512c1cf368119b850cff5b305a4d7" TargetMode="External"/><Relationship Id="rId12" Type="http://schemas.openxmlformats.org/officeDocument/2006/relationships/hyperlink" Target="https://www.notion.so/3a1512c1cf3681b1a4a8efa37c68bb84" TargetMode="External"/><Relationship Id="rId13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hyperlink" Target="https://yellow8227-cmd.github.io/char-counter/scenedeck/" TargetMode="External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hyperlink" Target="https://yellow8227-cmd.github.io/char-counter/" TargetMode="External"/><Relationship Id="rId8" Type="http://schemas.openxmlformats.org/officeDocument/2006/relationships/hyperlink" Target="https://yellow8227-cmd.github.io/char-counter/scenedeck/about.html" TargetMode="External"/><Relationship Id="rId9" Type="http://schemas.openxmlformats.org/officeDocument/2006/relationships/hyperlink" Target="https://yellow8227-cmd.github.io/char-counter/" TargetMode="External"/><Relationship Id="rId10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80.jpg"/><Relationship Id="rId7" Type="http://schemas.openxmlformats.org/officeDocument/2006/relationships/image" Target="../media/image81.jpg"/><Relationship Id="rId8" Type="http://schemas.openxmlformats.org/officeDocument/2006/relationships/image" Target="../media/image82.png"/><Relationship Id="rId9" Type="http://schemas.openxmlformats.org/officeDocument/2006/relationships/hyperlink" Target="https://www.notion.so/3a1512c1cf3681bc968cd08ba6242995" TargetMode="External"/><Relationship Id="rId10" Type="http://schemas.openxmlformats.org/officeDocument/2006/relationships/hyperlink" Target="https://www.notion.so/3a1512c1cf3681bc968cd08ba6242995" TargetMode="External"/><Relationship Id="rId1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image" Target="../media/image83.png"/><Relationship Id="rId3" Type="http://schemas.openxmlformats.org/officeDocument/2006/relationships/hyperlink" Target="https://jellimo.itch.io/jellimo" TargetMode="External"/><Relationship Id="rId4" Type="http://schemas.openxmlformats.org/officeDocument/2006/relationships/image" Target="../media/image84.png"/><Relationship Id="rId5" Type="http://schemas.openxmlformats.org/officeDocument/2006/relationships/hyperlink" Target="https://dashing-quokka-c37a8b.netlify.app/" TargetMode="External"/><Relationship Id="rId6" Type="http://schemas.openxmlformats.org/officeDocument/2006/relationships/image" Target="../media/image85.jpg"/><Relationship Id="rId7" Type="http://schemas.openxmlformats.org/officeDocument/2006/relationships/image" Target="../media/image86.jpg"/><Relationship Id="rId8" Type="http://schemas.openxmlformats.org/officeDocument/2006/relationships/image" Target="../media/image87.jpg"/><Relationship Id="rId9" Type="http://schemas.openxmlformats.org/officeDocument/2006/relationships/image" Target="../media/image88.jpg"/><Relationship Id="rId10" Type="http://schemas.openxmlformats.org/officeDocument/2006/relationships/image" Target="../media/image89.jpg"/><Relationship Id="rId11" Type="http://schemas.openxmlformats.org/officeDocument/2006/relationships/hyperlink" Target="https://jellimo.itch.io/jellimo" TargetMode="External"/><Relationship Id="rId12" Type="http://schemas.openxmlformats.org/officeDocument/2006/relationships/hyperlink" Target="https://dashing-quokka-c37a8b.netlify.app/" TargetMode="External"/><Relationship Id="rId13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tion.so/3d1512c1cf3681a29d9fd090407c1f2d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lookback-4cut.netlify.app" TargetMode="External"/><Relationship Id="rId5" Type="http://schemas.openxmlformats.org/officeDocument/2006/relationships/image" Target="../media/image15.png"/><Relationship Id="rId6" Type="http://schemas.openxmlformats.org/officeDocument/2006/relationships/hyperlink" Target="https://www.notion.so/3ae512c1cf3681c6b1d1ef754adee394" TargetMode="External"/><Relationship Id="rId7" Type="http://schemas.openxmlformats.org/officeDocument/2006/relationships/image" Target="../media/image28.png"/><Relationship Id="rId8" Type="http://schemas.openxmlformats.org/officeDocument/2006/relationships/hyperlink" Target="https://www.notion.so/3a1512c1cf3681c29238e30a74bd967c" TargetMode="External"/><Relationship Id="rId9" Type="http://schemas.openxmlformats.org/officeDocument/2006/relationships/image" Target="../media/image24.png"/><Relationship Id="rId10" Type="http://schemas.openxmlformats.org/officeDocument/2006/relationships/hyperlink" Target="https://www.notion.so/3a1512c1cf36811f8975ec5c46679aac" TargetMode="External"/><Relationship Id="rId11" Type="http://schemas.openxmlformats.org/officeDocument/2006/relationships/image" Target="../media/image46.png"/><Relationship Id="rId12" Type="http://schemas.openxmlformats.org/officeDocument/2006/relationships/hyperlink" Target="https://www.notion.so/3a1512c1cf3681b1a4a8efa37c68bb84" TargetMode="External"/><Relationship Id="rId13" Type="http://schemas.openxmlformats.org/officeDocument/2006/relationships/image" Target="../media/image71.png"/><Relationship Id="rId14" Type="http://schemas.openxmlformats.org/officeDocument/2006/relationships/hyperlink" Target="https://www.notion.so/3a1512c1cf368156ab80ebf446c15968" TargetMode="External"/><Relationship Id="rId15" Type="http://schemas.openxmlformats.org/officeDocument/2006/relationships/image" Target="../media/image50.png"/><Relationship Id="rId16" Type="http://schemas.openxmlformats.org/officeDocument/2006/relationships/hyperlink" Target="https://www.notion.so/3a2512c1cf36812e8143e92263ef6ddf" TargetMode="External"/><Relationship Id="rId17" Type="http://schemas.openxmlformats.org/officeDocument/2006/relationships/image" Target="../media/image58.png"/><Relationship Id="rId18" Type="http://schemas.openxmlformats.org/officeDocument/2006/relationships/hyperlink" Target="https://www.notion.so/3a1512c1cf3681c8944cfae825805622" TargetMode="External"/><Relationship Id="rId19" Type="http://schemas.openxmlformats.org/officeDocument/2006/relationships/image" Target="../media/image64.png"/><Relationship Id="rId20" Type="http://schemas.openxmlformats.org/officeDocument/2006/relationships/hyperlink" Target="https://www.notion.so/3a1512c1cf368119b850cff5b305a4d7" TargetMode="External"/><Relationship Id="rId21" Type="http://schemas.openxmlformats.org/officeDocument/2006/relationships/image" Target="../media/image70.png"/><Relationship Id="rId22" Type="http://schemas.openxmlformats.org/officeDocument/2006/relationships/hyperlink" Target="https://www.notion.so/3a1512c1cf3681bc968cd08ba6242995" TargetMode="External"/><Relationship Id="rId23" Type="http://schemas.openxmlformats.org/officeDocument/2006/relationships/image" Target="../media/image82.png"/><Relationship Id="rId24" Type="http://schemas.openxmlformats.org/officeDocument/2006/relationships/hyperlink" Target="https://www.notion.so/3a1512c1cf36813d89fbf47f7d8df397" TargetMode="External"/><Relationship Id="rId25" Type="http://schemas.openxmlformats.org/officeDocument/2006/relationships/image" Target="../media/image90.png"/></Relationships>
</file>

<file path=ppt/slides/_rels/slide33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hyperlink" Target="https://www.notion.so/3a1512c1cf3681109947c2ef72100f93" TargetMode="External"/><Relationship Id="rId4" Type="http://schemas.openxmlformats.org/officeDocument/2006/relationships/hyperlink" Target="https://www.notion.so/3a1512c1cf3681109947c2ef72100f93" TargetMode="External"/><Relationship Id="rId5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(RESUME)</a:t>
            </a:r>
          </a:p>
        </p:txBody>
      </p:sp>
      <p:pic>
        <p:nvPicPr>
          <p:cNvPr id="5" name="Picture 4" descr="avatar_rab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52144"/>
            <a:ext cx="1572768" cy="1572768"/>
          </a:xfrm>
          <a:prstGeom prst="roundRect">
            <a:avLst>
              <a:gd name="adj" fmla="val 50000"/>
            </a:avLst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843784" y="91440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60">
                <a:solidFill>
                  <a:srgbClr val="3A57CF"/>
                </a:solidFill>
                <a:latin typeface="Pretendard"/>
              </a:rPr>
              <a:t>네이버 시리즈 콘텐츠 기획 마케터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3784" y="118872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8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될 이야기를</a:t>
            </a:r>
          </a:p>
          <a:p>
            <a:pPr>
              <a:lnSpc>
                <a:spcPct val="120000"/>
              </a:lnSpc>
            </a:pPr>
            <a:r>
              <a:rPr sz="2500" b="1" spc="-8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팔리게 만드는</a:t>
            </a:r>
          </a:p>
          <a:p>
            <a:pPr>
              <a:lnSpc>
                <a:spcPct val="120000"/>
              </a:lnSpc>
            </a:pPr>
            <a:r>
              <a:rPr sz="25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정주원</a:t>
            </a:r>
            <a:r>
              <a:rPr sz="2500" b="1" spc="-8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090672"/>
            <a:ext cx="4343400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214"/>
                </a:solidFill>
                <a:latin typeface="Pretendard"/>
              </a:rPr>
              <a:t>정주원 (CHUNG JOOWON)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31335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214"/>
                </a:solidFill>
                <a:latin typeface="Pretendard"/>
              </a:rPr>
              <a:t>숭실대학교 문예창작 · 언론홍보 복수전공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00499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2026.08 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15383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214"/>
                </a:solidFill>
                <a:latin typeface="Pretendard"/>
              </a:rPr>
              <a:t>Instagram @travelcat_kami · 블로그 밥풀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62271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214"/>
                </a:solidFill>
                <a:latin typeface="Pretendard"/>
              </a:rPr>
              <a:t>Google Analytics 인증 · OPIc IM2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31435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2026.07 · 2026.04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56047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30367"/>
            <a:ext cx="19979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네이버 시리즈 찐팬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22391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1년 583회차 · 25편 읽음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찐팬 배지 17개 · 로맨스 230회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5230367"/>
            <a:ext cx="19933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아이템 발굴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5422391"/>
            <a:ext cx="19933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뉴스 한 줄 → 방송 2부작 편성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그 회차 2049 수도권 +43%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833871"/>
            <a:ext cx="19979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카피 창작 스킬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6025895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예고 헤드라인이 기사 제목으로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보도자료 주 3건 · 실제 기사로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5833871"/>
            <a:ext cx="19933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협찬 받는 인플루언서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6025895"/>
            <a:ext cx="19933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30일 20만 뷰 · 팔로워 3배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브랜드 컨택 13곳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969264"/>
            <a:ext cx="5361127" cy="5541264"/>
          </a:xfrm>
          <a:prstGeom prst="roundRect">
            <a:avLst>
              <a:gd name="adj" fmla="val 2400"/>
            </a:avLst>
          </a:prstGeom>
          <a:solidFill>
            <a:srgbClr val="FAFBFC"/>
          </a:solidFill>
          <a:ln w="10160">
            <a:solidFill>
              <a:srgbClr val="E8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129844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WORK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15727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채널A 〈금쪽같은 내새끼〉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1737360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방송작가 · 요즘 육아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18928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2024.09 – 2025.06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207568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MBC 〈라디오스타〉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4" y="224027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자료조사원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239572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2024.04 – 2024.06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267004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294436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일본만화 IP 〈룩 백〉 캠페인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310895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기획 · 디자인 · 개발 단독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32644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2026.08 – 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344728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크릭앤리버 콘텐츠 CREW 3기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361187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2팀 팀장 · 웹소설 영상화 기획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376732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2026.08 – 10 · 수료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39502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개인 SNS · 브랜드 협업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411479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소재 제작 · 채널 운영 · 컨택 13곳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427024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2025 – 2026.02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445312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영화 제작사 〈메타픽처스〉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2784" y="461771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한일합작 영화 프리프로덕션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77316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2026.06 – 진행 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495604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모바일 게임 〈해피플라이트〉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512063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메인 스토리 작가 · 기획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527608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2021.03 – 2022.12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129844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EDUCATION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15727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숭실대학교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70848" y="1737360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문예창작 · 언론홍보 복수전공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0848" y="18928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2026.08 졸업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0848" y="207568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MBC아카데미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0848" y="224027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96기 영화홍보마케팅 · 과대표 · 공로상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239572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2026.04 – 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25786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손종훈 아카데미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274319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구성작가 20기 B반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0848" y="289864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2024.02 – 2024.09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0848" y="308152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한국방송작가협회 교육원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0848" y="324611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67 · 68기 연수반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0848" y="340156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2023.05 – 2024.04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70848" y="358444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MBC아카데미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374903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83기 드라마작가 기초반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0848" y="390448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2022.01 – 2023.03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0848" y="408736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패스트캠퍼스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0848" y="4251959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55B63"/>
                </a:solidFill>
                <a:latin typeface="Pretendard"/>
              </a:rPr>
              <a:t>Midjourney &amp; Runway AI 영상 · 수료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70848" y="4407407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2026.07 – 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70848" y="4645151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SKILL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70848" y="4919471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B5158"/>
                </a:solidFill>
                <a:latin typeface="Pretendard"/>
              </a:rPr>
              <a:t>카피 · 소재 기획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88752" y="4965191"/>
            <a:ext cx="530352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88752" y="4965191"/>
            <a:ext cx="503834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70848" y="5111495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B5158"/>
                </a:solidFill>
                <a:latin typeface="Pretendard"/>
              </a:rPr>
              <a:t>아이템 발굴 · 리서치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8752" y="5157215"/>
            <a:ext cx="530352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88752" y="5157215"/>
            <a:ext cx="477316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70848" y="5303519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B5158"/>
                </a:solidFill>
                <a:latin typeface="Pretendard"/>
              </a:rPr>
              <a:t>Photoshop · Illustrator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88752" y="5349239"/>
            <a:ext cx="530352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88752" y="5349239"/>
            <a:ext cx="450799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70848" y="5495543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B5158"/>
                </a:solidFill>
                <a:latin typeface="Pretendard"/>
              </a:rPr>
              <a:t>AI 이미지 · 영상 · 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88752" y="5541263"/>
            <a:ext cx="530352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88752" y="5541263"/>
            <a:ext cx="466709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72784" y="5797296"/>
            <a:ext cx="4556455" cy="731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229990" y="5900806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home_res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5943600"/>
            <a:ext cx="475488" cy="47548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931152" y="5980176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노션 포트폴리오 링크 바로가기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31152" y="6190488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프로젝트 9건 · AI 워크플로우 · 증서 원본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만화 한 편을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캠페인 하나로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584"/>
            <a:ext cx="45720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191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#룩백캠페인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442112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후지모토 타츠키 〈룩 백〉 · 네이버 시리즈 평점 9.9 · 다운로드 8천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478688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2026.10.08 실사영화 개봉 · 국내 수입 · 배급 메가박스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" y="515264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제안서 33장 · 굿즈 16종 · 팝업 도면 12존 · 웹게임 · 부스 목업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551840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8주 · 기획 · 디자인 · 개발 단독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455" y="2395728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93776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① 발굴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8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「이건 나중에 </a:t>
            </a:r>
            <a:r>
              <a:rPr sz="25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극장판으로 꼭 영상화</a:t>
            </a:r>
            <a:r>
              <a:rPr sz="2500" b="1" spc="-8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되었으면..」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264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2023년 2월에 달린 네이버 시리즈 BEST 댓글입니다. 3년 뒤인 2026년 10월 8일, 실제로 개봉합니다.</a:t>
            </a:r>
          </a:p>
        </p:txBody>
      </p:sp>
      <p:pic>
        <p:nvPicPr>
          <p:cNvPr id="7" name="Picture 6" descr="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75104"/>
            <a:ext cx="2181246" cy="3108960"/>
          </a:xfrm>
          <a:prstGeom prst="rect">
            <a:avLst/>
          </a:prstGeom>
          <a:effectLst>
            <a:outerShdw blurRad="3048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60120" y="5230368"/>
            <a:ext cx="32785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공식 포스터 · 2026.10.08 개봉</a:t>
            </a:r>
          </a:p>
        </p:txBody>
      </p:sp>
      <p:pic>
        <p:nvPicPr>
          <p:cNvPr id="9" name="Picture 8" descr="series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854" y="1975104"/>
            <a:ext cx="7614720" cy="1972943"/>
          </a:xfrm>
          <a:prstGeom prst="rect">
            <a:avLst/>
          </a:prstGeom>
          <a:ln w="9525">
            <a:solidFill>
              <a:srgbClr val="E4E7E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16854" y="4076063"/>
            <a:ext cx="761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네이버 시리즈 작품 페이지 · 2026.09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6854" y="4496687"/>
            <a:ext cx="226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spc="-120">
                <a:solidFill>
                  <a:srgbClr val="3A57CF"/>
                </a:solidFill>
                <a:latin typeface="Pretendard"/>
              </a:rPr>
              <a:t>9.9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6854" y="4990463"/>
            <a:ext cx="2263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시리즈 평점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854" y="5191631"/>
            <a:ext cx="226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읽은 사람은 거의 다 만족했습니다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8790" y="4551551"/>
            <a:ext cx="7315" cy="768096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5094" y="4496687"/>
            <a:ext cx="226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spc="-120">
                <a:solidFill>
                  <a:srgbClr val="B4632F"/>
                </a:solidFill>
                <a:latin typeface="Pretendard"/>
              </a:rPr>
              <a:t>8천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5094" y="4990463"/>
            <a:ext cx="2263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다운로드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5094" y="5191631"/>
            <a:ext cx="226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지금까지 총 8천 명이 봤습니다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7030" y="4551551"/>
            <a:ext cx="7315" cy="768096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3334" y="4496687"/>
            <a:ext cx="226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spc="-120">
                <a:solidFill>
                  <a:srgbClr val="111214"/>
                </a:solidFill>
                <a:latin typeface="Pretendard"/>
              </a:rPr>
              <a:t>10.08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3334" y="4990463"/>
            <a:ext cx="2263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실사영화 개봉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3334" y="5191631"/>
            <a:ext cx="226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고레에다 히로카즈 · 베니스 경쟁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614416"/>
            <a:ext cx="10271455" cy="1060704"/>
          </a:xfrm>
          <a:prstGeom prst="roundRect">
            <a:avLst>
              <a:gd name="adj" fmla="val 3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779007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2B409A"/>
                </a:solidFill>
                <a:latin typeface="Pretendard"/>
              </a:rPr>
              <a:t>독자가 남긴 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2615" y="5779007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48A93"/>
                </a:solidFill>
                <a:latin typeface="Pretendard"/>
              </a:rPr>
              <a:t>전체 댓글 61개 · BEST 댓글에서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980176"/>
            <a:ext cx="293004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「후지노가 만화를 그린 이유는 쿄모토였다.」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6437376"/>
            <a:ext cx="2930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sehy****  ·  추천 74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5998464"/>
            <a:ext cx="7315" cy="493776"/>
          </a:xfrm>
          <a:prstGeom prst="rect">
            <a:avLst/>
          </a:prstGeom>
          <a:solidFill>
            <a:srgbClr val="D3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5980176"/>
            <a:ext cx="293004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「1화의 악마가 1화밖에 없는 단편을 쓰면 일어나는 일」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6437376"/>
            <a:ext cx="2930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apol****  ·  추천 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70012" y="5998464"/>
            <a:ext cx="7315" cy="493776"/>
          </a:xfrm>
          <a:prstGeom prst="rect">
            <a:avLst/>
          </a:prstGeom>
          <a:solidFill>
            <a:srgbClr val="D3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6316" y="5980176"/>
            <a:ext cx="293004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「꼭 영화도 보십쇼... 후회 안합니다..」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6316" y="6437376"/>
            <a:ext cx="2930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pmh0****  ·  추천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9403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② 기획 · 캠페인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566928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일본만화 IP 캠페인 · 개인 기획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2555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만화 한 편을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굿즈 · 공간 · 게임</a:t>
            </a: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으로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14270"/>
            <a:ext cx="53949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〈룩 백〉(후지모토 타츠키 원작) 관객 참여 캠페인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4287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2026.08 – 09 · 기획 · 디자인 · 개발 단독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9054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28670"/>
            <a:ext cx="10134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99790"/>
            <a:ext cx="10134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IP 마케팅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8520" y="3328670"/>
            <a:ext cx="7975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8520" y="3399790"/>
            <a:ext cx="79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멀티유스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655" y="3328670"/>
            <a:ext cx="1120775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655" y="3399790"/>
            <a:ext cx="11207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참여형 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430"/>
            <a:ext cx="5029835" cy="119507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64000"/>
              </a:lnSpc>
              <a:buFontTx/>
              <a:buNone/>
            </a:pP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〈룩 백〉 애니메이션판 국내 관객 32만. 같은 작가 후지모토 타츠키의 〈체인소 맨 : 레제편〉은 300만. 작품이 약한 게 아니라 </a:t>
            </a:r>
            <a:r>
              <a:rPr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본 사람이 적었다고 봤습니다</a:t>
            </a: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0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64000"/>
              </a:lnSpc>
              <a:spcBef>
                <a:spcPts val="1067"/>
              </a:spcBef>
              <a:buFontTx/>
              <a:buNone/>
            </a:pP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그래서 원작에 나오는 네 칸 만화를 </a:t>
            </a:r>
            <a:r>
              <a:rPr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대표 컨셉</a:t>
            </a:r>
            <a:r>
              <a:rPr lang="ko-KR"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트</a:t>
            </a:r>
            <a:r>
              <a:rPr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로</a:t>
            </a: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 잡았습니다. 웹부터 굿즈, 팝업, 옥외까지 이 하나로 끌고 갔습니다.</a:t>
            </a:r>
            <a:endParaRPr lang="ko-KR" altLang="en-US" sz="10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1467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기획과 화면 설계는 제가 하고, 구현은 Claude Code로 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935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935" y="566039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IP 분석 · 타깃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11750" y="571500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11750" y="5715000"/>
            <a:ext cx="120142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8935" y="586105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콘텐츠 기획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11750" y="5916295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1750" y="5916295"/>
            <a:ext cx="120142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935" y="606234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직접 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11750" y="611759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11750" y="6117590"/>
            <a:ext cx="113474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95" y="969010"/>
            <a:ext cx="3712210" cy="309372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6675120" y="4191000"/>
            <a:ext cx="455676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네 사람이 한 칸씩 그린 완성본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10710"/>
            <a:ext cx="45567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기 · 승 · 전 · 결. 링크 하나로 넘기며 60초씩 그립니다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58055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옥외 광고 시안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959350"/>
            <a:ext cx="455676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068570"/>
            <a:ext cx="4556760" cy="127254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6" name="TextBox 35"/>
          <p:cNvSpPr txBox="1"/>
          <p:nvPr/>
        </p:nvSpPr>
        <p:spPr>
          <a:xfrm>
            <a:off x="6675120" y="6433185"/>
            <a:ext cx="45567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지하철 환승통로 와이드 · 마지막 네 번째 칸은 비우고 QR을 넣었습니다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575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>
            <a:hlinkClick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6217920"/>
            <a:ext cx="475615" cy="4756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37030" y="625475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37030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제안서 33장 · 웹게임 · 굿즈 · 팝업 도면 전부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93776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③ 제작 · 종이와 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214"/>
                </a:solidFill>
                <a:latin typeface="Pretendard"/>
              </a:rPr>
              <a:t>〈룩 백〉 온·오프라인 마케팅 기획과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517904"/>
            <a:ext cx="2389555" cy="46817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517904"/>
            <a:ext cx="2389555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1737360"/>
            <a:ext cx="19506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20">
                <a:solidFill>
                  <a:srgbClr val="3A57CF"/>
                </a:solidFill>
                <a:latin typeface="Pretendard"/>
              </a:rPr>
              <a:t>종이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975104"/>
            <a:ext cx="1950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11214"/>
                </a:solidFill>
                <a:latin typeface="Pretendard"/>
              </a:rPr>
              <a:t>룩백 학급 신문</a:t>
            </a:r>
          </a:p>
        </p:txBody>
      </p:sp>
      <p:pic>
        <p:nvPicPr>
          <p:cNvPr id="10" name="Picture 9" descr="룩백학급신문_1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33" y="2340863"/>
            <a:ext cx="1850929" cy="2615184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179576" y="5102352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관객이 그린 네 칸을 </a:t>
            </a:r>
            <a:r>
              <a:rPr sz="9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다음 날 1면</a:t>
            </a: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에 싣습니다. 오른쪽 절반은 비워서 받는 사람이 채웁니다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7419" y="1517904"/>
            <a:ext cx="2389555" cy="46817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7419" y="1517904"/>
            <a:ext cx="2389555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6875" y="1737360"/>
            <a:ext cx="19506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20">
                <a:solidFill>
                  <a:srgbClr val="3A57CF"/>
                </a:solidFill>
                <a:latin typeface="Pretendard"/>
              </a:rPr>
              <a:t>공간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6875" y="1975104"/>
            <a:ext cx="1950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11214"/>
                </a:solidFill>
                <a:latin typeface="Pretendard"/>
              </a:rPr>
              <a:t>팝업 25평 도면</a:t>
            </a:r>
          </a:p>
        </p:txBody>
      </p:sp>
      <p:pic>
        <p:nvPicPr>
          <p:cNvPr id="16" name="Picture 15" descr="lb18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875" y="2819672"/>
            <a:ext cx="1950643" cy="1657566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3806875" y="5102352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「쿄모토의 방」 열두 개 존을 </a:t>
            </a:r>
            <a:r>
              <a:rPr sz="9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기승전결 순서로</a:t>
            </a: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 배치했습니다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4719" y="1517904"/>
            <a:ext cx="2389555" cy="46817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4719" y="1517904"/>
            <a:ext cx="2389555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75" y="1737360"/>
            <a:ext cx="19506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20">
                <a:solidFill>
                  <a:srgbClr val="3A57CF"/>
                </a:solidFill>
                <a:latin typeface="Pretendard"/>
              </a:rPr>
              <a:t>온라인 공간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1975104"/>
            <a:ext cx="1950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11214"/>
                </a:solidFill>
                <a:latin typeface="Pretendard"/>
              </a:rPr>
              <a:t>그 팝업을 걸어서</a:t>
            </a:r>
          </a:p>
        </p:txBody>
      </p:sp>
      <p:pic>
        <p:nvPicPr>
          <p:cNvPr id="22" name="Picture 21" descr="화면_팝업미리보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209" y="2340864"/>
            <a:ext cx="1206576" cy="2615184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434175" y="5102352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도면을 그대로 웹 공간으로 옮겼습니다. </a:t>
            </a:r>
            <a:r>
              <a:rPr sz="9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관객들의 동선을 생각하며 제작했습니다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2019" y="1517904"/>
            <a:ext cx="2389555" cy="46817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2019" y="1517904"/>
            <a:ext cx="2389555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475" y="1737360"/>
            <a:ext cx="19506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spc="120">
                <a:solidFill>
                  <a:srgbClr val="3A57CF"/>
                </a:solidFill>
                <a:latin typeface="Pretendard"/>
              </a:rPr>
              <a:t>실물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475" y="1975104"/>
            <a:ext cx="19506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11214"/>
                </a:solidFill>
                <a:latin typeface="Pretendard"/>
              </a:rPr>
              <a:t>굿즈 16종 아트워크</a:t>
            </a:r>
          </a:p>
        </p:txBody>
      </p:sp>
      <p:pic>
        <p:nvPicPr>
          <p:cNvPr id="28" name="Picture 27" descr="lb21_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475" y="2555263"/>
            <a:ext cx="1950643" cy="2186385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9" name="TextBox 28"/>
          <p:cNvSpPr txBox="1"/>
          <p:nvPr/>
        </p:nvSpPr>
        <p:spPr>
          <a:xfrm>
            <a:off x="9061475" y="5102352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실사영화 7종과 원작 8종,</a:t>
            </a:r>
          </a:p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콜라보 1종을 그렸습니다.</a:t>
            </a:r>
          </a:p>
          <a:p>
            <a:pPr algn="ctr">
              <a:lnSpc>
                <a:spcPct val="158000"/>
              </a:lnSpc>
            </a:pPr>
            <a:r>
              <a:rPr sz="9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제품 사진과 판매가</a:t>
            </a: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까지</a:t>
            </a:r>
          </a:p>
          <a:p>
            <a:pPr algn="ctr">
              <a:lnSpc>
                <a:spcPct val="158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직접 잡았습니다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93776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③ 제작 · 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8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214"/>
                </a:solidFill>
                <a:latin typeface="Pretendard"/>
              </a:rPr>
              <a:t>「이어그리기」를 웹게임으로 만들었습니다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원작에서 후지노와 쿄모토를 이어준 게 </a:t>
            </a:r>
            <a:r>
              <a:rPr sz="105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네 칸 만화</a:t>
            </a:r>
            <a:r>
              <a:rPr sz="10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입니다. 관객도 한 칸씩 그려 다음 사람에게 넘깁니다.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27632"/>
            <a:ext cx="1681362" cy="3639312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5405" y="1642917"/>
            <a:ext cx="1650791" cy="3608741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611" y="1673123"/>
            <a:ext cx="1590379" cy="3548329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화면_홈.png"/>
          <p:cNvPicPr>
            <a:picLocks noChangeAspect="1"/>
          </p:cNvPicPr>
          <p:nvPr/>
        </p:nvPicPr>
        <p:blipFill>
          <a:blip r:embed="rId2"/>
          <a:srcRect l="3095" r="3095"/>
          <a:stretch>
            <a:fillRect/>
          </a:stretch>
        </p:blipFill>
        <p:spPr>
          <a:xfrm>
            <a:off x="1005611" y="1673123"/>
            <a:ext cx="1590379" cy="3548329"/>
          </a:xfrm>
          <a:prstGeom prst="roundRect">
            <a:avLst>
              <a:gd name="adj" fmla="val 14372"/>
            </a:avLst>
          </a:prstGeom>
        </p:spPr>
      </p:pic>
      <p:sp>
        <p:nvSpPr>
          <p:cNvPr id="11" name="Rounded Rectangle 10"/>
          <p:cNvSpPr/>
          <p:nvPr/>
        </p:nvSpPr>
        <p:spPr>
          <a:xfrm>
            <a:off x="1586427" y="1742270"/>
            <a:ext cx="428747" cy="89163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284" y="2373690"/>
            <a:ext cx="14291" cy="18924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284" y="2701229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284" y="3054242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37026" y="2719425"/>
            <a:ext cx="14291" cy="40032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43784" y="1627632"/>
            <a:ext cx="1681362" cy="3639312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59069" y="1642917"/>
            <a:ext cx="1650791" cy="3608741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9275" y="1673123"/>
            <a:ext cx="1590379" cy="3548329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화면_제시어_타이머.png"/>
          <p:cNvPicPr>
            <a:picLocks noChangeAspect="1"/>
          </p:cNvPicPr>
          <p:nvPr/>
        </p:nvPicPr>
        <p:blipFill>
          <a:blip r:embed="rId3"/>
          <a:srcRect l="3095" r="3095"/>
          <a:stretch>
            <a:fillRect/>
          </a:stretch>
        </p:blipFill>
        <p:spPr>
          <a:xfrm>
            <a:off x="2889275" y="1673123"/>
            <a:ext cx="1590379" cy="3548329"/>
          </a:xfrm>
          <a:prstGeom prst="roundRect">
            <a:avLst>
              <a:gd name="adj" fmla="val 14372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3470091" y="1742270"/>
            <a:ext cx="428747" cy="89163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33948" y="2373690"/>
            <a:ext cx="14291" cy="18924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33948" y="2701229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3948" y="3054242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0690" y="2719425"/>
            <a:ext cx="14291" cy="40032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27448" y="1627632"/>
            <a:ext cx="1681362" cy="3639312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42733" y="1642917"/>
            <a:ext cx="1650791" cy="3608741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2939" y="1673123"/>
            <a:ext cx="1590379" cy="3548329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화면_친구에게넘기기.png"/>
          <p:cNvPicPr>
            <a:picLocks noChangeAspect="1"/>
          </p:cNvPicPr>
          <p:nvPr/>
        </p:nvPicPr>
        <p:blipFill>
          <a:blip r:embed="rId4"/>
          <a:srcRect l="3095" r="3095"/>
          <a:stretch>
            <a:fillRect/>
          </a:stretch>
        </p:blipFill>
        <p:spPr>
          <a:xfrm>
            <a:off x="4772939" y="1673123"/>
            <a:ext cx="1590379" cy="3548329"/>
          </a:xfrm>
          <a:prstGeom prst="roundRect">
            <a:avLst>
              <a:gd name="adj" fmla="val 14372"/>
            </a:avLst>
          </a:prstGeom>
        </p:spPr>
      </p:pic>
      <p:sp>
        <p:nvSpPr>
          <p:cNvPr id="29" name="Rounded Rectangle 28"/>
          <p:cNvSpPr/>
          <p:nvPr/>
        </p:nvSpPr>
        <p:spPr>
          <a:xfrm>
            <a:off x="5353755" y="1742270"/>
            <a:ext cx="428747" cy="89163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17612" y="2373690"/>
            <a:ext cx="14291" cy="18924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17612" y="2701229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17612" y="3054242"/>
            <a:ext cx="14291" cy="2838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4354" y="2719425"/>
            <a:ext cx="14291" cy="40032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486400"/>
            <a:ext cx="16813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① 인원을 고릅니다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3784" y="5486400"/>
            <a:ext cx="16813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② 한 칸만 그립니다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5486400"/>
            <a:ext cx="16813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③ 링크로 친구에게 넘깁니다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2858" y="1682496"/>
            <a:ext cx="44387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3A57CF"/>
                </a:solidFill>
                <a:latin typeface="Pretendard"/>
              </a:rPr>
              <a:t>어떻게 만들었나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92858" y="1920240"/>
            <a:ext cx="4438717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2858" y="2121408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프론트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5274" y="2121408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단일 HTML · 캔버스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2858" y="2432303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2858" y="256032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공유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5274" y="2560320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URL 하나로 전달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92858" y="2871215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2858" y="299923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서버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5274" y="2999232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없음 · 정적 배포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92858" y="3310127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92858" y="3438144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한 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5274" y="3438144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60초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2858" y="3749040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2858" y="3877056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인원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35274" y="3877056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1인, 2인, 4인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92858" y="4187952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92858" y="4315968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배포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35274" y="4315968"/>
            <a:ext cx="3396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Netlify · 공개 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2858" y="4626864"/>
            <a:ext cx="4438717" cy="7315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792858" y="4846320"/>
            <a:ext cx="4438717" cy="1609344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449360" y="4996647"/>
            <a:ext cx="906353" cy="90635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b_game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489" y="5065776"/>
            <a:ext cx="768096" cy="7680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92858" y="5907024"/>
            <a:ext cx="22193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3A57CF"/>
                </a:solidFill>
                <a:latin typeface="Pretendard"/>
              </a:rPr>
              <a:t>직접 해보기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68719" y="4996647"/>
            <a:ext cx="906353" cy="90635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lb_intro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7847" y="5065776"/>
            <a:ext cx="768096" cy="76809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012216" y="5907024"/>
            <a:ext cx="22193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3A57CF"/>
                </a:solidFill>
                <a:latin typeface="Pretendard"/>
              </a:rPr>
              <a:t>2분 소개 영상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2858" y="6163056"/>
            <a:ext cx="44387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48A93"/>
                </a:solidFill>
                <a:latin typeface="Pretendard"/>
              </a:rPr>
              <a:t>lookback-4cut.netlify.app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05</a:t>
            </a:r>
          </a:p>
        </p:txBody>
      </p:sp>
      <p:pic>
        <p:nvPicPr>
          <p:cNvPr id="66" name="새_슬라이드용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05611" y="1725833"/>
            <a:ext cx="1590379" cy="34429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93776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④ 유입 · 오프라인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그 팝업 안에 </a:t>
            </a:r>
            <a:r>
              <a:rPr sz="22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시리즈 부스를 지어 봤습니다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1673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C636B"/>
                </a:solidFill>
                <a:latin typeface="Pretendard"/>
              </a:rPr>
              <a:t>앞 장 팝업 도면의 11번 자리에 네이버 시리즈 부스를 만들어 봤습니다. 웹게임 안에도 그대로 넣었습니다.</a:t>
            </a:r>
          </a:p>
        </p:txBody>
      </p:sp>
      <p:pic>
        <p:nvPicPr>
          <p:cNvPr id="7" name="Picture 6" descr="booth_real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73936"/>
            <a:ext cx="6492240" cy="3624833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60120" y="5508498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214"/>
                </a:solidFill>
                <a:latin typeface="Pretendard"/>
              </a:rPr>
              <a:t>부스 목업 · 전광판 + 원목 카운터 + QR 키오스크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709666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실제로 읽히는 QR입니다. 찍으면 시리즈 만화 검색 「FUJIMOTO Tatsuki」 10편으로 갑니다</a:t>
            </a:r>
          </a:p>
        </p:txBody>
      </p:sp>
      <p:pic>
        <p:nvPicPr>
          <p:cNvPr id="10" name="Picture 9" descr="booth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51" y="1773936"/>
            <a:ext cx="2036055" cy="2615184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7872984" y="4498848"/>
            <a:ext cx="33585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214"/>
                </a:solidFill>
                <a:latin typeface="Pretendard"/>
              </a:rPr>
              <a:t>웹게임 팝업 도면 · 존 11번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4" y="4700016"/>
            <a:ext cx="33585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걸어 들어가 볼 수 있습니다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984" y="4864608"/>
            <a:ext cx="3358591" cy="365760"/>
          </a:xfrm>
          <a:prstGeom prst="roundRect">
            <a:avLst>
              <a:gd name="adj" fmla="val 26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2984" y="4864608"/>
            <a:ext cx="23774" cy="36576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490118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B409A"/>
                </a:solidFill>
                <a:latin typeface="Pretendard"/>
              </a:rPr>
              <a:t>티켓 QR을 찍으면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4910328"/>
            <a:ext cx="1877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이벤트 쿠키 5개 + 〈룩 백〉 대여권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72984" y="5266944"/>
            <a:ext cx="3358591" cy="365760"/>
          </a:xfrm>
          <a:prstGeom prst="roundRect">
            <a:avLst>
              <a:gd name="adj" fmla="val 26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2984" y="5266944"/>
            <a:ext cx="23774" cy="36576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530352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B409A"/>
                </a:solidFill>
                <a:latin typeface="Pretendard"/>
              </a:rPr>
              <a:t>네 칸을 다 채우면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5312664"/>
            <a:ext cx="1877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같이 그린 네 사람 전원에게 쿠키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2984" y="5669280"/>
            <a:ext cx="3358591" cy="365760"/>
          </a:xfrm>
          <a:prstGeom prst="roundRect">
            <a:avLst>
              <a:gd name="adj" fmla="val 26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72984" y="5669280"/>
            <a:ext cx="23774" cy="36576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570585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B409A"/>
                </a:solidFill>
                <a:latin typeface="Pretendard"/>
              </a:rPr>
              <a:t>가챠로 모으면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5715000"/>
            <a:ext cx="1877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이벤트 쿠키 30개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72984" y="6071616"/>
            <a:ext cx="3358591" cy="365760"/>
          </a:xfrm>
          <a:prstGeom prst="roundRect">
            <a:avLst>
              <a:gd name="adj" fmla="val 26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72984" y="6071616"/>
            <a:ext cx="23774" cy="36576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61081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B409A"/>
                </a:solidFill>
                <a:latin typeface="Pretendard"/>
              </a:rPr>
              <a:t>1권을 다 읽으면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6117336"/>
            <a:ext cx="1877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같은 작가 10편 목록이 뜹니다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6057138"/>
            <a:ext cx="6492240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203442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A57CF"/>
                </a:solidFill>
                <a:latin typeface="Pretendard"/>
              </a:rPr>
              <a:t>전광판 카피는 「집에 가는 길에 다 읽힙니다」로 잡았습니다.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441186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영화를 보고 원작으로 복습하는 셈입니다. 단권이라 그날 안에 다 읽을 수 있습니다.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⑤ 데이터 ·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424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극장 관객을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시리즈 독자로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전환하는 콜라보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네이버 시리즈 × 〈룩 백〉 × 메가박스 × BIAF 부천.  4주간의 콜라보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13293" y="981334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09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1024128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2887" y="1060704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3A57CF"/>
                </a:solidFill>
                <a:latin typeface="Pretendard"/>
              </a:rPr>
              <a:t>제안서 원본 · 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2887" y="126187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48A93"/>
                </a:solidFill>
                <a:latin typeface="Pretendard"/>
              </a:rPr>
              <a:t>4주 CRM 설계 · 팝업 도면 · 굿즈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048256"/>
            <a:ext cx="3253130" cy="2962656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048256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2231136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00">
                <a:solidFill>
                  <a:srgbClr val="848A93"/>
                </a:solidFill>
                <a:latin typeface="Pretendard"/>
              </a:rPr>
              <a:t>D-DAY ~ D+14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7864" y="2432304"/>
            <a:ext cx="2777642" cy="365760"/>
          </a:xfrm>
          <a:prstGeom prst="roundRect">
            <a:avLst>
              <a:gd name="adj" fmla="val 6000"/>
            </a:avLst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2505456"/>
            <a:ext cx="27776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네이버 시리즈 × 메가박스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2926080"/>
            <a:ext cx="27776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30">
                <a:solidFill>
                  <a:srgbClr val="111214"/>
                </a:solidFill>
                <a:latin typeface="Pretendard"/>
              </a:rPr>
              <a:t>티켓 QR → 원작 1권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7864" y="3291840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4" y="3419856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무엇을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" y="3602736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팝업 「쿄모토의 방」 옆에 시리즈 부스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3931920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관객이 받는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" y="4114800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「이벤트 쿠키 5개」 + 「〈룩 백〉 대여권」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" y="4443984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왜 이 파트너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4626864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메가박스가 이 영화 국내 수입 · 배급사입니다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9282" y="2048256"/>
            <a:ext cx="3253130" cy="2962656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9282" y="2048256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7026" y="2231136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00">
                <a:solidFill>
                  <a:srgbClr val="848A93"/>
                </a:solidFill>
                <a:latin typeface="Pretendard"/>
              </a:rPr>
              <a:t>D+7 ~ D+28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7026" y="2432304"/>
            <a:ext cx="2777642" cy="365760"/>
          </a:xfrm>
          <a:prstGeom prst="roundRect">
            <a:avLst>
              <a:gd name="adj" fmla="val 6000"/>
            </a:avLst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7026" y="2505456"/>
            <a:ext cx="27776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네이버 시리즈 앱 단독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7026" y="2926080"/>
            <a:ext cx="27776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30">
                <a:solidFill>
                  <a:srgbClr val="111214"/>
                </a:solidFill>
                <a:latin typeface="Pretendard"/>
              </a:rPr>
              <a:t>완독 → 같은 작가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7026" y="3291840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7026" y="3419856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무엇을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7026" y="3602736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완독 화면에 후지모토 타츠키 10편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7026" y="3931920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관객이 받는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7026" y="4114800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목록 + 「무료 대여권 1장」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7026" y="4443984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왜 이 자리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7026" y="4626864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단권은 다 읽는 순간이 곧 이탈 지점입니다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8444" y="2048256"/>
            <a:ext cx="3253130" cy="2962656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8444" y="2048256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2231136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00">
                <a:solidFill>
                  <a:srgbClr val="848A93"/>
                </a:solidFill>
                <a:latin typeface="Pretendard"/>
              </a:rPr>
              <a:t>10.23 – 27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6188" y="2432304"/>
            <a:ext cx="2777642" cy="365760"/>
          </a:xfrm>
          <a:prstGeom prst="roundRect">
            <a:avLst>
              <a:gd name="adj" fmla="val 6000"/>
            </a:avLst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6188" y="2505456"/>
            <a:ext cx="27776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네이버 시리즈 × BIAF 부천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6188" y="2926080"/>
            <a:ext cx="27776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30">
                <a:solidFill>
                  <a:srgbClr val="111214"/>
                </a:solidFill>
                <a:latin typeface="Pretendard"/>
              </a:rPr>
              <a:t>네컷 완성 → 네 명 전원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6188" y="3291840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6188" y="3419856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무엇을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6188" y="3602736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부천 BIAF에 이어그리기 네컷 부스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6188" y="3931920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관객이 받는 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6188" y="4114800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같이 그린 「네 사람 전원에게 쿠키」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6188" y="4443984"/>
            <a:ext cx="27776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848A93"/>
                </a:solidFill>
                <a:latin typeface="Pretendard"/>
              </a:rPr>
              <a:t>왜 이 파트너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6188" y="4626864"/>
            <a:ext cx="277764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개봉 2주 뒤, 극장 유입이 빠지는 자리입니다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" y="5230368"/>
            <a:ext cx="10271455" cy="1261872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97864" y="5413248"/>
            <a:ext cx="5138928" cy="877824"/>
          </a:xfrm>
          <a:prstGeom prst="roundRect">
            <a:avLst>
              <a:gd name="adj" fmla="val 3000"/>
            </a:avLst>
          </a:prstGeom>
          <a:solidFill>
            <a:srgbClr val="2B409A"/>
          </a:solidFill>
          <a:ln>
            <a:noFill/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5608" y="5522976"/>
            <a:ext cx="4681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A8B8F0"/>
                </a:solidFill>
                <a:latin typeface="Pretendard"/>
              </a:rPr>
              <a:t>성패를 가르는 지표 하나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35608" y="5724144"/>
            <a:ext cx="4681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「완독자의 작가 내 크로스셀 비율」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7416" y="5431536"/>
            <a:ext cx="4236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214"/>
                </a:solidFill>
                <a:latin typeface="Pretendard"/>
              </a:rPr>
              <a:t>다 읽은 사람 중 몇 %가 같은 작가의 다른 작품으로 넘어가는지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57416" y="5650992"/>
            <a:ext cx="4236415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5779007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쿠키 소진율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55863" y="5779007"/>
            <a:ext cx="2937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티켓 QR을 실제로 몇 명이 찍었나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57416" y="6016751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1화 전환율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55863" y="6016751"/>
            <a:ext cx="2937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무료로 보고 유료로 넘어간 비율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57416" y="62544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완독률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55863" y="6254496"/>
            <a:ext cx="2937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636B"/>
                </a:solidFill>
                <a:latin typeface="Pretendard"/>
              </a:rPr>
              <a:t>단권이라 4주면 바로 결과가 나옵니다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(CREATIVE)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424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</a:rPr>
              <a:t>읽고 </a:t>
            </a:r>
            <a:r>
              <a:rPr sz="2400" b="1">
                <a:solidFill>
                  <a:srgbClr val="3A57CF"/>
                </a:solidFill>
                <a:latin typeface="Pretendard"/>
              </a:rPr>
              <a:t>바로 손이 가게 만드는 카피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네이버 시리즈 × 〈룩 백〉. 카피 · 디자인 · 목업까지 직접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05495" y="10789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3A57CF"/>
                </a:solidFill>
                <a:latin typeface="Pretendard"/>
              </a:rPr>
              <a:t>인쇄 1 · 디지털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495" y="129844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48A93"/>
                </a:solidFill>
                <a:latin typeface="Pretendard"/>
              </a:rPr>
              <a:t>촬영 없이 공식 스틸과 시리즈 표지로만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66543"/>
            <a:ext cx="3253130" cy="404164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066543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배너1_극장티켓_뒷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09" y="2340863"/>
            <a:ext cx="987751" cy="2304288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1197864" y="4718304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4846320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848A93"/>
                </a:solidFill>
                <a:latin typeface="Pretendard"/>
              </a:rPr>
              <a:t>티켓 뒷면 · 60×140mm 인쇄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5084064"/>
            <a:ext cx="277764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방금 본 그 이야기,</a:t>
            </a:r>
          </a:p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원작은 여기 다 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5669280"/>
            <a:ext cx="27776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상영이 끝나고 로비를 지나는 5분을 노립니다.</a:t>
            </a:r>
          </a:p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QR은 실제로 열립니다.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9282" y="2066543"/>
            <a:ext cx="3253130" cy="404164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69282" y="2066543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배너2_앱_완독화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088" y="2340863"/>
            <a:ext cx="1063517" cy="2304288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19" name="Rectangle 18"/>
          <p:cNvSpPr/>
          <p:nvPr/>
        </p:nvSpPr>
        <p:spPr>
          <a:xfrm>
            <a:off x="4707026" y="4718304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7026" y="4846320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848A93"/>
                </a:solidFill>
                <a:latin typeface="Pretendard"/>
              </a:rPr>
              <a:t>완독 화면 · 시리즈 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7026" y="5084064"/>
            <a:ext cx="277764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다 읽으셨죠? 후지모토 타츠키는</a:t>
            </a:r>
          </a:p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이제 시작입니다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7026" y="5669280"/>
            <a:ext cx="27776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마지막 쪽을 넘기면 뜹니다.</a:t>
            </a:r>
          </a:p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작가 작품 세 편을 아래에 깝니다.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8444" y="2066543"/>
            <a:ext cx="3253130" cy="404164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78444" y="2066543"/>
            <a:ext cx="3253130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배너3_검색배너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188" y="3030067"/>
            <a:ext cx="2777642" cy="92588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26" name="Rectangle 25"/>
          <p:cNvSpPr/>
          <p:nvPr/>
        </p:nvSpPr>
        <p:spPr>
          <a:xfrm>
            <a:off x="8216188" y="4718304"/>
            <a:ext cx="2777642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6188" y="4846320"/>
            <a:ext cx="27776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848A93"/>
                </a:solidFill>
                <a:latin typeface="Pretendard"/>
              </a:rPr>
              <a:t>검색 · 추천 배너 · 1500×500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6188" y="5084064"/>
            <a:ext cx="277764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함께 그리며 우리가 되었어</a:t>
            </a:r>
          </a:p>
          <a:p>
            <a:pPr>
              <a:lnSpc>
                <a:spcPct val="134000"/>
              </a:lnSpc>
            </a:pPr>
            <a:r>
              <a:rPr sz="1150" b="1">
                <a:solidFill>
                  <a:srgbClr val="111214"/>
                </a:solidFill>
                <a:latin typeface="Pretendard"/>
              </a:rPr>
              <a:t>— 체인소맨 작가의 단편 만화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6188" y="5669280"/>
            <a:ext cx="27776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영화를 안 본 사람에게는 대사와 작가 이름이</a:t>
            </a:r>
          </a:p>
          <a:p>
            <a:pPr>
              <a:lnSpc>
                <a:spcPct val="150000"/>
              </a:lnSpc>
            </a:pPr>
            <a:r>
              <a:rPr sz="900">
                <a:solidFill>
                  <a:srgbClr val="4B5158"/>
                </a:solidFill>
                <a:latin typeface="Pretendard"/>
              </a:rPr>
              <a:t>먼저 걸립니다. 포스터 대사를 그대로 씁니다.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4864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(MOCK-UP)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424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</a:rPr>
              <a:t>걸어 놓으면 </a:t>
            </a:r>
            <a:r>
              <a:rPr sz="2400" b="1">
                <a:solidFill>
                  <a:srgbClr val="3A57CF"/>
                </a:solidFill>
                <a:latin typeface="Pretendard"/>
              </a:rPr>
              <a:t>이렇게 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6420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티켓은 60×140mm 실물 인쇄, 완독 화면은 시리즈 앱 안입니다.</a:t>
            </a:r>
          </a:p>
        </p:txBody>
      </p:sp>
      <p:pic>
        <p:nvPicPr>
          <p:cNvPr id="6" name="Picture 5" descr="목업1_극장로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4984851" cy="3323234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960120" y="5536082"/>
            <a:ext cx="4984851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64098"/>
            <a:ext cx="49848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848A93"/>
                </a:solidFill>
                <a:latin typeface="Pretendard"/>
              </a:rPr>
              <a:t>극장 로비 · 상영이 끝난 직후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38418"/>
            <a:ext cx="49848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214"/>
                </a:solidFill>
                <a:latin typeface="Pretendard"/>
              </a:rPr>
              <a:t>「방금 본 그 이야기, 원작은 여기 다 있습니다」</a:t>
            </a:r>
          </a:p>
        </p:txBody>
      </p:sp>
      <p:pic>
        <p:nvPicPr>
          <p:cNvPr id="10" name="Picture 9" descr="목업2_침대폰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23" y="2103120"/>
            <a:ext cx="4984851" cy="3323234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6246723" y="5536082"/>
            <a:ext cx="4984851" cy="7315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6723" y="5664098"/>
            <a:ext cx="49848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848A93"/>
                </a:solidFill>
                <a:latin typeface="Pretendard"/>
              </a:rPr>
              <a:t>시리즈 앱 · 마지막 쪽을 넘긴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723" y="5938418"/>
            <a:ext cx="49848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214"/>
                </a:solidFill>
                <a:latin typeface="Pretendard"/>
              </a:rPr>
              <a:t>「다 읽으셨죠? 후지모토 타츠키는 이제 시작입니다」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/>
          </p:cNvSpPr>
          <p:nvPr/>
        </p:nvSpPr>
        <p:spPr>
          <a:xfrm rot="0">
            <a:off x="0" y="-16510"/>
            <a:ext cx="12192635" cy="6858635"/>
          </a:xfrm>
          <a:prstGeom prst="rect"/>
          <a:solidFill>
            <a:srgbClr val="FFFFFF"/>
          </a:solidFill>
          <a:ln>
            <a:noFill/>
            <a:prstDash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(READER)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작가 한 명에 빠지면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그 사람 작품을 다 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2750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완독은 끝이 아니라 다음 작품의 시작입니다. 그래서 룩백 제안에 「완독 화면 = 같은 작가 추천」을 넣었습니다.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12975"/>
            <a:ext cx="3054350" cy="2861945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60120" y="5202555"/>
            <a:ext cx="3054985" cy="13144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sz="850" b="0">
                <a:solidFill>
                  <a:srgbClr val="848A93"/>
                </a:solidFill>
                <a:latin typeface="Pretendard" charset="0"/>
              </a:rPr>
              <a:t>웹툰+</a:t>
            </a:r>
            <a:r>
              <a:rPr lang="ko-KR" sz="850" b="0">
                <a:solidFill>
                  <a:srgbClr val="848A93"/>
                </a:solidFill>
                <a:latin typeface="Pretendard" charset="0"/>
              </a:rPr>
              <a:t>시리즈</a:t>
            </a:r>
            <a:r>
              <a:rPr sz="850" b="0">
                <a:solidFill>
                  <a:srgbClr val="848A93"/>
                </a:solidFill>
                <a:latin typeface="Pretendard" charset="0"/>
              </a:rPr>
              <a:t> 앱 · 내 활동 리포트</a:t>
            </a:r>
            <a:endParaRPr lang="ko-KR" altLang="en-US" sz="850" b="0">
              <a:solidFill>
                <a:srgbClr val="848A93"/>
              </a:solidFill>
              <a:latin typeface="Pretendard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5440045"/>
            <a:ext cx="3603625" cy="13906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900" b="1">
                <a:solidFill>
                  <a:srgbClr val="2B409A"/>
                </a:solidFill>
                <a:latin typeface="Pretendard" charset="0"/>
              </a:rPr>
              <a:t>보관함 소장 10편 · 〈전지적 독자 시점〉</a:t>
            </a:r>
            <a:r>
              <a:rPr sz="900" b="1">
                <a:solidFill>
                  <a:srgbClr val="2B409A"/>
                </a:solidFill>
                <a:latin typeface="Pretendard" charset="0"/>
              </a:rPr>
              <a:t>전</a:t>
            </a:r>
            <a:r>
              <a:rPr lang="ko-KR" sz="900" b="1">
                <a:solidFill>
                  <a:srgbClr val="2B409A"/>
                </a:solidFill>
                <a:latin typeface="Pretendard" charset="0"/>
              </a:rPr>
              <a:t>체 </a:t>
            </a:r>
            <a:r>
              <a:rPr lang="ko-KR" sz="900" b="1">
                <a:solidFill>
                  <a:srgbClr val="2B409A"/>
                </a:solidFill>
                <a:latin typeface="Pretendard" charset="0"/>
              </a:rPr>
              <a:t>소장</a:t>
            </a:r>
            <a:endParaRPr lang="ko-KR" altLang="en-US" sz="900" b="1">
              <a:solidFill>
                <a:srgbClr val="2B409A"/>
              </a:solidFill>
              <a:latin typeface="Pretendard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0230" y="2157730"/>
            <a:ext cx="1833245" cy="3968750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6740" y="2174875"/>
            <a:ext cx="1800225" cy="3935095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9760" y="2207895"/>
            <a:ext cx="1734185" cy="3869055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l="4734" r="4734"/>
          <a:stretch>
            <a:fillRect/>
          </a:stretch>
        </p:blipFill>
        <p:spPr>
          <a:xfrm>
            <a:off x="4429760" y="2207895"/>
            <a:ext cx="1734185" cy="3869055"/>
          </a:xfrm>
          <a:prstGeom prst="roundRect">
            <a:avLst>
              <a:gd name="adj" fmla="val 14372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5062855" y="2282825"/>
            <a:ext cx="467360" cy="97155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9435" y="2971800"/>
            <a:ext cx="15875" cy="206375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9435" y="3328670"/>
            <a:ext cx="15875" cy="309245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9435" y="3713480"/>
            <a:ext cx="15875" cy="309245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395" y="3348355"/>
            <a:ext cx="15875" cy="436245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0230" y="6254750"/>
            <a:ext cx="237744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찐팬 배지 17개 · 비공개 항목은 가렸습니다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090" y="21031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5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583</a:t>
            </a:r>
            <a:r>
              <a:rPr sz="11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5445" y="2176145"/>
            <a:ext cx="32258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158"/>
                </a:solidFill>
                <a:latin typeface="Pretendard"/>
              </a:rPr>
              <a:t>읽은 회차 · 1년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9090" y="252349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5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25</a:t>
            </a:r>
            <a:r>
              <a:rPr sz="11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5445" y="2597150"/>
            <a:ext cx="32258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158"/>
                </a:solidFill>
                <a:latin typeface="Pretendard"/>
              </a:rPr>
              <a:t>읽은 작품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9090" y="2944495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5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17</a:t>
            </a:r>
            <a:r>
              <a:rPr sz="11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5445" y="3017520"/>
            <a:ext cx="32258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158"/>
                </a:solidFill>
                <a:latin typeface="Pretendard"/>
              </a:rPr>
              <a:t>찐팬 배지 · 99.9가 네 편</a:t>
            </a:r>
          </a:p>
        </p:txBody>
      </p:sp>
      <p:sp>
        <p:nvSpPr>
          <p:cNvPr id="26" name="Rounded Rectangle 25"/>
          <p:cNvSpPr>
            <a:spLocks/>
          </p:cNvSpPr>
          <p:nvPr/>
        </p:nvSpPr>
        <p:spPr>
          <a:xfrm rot="0">
            <a:off x="6689090" y="3474720"/>
            <a:ext cx="4543425" cy="1727835"/>
          </a:xfrm>
          <a:prstGeom prst="roundRect">
            <a:avLst>
              <a:gd name="adj" fmla="val 3400"/>
            </a:avLst>
          </a:prstGeom>
          <a:solidFill>
            <a:srgbClr val="EEF1FB"/>
          </a:solidFill>
          <a:ln>
            <a:noFill/>
            <a:prstDash/>
          </a:ln>
          <a:effectLst>
            <a:outerShdw sx="100000" sy="100000" blurRad="254000" dist="38100" dir="5400000" rotWithShape="0">
              <a:srgbClr val="000000">
                <a:alpha val="470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4995" y="3639185"/>
            <a:ext cx="4030345" cy="237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3A57CF"/>
                </a:solidFill>
                <a:latin typeface="Pretendard"/>
              </a:rPr>
              <a:t>완독하면 작가 팬이 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4995" y="3931920"/>
            <a:ext cx="4030980" cy="45529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48000"/>
              </a:lnSpc>
              <a:buFontTx/>
              <a:buNone/>
            </a:pPr>
            <a:r>
              <a:rPr sz="1000" b="0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〈전지적 독자 시점〉을 다 읽고 나니 작가가 궁금해졌습니다.</a:t>
            </a:r>
            <a:endParaRPr lang="ko-KR" altLang="en-US" sz="1000" b="0">
              <a:solidFill>
                <a:srgbClr val="111214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48000"/>
              </a:lnSpc>
              <a:buFontTx/>
              <a:buNone/>
            </a:pPr>
            <a:r>
              <a:rPr sz="1000" b="0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싱숑의 〈멸망 이후의 세계〉로 넘어갔고, 그게 지금</a:t>
            </a:r>
            <a:r>
              <a:rPr sz="100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sz="100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제 최애 작품입니다.</a:t>
            </a:r>
            <a:r>
              <a:rPr sz="1000" b="0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000" b="0">
              <a:solidFill>
                <a:srgbClr val="111214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 rot="0">
            <a:off x="6944995" y="4485640"/>
            <a:ext cx="4030980" cy="438785"/>
          </a:xfrm>
          <a:prstGeom prst="rect"/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950" b="1">
                <a:solidFill>
                  <a:srgbClr val="2B409A"/>
                </a:solidFill>
                <a:latin typeface="Pretendard" charset="0"/>
              </a:rPr>
              <a:t>한 작가에 빠지면, 그 사람 작품은 결국 다 보게 됩니다.</a:t>
            </a:r>
            <a:endParaRPr lang="ko-KR" altLang="en-US" sz="950" b="1">
              <a:solidFill>
                <a:srgbClr val="2B409A"/>
              </a:solidFill>
              <a:latin typeface="Pretendard" charset="0"/>
            </a:endParaRPr>
          </a:p>
          <a:p>
            <a:pPr marL="0" indent="0" algn="l">
              <a:buFontTx/>
              <a:buNone/>
            </a:pPr>
            <a:r>
              <a:rPr sz="950" b="1">
                <a:solidFill>
                  <a:srgbClr val="2B409A"/>
                </a:solidFill>
                <a:latin typeface="Pretendard" charset="0"/>
              </a:rPr>
              <a:t>〈룩 백〉을 보고 나온 관객도 같습니다. 다음에 찾을 이름은 </a:t>
            </a:r>
            <a:endParaRPr lang="ko-KR" altLang="en-US" sz="950" b="1">
              <a:solidFill>
                <a:srgbClr val="2B409A"/>
              </a:solidFill>
              <a:latin typeface="Pretendard" charset="0"/>
            </a:endParaRPr>
          </a:p>
          <a:p>
            <a:pPr marL="0" indent="0" algn="l">
              <a:buFontTx/>
              <a:buNone/>
            </a:pPr>
            <a:r>
              <a:rPr sz="950" b="1">
                <a:solidFill>
                  <a:srgbClr val="2B409A"/>
                </a:solidFill>
                <a:latin typeface="Pretendard" charset="0"/>
              </a:rPr>
              <a:t>후지모토 타츠키입니다.</a:t>
            </a:r>
            <a:endParaRPr lang="ko-KR" altLang="en-US" sz="950" b="1">
              <a:solidFill>
                <a:srgbClr val="2B409A"/>
              </a:solidFill>
              <a:latin typeface="Pretendard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89090" y="5376545"/>
            <a:ext cx="454279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9090" y="5504815"/>
            <a:ext cx="12985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로맨스 · 로판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9105" y="5504815"/>
            <a:ext cx="31527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583회 중 230회 · 최애 장르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9090" y="5769610"/>
            <a:ext cx="12985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찐팬 99.9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9105" y="5769610"/>
            <a:ext cx="31527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살아남은 로맨스 · 멸망 이후의 세계 · 전지적 독자 시점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9090" y="6035040"/>
            <a:ext cx="12985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일본 순정만화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9105" y="6035040"/>
            <a:ext cx="31527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너에게 닿기를 · 꽃보다 남자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9090" y="6300470"/>
            <a:ext cx="12985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일본만화 단권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9105" y="6300470"/>
            <a:ext cx="3152775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6B"/>
                </a:solidFill>
                <a:latin typeface="Pretendard"/>
              </a:rPr>
              <a:t>룩 백 — 후지모토 타츠키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아무도 안 시킨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아이템을 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584"/>
            <a:ext cx="457200" cy="25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191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#안목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442112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채널A 〈금쪽같은 내새끼〉 ‘무규칙 오남매’ 편 · 236 · 237회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478688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2049 시청률 +43% · 수도권 · 1부 → 2부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" y="515264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크릭앤리버 콘텐츠 CREW 3기 · 2팀 팀장 · 웹소설 세 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5518404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세 편 다 네이버 시리즈에 올라와 있는 작품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455" y="2395728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채널A · 6년 이어진 육아 솔루션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296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뉴스 한 줄에서 방송 2부작으로,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2049 시청률 </a:t>
            </a: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+43%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채널A 〈요즘 육아 금쪽같은 내새끼〉 방송작가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616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2024.09 – 2025.06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416"/>
            <a:ext cx="1013155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39"/>
            <a:ext cx="10131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아이템 발굴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8723" y="3328416"/>
            <a:ext cx="9052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8723" y="3399739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취재·섭외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9427" y="3328416"/>
            <a:ext cx="7973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9427" y="3399739"/>
            <a:ext cx="7973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보도자료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176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막내작가에게 아이템을 내라고 시키는 사람은 없습니다. 그래도 나만의 아이템을 찾고 싶었습니다.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뉴스에 잠깐 스친 다섯 아이 가정. 저 집은 하루가 어떻게 굴러갈까. 출연 후보를 직접 만나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사전 인터뷰와 취재 파일까지 만들어 올렸고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, ‘무규칙 오남매’ 편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방송 2부작으로 편성됐습니다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416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대중들이 궁금해질 지점은 직접 만나 취재해야 나왔습니다.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566013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아이템 발굴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496" y="5715000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5715000"/>
            <a:ext cx="1201521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58613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취재 · 섭외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5916168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5916168"/>
            <a:ext cx="1134770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606247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보도자료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6117336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496" y="6117336"/>
            <a:ext cx="1068019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969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2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+32</a:t>
            </a:r>
            <a:r>
              <a:rPr sz="128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395984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2049 · 전국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938" y="969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2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+43</a:t>
            </a:r>
            <a:r>
              <a:rPr sz="128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938" y="1395984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2049 · 수도권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2756" y="969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2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128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부작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2756" y="1395984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236 · 237회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755648"/>
            <a:ext cx="4556455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5120" y="1975104"/>
            <a:ext cx="2212848" cy="1726021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E7E9EC"/>
            </a:solidFill>
          </a:ln>
          <a:effectLst>
            <a:outerShdw blurRad="3302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1975104"/>
            <a:ext cx="2212848" cy="310896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39712" y="2052828"/>
            <a:ext cx="566928" cy="173736"/>
          </a:xfrm>
          <a:prstGeom prst="roundRect">
            <a:avLst>
              <a:gd name="adj" fmla="val 28000"/>
            </a:avLst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208026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Pretendard"/>
              </a:rPr>
              <a:t>KBS 뉴스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080260"/>
            <a:ext cx="1106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848A93"/>
                </a:solidFill>
                <a:latin typeface="Pretendard"/>
              </a:rPr>
              <a:t>아이템의 출발점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414016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11214"/>
                </a:solidFill>
                <a:latin typeface="Pretendard"/>
              </a:rPr>
              <a:t>‘외식? 그게 뭐임?’
5둥이 가족으로 살기</a:t>
            </a:r>
          </a:p>
        </p:txBody>
      </p:sp>
      <p:pic>
        <p:nvPicPr>
          <p:cNvPr id="41" name="Picture 40" descr="kbs_news.png"/>
          <p:cNvPicPr>
            <a:picLocks noChangeAspect="1"/>
          </p:cNvPicPr>
          <p:nvPr/>
        </p:nvPicPr>
        <p:blipFill>
          <a:blip r:embed="rId2"/>
          <a:srcRect t="488" b="488"/>
          <a:stretch>
            <a:fillRect/>
          </a:stretch>
        </p:blipFill>
        <p:spPr>
          <a:xfrm>
            <a:off x="6839712" y="2761488"/>
            <a:ext cx="1883664" cy="1059561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839712" y="3985640"/>
            <a:ext cx="1619951" cy="34747"/>
          </a:xfrm>
          <a:prstGeom prst="roundRect">
            <a:avLst>
              <a:gd name="adj" fmla="val 50000"/>
            </a:avLst>
          </a:prstGeom>
          <a:solidFill>
            <a:srgbClr val="DF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39712" y="4060621"/>
            <a:ext cx="1845990" cy="34747"/>
          </a:xfrm>
          <a:prstGeom prst="roundRect">
            <a:avLst>
              <a:gd name="adj" fmla="val 50000"/>
            </a:avLst>
          </a:prstGeom>
          <a:solidFill>
            <a:srgbClr val="DF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39712" y="4135602"/>
            <a:ext cx="1130198" cy="34747"/>
          </a:xfrm>
          <a:prstGeom prst="roundRect">
            <a:avLst>
              <a:gd name="adj" fmla="val 50000"/>
            </a:avLst>
          </a:prstGeom>
          <a:solidFill>
            <a:srgbClr val="DF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yt_thumb.jpg"/>
          <p:cNvPicPr>
            <a:picLocks noChangeAspect="1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9070848" y="1975104"/>
            <a:ext cx="2160727" cy="119641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46" name="TextBox 45"/>
          <p:cNvSpPr txBox="1"/>
          <p:nvPr/>
        </p:nvSpPr>
        <p:spPr>
          <a:xfrm>
            <a:off x="9070848" y="3281247"/>
            <a:ext cx="2160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‘무규칙 오남매’ 편 · 채널A 공식 클립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98863" y="4992624"/>
            <a:ext cx="1813255" cy="7315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0662816">
            <a:off x="9164098" y="4526645"/>
            <a:ext cx="1882786" cy="25603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39428" y="4733483"/>
            <a:ext cx="118872" cy="1188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78824" y="508406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111214"/>
                </a:solidFill>
                <a:latin typeface="Pretendard"/>
              </a:rPr>
              <a:t>1부</a:t>
            </a:r>
          </a:p>
        </p:txBody>
      </p:sp>
      <p:sp>
        <p:nvSpPr>
          <p:cNvPr id="51" name="Oval 50"/>
          <p:cNvSpPr/>
          <p:nvPr/>
        </p:nvSpPr>
        <p:spPr>
          <a:xfrm>
            <a:off x="10952683" y="4226539"/>
            <a:ext cx="118872" cy="1188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2079" y="508406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111214"/>
                </a:solidFill>
                <a:latin typeface="Pretendard"/>
              </a:rPr>
              <a:t>2부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5266944"/>
            <a:ext cx="2160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2049 시청률 · 1부 → 2부</a:t>
            </a:r>
          </a:p>
        </p:txBody>
      </p:sp>
      <p:pic>
        <p:nvPicPr>
          <p:cNvPr id="54" name="Picture 53" descr="credit.jpg"/>
          <p:cNvPicPr>
            <a:picLocks noChangeAspect="1"/>
          </p:cNvPicPr>
          <p:nvPr/>
        </p:nvPicPr>
        <p:blipFill>
          <a:blip r:embed="rId4"/>
          <a:srcRect t="71" b="71"/>
          <a:stretch>
            <a:fillRect/>
          </a:stretch>
        </p:blipFill>
        <p:spPr>
          <a:xfrm>
            <a:off x="6675120" y="4224528"/>
            <a:ext cx="2212848" cy="1344168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55" name="TextBox 54"/>
          <p:cNvSpPr txBox="1"/>
          <p:nvPr/>
        </p:nvSpPr>
        <p:spPr>
          <a:xfrm>
            <a:off x="6675120" y="5669280"/>
            <a:ext cx="22128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엔딩 크레딧 · 작가 정주원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7326" y="6175126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03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217920"/>
            <a:ext cx="475488" cy="47548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36776" y="62544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36776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방송 클립 · 작가 크레딧 · 취재 파일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이현세 · 허영만 에이전시 · 자사 웹툰 〈사냥개들〉 넷플릭스 드라마화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55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웹소설 </a:t>
            </a: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〈사채왕의 천재손자〉</a:t>
            </a: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를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드라마 기획안까지 </a:t>
            </a: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끌고 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270"/>
            <a:ext cx="53949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크릭앤리버엔터테인먼트 〈방송·영상 콘텐츠 기획·개발 CREW〉 3기 · 2팀 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87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2026.08.17 – 10.11 · 8주 · 4인 1팀 · 수료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54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670"/>
            <a:ext cx="90551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90"/>
            <a:ext cx="9055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원천 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570" y="3328670"/>
            <a:ext cx="10134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570" y="3399790"/>
            <a:ext cx="10134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영상화 기획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9605" y="3328670"/>
            <a:ext cx="7975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9605" y="3399790"/>
            <a:ext cx="79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멀티유스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430"/>
            <a:ext cx="5029835" cy="119507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64000"/>
              </a:lnSpc>
              <a:buFontTx/>
              <a:buNone/>
            </a:pP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돈과 복수는 남녀노소가 좋아하는, 이미 숫자로 증명된 소재입니다. </a:t>
            </a:r>
            <a:endParaRPr lang="ko-KR" altLang="en-US" sz="10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64000"/>
              </a:lnSpc>
              <a:buFontTx/>
              <a:buNone/>
            </a:pPr>
            <a:r>
              <a:rPr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〈쩐의 전쟁〉 36.3%, 〈재벌집 막내아들〉 26.9%</a:t>
            </a: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0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64000"/>
              </a:lnSpc>
              <a:spcBef>
                <a:spcPts val="1067"/>
              </a:spcBef>
              <a:buFontTx/>
              <a:buNone/>
            </a:pP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이 IP는 원작 웹소설 1,060화 완결, 웹툰 평점 9.8. </a:t>
            </a:r>
            <a:r>
              <a:rPr sz="105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이미 5개국에 번역돼 나가고 있어</a:t>
            </a:r>
            <a:r>
              <a:rPr sz="10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 글로벌 OTT 10부작의 가능성을 보고 드라마 기획안을 만들었습니다.</a:t>
            </a:r>
            <a:endParaRPr lang="ko-KR" altLang="en-US" sz="10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670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기획은 더하는 게 아니라 빼는 일이다.</a:t>
            </a:r>
          </a:p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돈이 되는 세일즈 포인트를 찾아내는 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935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935" y="566039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원천 IP 리서치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750" y="571500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750" y="5715000"/>
            <a:ext cx="113474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935" y="586105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영상화 각색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750" y="5916295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750" y="5916295"/>
            <a:ext cx="117475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935" y="606234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AI 워크플로우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750" y="611759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750" y="6117590"/>
            <a:ext cx="120142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05840"/>
            <a:ext cx="2214245" cy="1243965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29" name="TextBox 28"/>
          <p:cNvSpPr txBox="1"/>
          <p:nvPr/>
        </p:nvSpPr>
        <p:spPr>
          <a:xfrm>
            <a:off x="6675120" y="2359660"/>
            <a:ext cx="22142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크릭앤리버 회의실 · 회차 발표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635" y="1005840"/>
            <a:ext cx="2214245" cy="1243965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9017635" y="2359660"/>
            <a:ext cx="22142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팀 회의 · 4인 1팀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020" y="2615565"/>
            <a:ext cx="3108960" cy="1740535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33" name="TextBox 32"/>
          <p:cNvSpPr txBox="1"/>
          <p:nvPr/>
        </p:nvSpPr>
        <p:spPr>
          <a:xfrm>
            <a:off x="6675120" y="4465955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848A93"/>
                </a:solidFill>
                <a:latin typeface="Pretendard"/>
              </a:rPr>
              <a:t>고용노동부 2026 미래내일 청년 일경험 · Pre-Production PD 리더간담회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21860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현업 코칭 8회차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923155"/>
            <a:ext cx="455676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5014595"/>
            <a:ext cx="932815" cy="255905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06476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1–2회차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3985" y="5037455"/>
            <a:ext cx="347726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E333A"/>
                </a:solidFill>
                <a:latin typeface="Pretendard"/>
              </a:rPr>
              <a:t>스토리 특성과 원천 IP 개발 과정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361940"/>
            <a:ext cx="932815" cy="255905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41210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3–5회차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3985" y="5384800"/>
            <a:ext cx="347726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E333A"/>
                </a:solidFill>
                <a:latin typeface="Pretendard"/>
              </a:rPr>
              <a:t>실제 개발할 작품 피드백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709285"/>
            <a:ext cx="932815" cy="255905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76008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6–8회차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3985" y="5732145"/>
            <a:ext cx="347726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E333A"/>
                </a:solidFill>
                <a:latin typeface="Pretendard"/>
              </a:rPr>
              <a:t>기획서 작성 · 리뷰 · 최종 점검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7575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6263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>
            <a:hlinkClick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217920"/>
            <a:ext cx="475615" cy="47561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37030" y="625475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47" name="TextBox 46">
            <a:hlinkClick r:id="rId1"/>
          </p:cNvPr>
          <p:cNvSpPr txBox="1"/>
          <p:nvPr/>
        </p:nvSpPr>
        <p:spPr>
          <a:xfrm>
            <a:off x="4855718" y="625475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트레일러 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37030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캐릭터 시트 · 씬 스틸 · 회차별 진행</a:t>
            </a:r>
          </a:p>
        </p:txBody>
      </p:sp>
      <p:sp>
        <p:nvSpPr>
          <p:cNvPr id="48" name="TextBox 47">
            <a:hlinkClick r:id="rId1"/>
          </p:cNvPr>
          <p:cNvSpPr txBox="1"/>
          <p:nvPr/>
        </p:nvSpPr>
        <p:spPr>
          <a:xfrm>
            <a:off x="4855718" y="64465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AI 티저 3분 54초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13</a:t>
            </a:r>
          </a:p>
        </p:txBody>
      </p:sp>
      <p:pic>
        <p:nvPicPr>
          <p:cNvPr id="50" name="Picture 49" descr="qr_trailer.png">
            <a:hlinkClick r:id="rId1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808" y="6217920"/>
            <a:ext cx="475615" cy="475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(SOURCE 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424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8주 동안 다룬 원작 세 편,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전부 네이버 시리즈 작품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같은 12문항 양식으로 읽고 매주 팀에서 토의합니다.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57984"/>
            <a:ext cx="3240938" cy="33101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157984"/>
            <a:ext cx="3240938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ovel_sacha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153" y="2395728"/>
            <a:ext cx="1120871" cy="164592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197864" y="4169664"/>
            <a:ext cx="2765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〈사채왕의 천재손자〉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626864"/>
            <a:ext cx="27654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재미는 확실한데 </a:t>
            </a:r>
            <a:r>
              <a:rPr sz="1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〈재벌집 막내아들〉과 설정이 겹칩니다.</a:t>
            </a: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 사채가 집안 사업이라는 점을 차별점으로 잡자고 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5378" y="2157984"/>
            <a:ext cx="3240938" cy="33101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5378" y="2157984"/>
            <a:ext cx="3240938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vel_d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79" y="2395728"/>
            <a:ext cx="1094536" cy="164592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4713122" y="4169664"/>
            <a:ext cx="2765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〈Dr. 신선한 : 미래를 보는 의사〉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3122" y="4626864"/>
            <a:ext cx="27654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미래를 아는 능력에 제약이 없어 긴장이 빠집니다. </a:t>
            </a:r>
            <a:r>
              <a:rPr sz="1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예지가 한 번 틀리는 회차</a:t>
            </a: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를 제안했습니다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0636" y="2157984"/>
            <a:ext cx="3240938" cy="3310128"/>
          </a:xfrm>
          <a:prstGeom prst="roundRect">
            <a:avLst>
              <a:gd name="adj" fmla="val 5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0636" y="2157984"/>
            <a:ext cx="3240938" cy="32918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ovel_ma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479" y="2395728"/>
            <a:ext cx="1249253" cy="1645920"/>
          </a:xfrm>
          <a:prstGeom prst="rect">
            <a:avLst/>
          </a:prstGeom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8228380" y="4169664"/>
            <a:ext cx="2765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〈결혼은 당신 형과〉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380" y="4626864"/>
            <a:ext cx="27654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「고구마」 지적 댓글 2천 추천. </a:t>
            </a:r>
            <a:r>
              <a:rPr sz="1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답답한 구간이 길어지는 지점</a:t>
            </a: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이 곧 이탈 구간이라 봤습니다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632704"/>
            <a:ext cx="10271455" cy="768096"/>
          </a:xfrm>
          <a:prstGeom prst="roundRect">
            <a:avLst>
              <a:gd name="adj" fmla="val 3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779008"/>
            <a:ext cx="96679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2B409A"/>
                </a:solidFill>
                <a:latin typeface="Pretendard"/>
                <a:ea typeface="Pretendard"/>
                <a:cs typeface="Pretendard"/>
              </a:rPr>
              <a:t>회사가 이 기획안을 어디에 쓰는지</a:t>
            </a:r>
          </a:p>
          <a:p>
            <a:pPr>
              <a:lnSpc>
                <a:spcPct val="140000"/>
              </a:lnSpc>
            </a:pPr>
            <a:r>
              <a:rPr sz="950" b="0">
                <a:solidFill>
                  <a:srgbClr val="2E333A"/>
                </a:solidFill>
                <a:latin typeface="Pretendard"/>
                <a:ea typeface="Pretendard"/>
                <a:cs typeface="Pretendard"/>
              </a:rPr>
              <a:t>웹소설·오리지널 스토리의 드라마화, 미디어믹스 글로벌 배급, 콘텐츠 공모전에 쓴다고 밝혔습니다.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(AI WORKFLOW)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4267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캐릭터 시트를 먼저 만들고,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3분 54초 트레일러까지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뽑았습니다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64335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〈사채왕의 천재손자〉 드라마 기획안에 넣을 영상 레퍼런스입니다.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705"/>
            <a:ext cx="73152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80">
                <a:solidFill>
                  <a:srgbClr val="3A57CF"/>
                </a:solidFill>
                <a:latin typeface="Pretendard"/>
              </a:rPr>
              <a:t>1 · 캐릭터 시트 16종을 만들고, 그 시트로 씬을 생성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4061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960120" y="380238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김무혁 · 청년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335" y="234061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3569335" y="380238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천태산 · 회장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915" y="234061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6177915" y="380238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저수지 · 밤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130" y="234061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8787130" y="380238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송도 바닷가 · 오후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130" y="380238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48A93"/>
                </a:solidFill>
                <a:latin typeface="Pretendard"/>
              </a:rPr>
              <a:t>트레일러 보기 · 3분 54초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41775"/>
            <a:ext cx="73152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80">
                <a:solidFill>
                  <a:srgbClr val="3A57CF"/>
                </a:solidFill>
                <a:latin typeface="Pretendard"/>
              </a:rPr>
              <a:t>2 · 그 컷을 움직이게 · Kling · Krea · 3분 54초 · Suno OST 1곡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29768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960120" y="575945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병원 뒷골목 · 밤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9335" y="429768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3569335" y="575945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차 안 · 낮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915" y="429768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6177915" y="575945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천태산의 집 · 밤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7130" y="4297680"/>
            <a:ext cx="2444115" cy="1370330"/>
          </a:xfrm>
          <a:prstGeom prst="rect">
            <a:avLst/>
          </a:prstGeom>
          <a:ln w="9525">
            <a:solidFill>
              <a:srgbClr val="E0DBD0"/>
            </a:solidFill>
          </a:ln>
          <a:effectLst>
            <a:outerShdw blurRad="2540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8787130" y="5759450"/>
            <a:ext cx="2444115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명동 골목 · 새벽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962015"/>
            <a:ext cx="1027176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126480"/>
            <a:ext cx="1027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Claude</a:t>
            </a:r>
            <a:r>
              <a:rPr sz="9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 분석 · 각색   →   </a:t>
            </a: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Midjourney</a:t>
            </a:r>
            <a:r>
              <a:rPr sz="9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 시각화   →   </a:t>
            </a: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Kling · Krea</a:t>
            </a:r>
            <a:r>
              <a:rPr sz="9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 영상화   →   </a:t>
            </a: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Suno</a:t>
            </a:r>
            <a:r>
              <a:rPr sz="95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 음원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419215"/>
            <a:ext cx="1027176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36B"/>
                </a:solidFill>
                <a:latin typeface="Pretendard"/>
              </a:rPr>
              <a:t>생성 실패 유형 아홉 가지와 컷별 프롬프트를 정리한 AI 영상 제작 가이드 8페이지도 부속 자료로 함께 냈습니다. 패스트캠퍼스 〈Midjourney &amp; Runway 일관성 있는 AI 영상 제작〉 과정에서 배운 방식입니다.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15</a:t>
            </a:r>
          </a:p>
        </p:txBody>
      </p:sp>
      <p:pic>
        <p:nvPicPr>
          <p:cNvPr id="29" name="Picture 28" descr="C:/Users/yello/AppData/Roaming/PolarisOffice/ETemp/24580_15226784/image97.png">
            <a:hlinkClick r:id="rId12"/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234295" y="365125"/>
            <a:ext cx="476250" cy="4762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815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훈련으로 만들어진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카피 스킬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33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065"/>
            <a:ext cx="54864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#카피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535" y="442087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숭실대학교 카피창작실습 96점 · 스토리텔링의이해 100점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535" y="478663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MBC아카데미 96기 영화홍보마케팅 · 영화 포스터 카피 실습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535" y="515239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755" cy="17780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150" b="0">
                <a:solidFill>
                  <a:srgbClr val="B6C2EC"/>
                </a:solidFill>
                <a:latin typeface="Pretendard" charset="0"/>
              </a:rPr>
              <a:t>채널A 보도자료 주 3건 · </a:t>
            </a:r>
            <a:r>
              <a:rPr sz="1150" b="0">
                <a:solidFill>
                  <a:srgbClr val="B6C2EC"/>
                </a:solidFill>
                <a:latin typeface="Pretendard" charset="0"/>
              </a:rPr>
              <a:t>내가 </a:t>
            </a:r>
            <a:r>
              <a:rPr sz="1150" b="0">
                <a:solidFill>
                  <a:srgbClr val="B6C2EC"/>
                </a:solidFill>
                <a:latin typeface="Pretendard" charset="0"/>
              </a:rPr>
              <a:t>쓴 </a:t>
            </a:r>
            <a:r>
              <a:rPr sz="1150" b="0">
                <a:solidFill>
                  <a:srgbClr val="B6C2EC"/>
                </a:solidFill>
                <a:latin typeface="Pretendard" charset="0"/>
              </a:rPr>
              <a:t>헤드라인이 기사 제목으로</a:t>
            </a:r>
            <a:endParaRPr lang="ko-KR" altLang="en-US" sz="1150" b="0">
              <a:solidFill>
                <a:srgbClr val="B6C2EC"/>
              </a:solidFill>
              <a:latin typeface="Pretendard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535" y="551815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6C2EC"/>
                </a:solidFill>
                <a:latin typeface="Pretendard"/>
              </a:rPr>
              <a:t>맥스웰하우스 광고기획 · 3인 팀 최종 1등 · 배우 포지셔닝 3위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760" y="2395855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(COPY)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매체를 바꿔 가며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카피를 훈련했습니다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2750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방송 보도자료 · 광고 기획 · 배우 포지셔닝 · IP 캠페인. 대상이 달라져도 한 줄로 정의하는 연습은 같았습니다.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57730"/>
            <a:ext cx="30721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배운 곳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77440"/>
            <a:ext cx="307213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551430"/>
            <a:ext cx="29210" cy="31115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05710"/>
            <a:ext cx="28892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214"/>
                </a:solidFill>
                <a:latin typeface="Pretendard"/>
              </a:rPr>
              <a:t>숭실대학교 카피창작실습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785"/>
            <a:ext cx="28892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96점 · 스토리텔링의이해 100점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2853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같은 내용을 다르게 쓰는 연습을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학기 내내 반복했습니다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483610"/>
            <a:ext cx="29210" cy="31115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37890"/>
            <a:ext cx="28892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214"/>
                </a:solidFill>
                <a:latin typeface="Pretendard"/>
              </a:rPr>
              <a:t>MBC아카데미 96기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57600"/>
            <a:ext cx="28892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영화홍보마케팅 · 프로듀서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58895"/>
            <a:ext cx="2853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영화 포스터 카피 실습 · 과대표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수료 때 공로상을 받았습니다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416425"/>
            <a:ext cx="29210" cy="31115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70705"/>
            <a:ext cx="28892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214"/>
                </a:solidFill>
                <a:latin typeface="Pretendard"/>
              </a:rPr>
              <a:t>채널A 〈요즘 육아〉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90415"/>
            <a:ext cx="28892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방송작가 · 10개월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91710"/>
            <a:ext cx="2853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넷플릭스 · 예고편 · 선공개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매주 3건씩 실제 기사로 나갔습니다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865" y="2157730"/>
            <a:ext cx="67233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60">
                <a:solidFill>
                  <a:srgbClr val="3A57CF"/>
                </a:solidFill>
                <a:latin typeface="Pretendard"/>
              </a:rPr>
              <a:t>쓴 문장과 결과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7865" y="2377440"/>
            <a:ext cx="672338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07865" y="2523490"/>
            <a:ext cx="3224530" cy="1847215"/>
          </a:xfrm>
          <a:prstGeom prst="roundRect">
            <a:avLst>
              <a:gd name="adj" fmla="val 4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865" y="2523490"/>
            <a:ext cx="3224530" cy="2730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990" y="2706370"/>
            <a:ext cx="276733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848A93"/>
                </a:solidFill>
                <a:latin typeface="Pretendard"/>
              </a:rPr>
              <a:t>채널A 보도자료 · 208회 예고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990" y="2944495"/>
            <a:ext cx="2767330" cy="567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「서로에게 장난치며 때리는 부부」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990" y="3620770"/>
            <a:ext cx="2767965" cy="15430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000" b="1">
                <a:solidFill>
                  <a:srgbClr val="3A57CF"/>
                </a:solidFill>
                <a:latin typeface="Pretendard" charset="0"/>
              </a:rPr>
              <a:t>기사 제목으로 </a:t>
            </a:r>
            <a:r>
              <a:rPr lang="ko-KR" sz="1000" b="1">
                <a:solidFill>
                  <a:srgbClr val="3A57CF"/>
                </a:solidFill>
                <a:latin typeface="Pretendard" charset="0"/>
              </a:rPr>
              <a:t>사용됐</a:t>
            </a:r>
            <a:r>
              <a:rPr sz="1000" b="1">
                <a:solidFill>
                  <a:srgbClr val="3A57CF"/>
                </a:solidFill>
                <a:latin typeface="Pretendard" charset="0"/>
              </a:rPr>
              <a:t>습니다</a:t>
            </a:r>
            <a:endParaRPr lang="ko-KR" altLang="en-US" sz="1000" b="1">
              <a:solidFill>
                <a:srgbClr val="3A57CF"/>
              </a:solidFill>
              <a:latin typeface="Pretendard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45990" y="3858895"/>
            <a:ext cx="27673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2024.09.19 채널A 기사 헤드라인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6715" y="2523490"/>
            <a:ext cx="3224530" cy="1847215"/>
          </a:xfrm>
          <a:prstGeom prst="roundRect">
            <a:avLst>
              <a:gd name="adj" fmla="val 4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6715" y="2523490"/>
            <a:ext cx="3224530" cy="2730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4840" y="2706370"/>
            <a:ext cx="276733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848A93"/>
                </a:solidFill>
                <a:latin typeface="Pretendard"/>
              </a:rPr>
              <a:t>맥스웰하우스 광고기획 · 3인 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4840" y="2944495"/>
            <a:ext cx="2767330" cy="567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「MondaY부터 SundaY까지」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4840" y="3620770"/>
            <a:ext cx="276733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A57CF"/>
                </a:solidFill>
                <a:latin typeface="Pretendard"/>
              </a:rPr>
              <a:t>학부 최종 발표 1등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4840" y="3858895"/>
            <a:ext cx="27673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타깃을 Y · Z세대로 좁히고 청춘 이미지를 붙였습니다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7865" y="4626610"/>
            <a:ext cx="3224530" cy="1847215"/>
          </a:xfrm>
          <a:prstGeom prst="roundRect">
            <a:avLst>
              <a:gd name="adj" fmla="val 4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07865" y="4626610"/>
            <a:ext cx="3224530" cy="2730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990" y="4809490"/>
            <a:ext cx="276733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848A93"/>
                </a:solidFill>
                <a:latin typeface="Pretendard"/>
              </a:rPr>
              <a:t>MBC아카데미 96기 스타마케팅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5990" y="5047615"/>
            <a:ext cx="2767330" cy="567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「숏단발 느와르」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5990" y="5723890"/>
            <a:ext cx="276733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A57CF"/>
                </a:solidFill>
                <a:latin typeface="Pretendard"/>
              </a:rPr>
              <a:t>팀장 · 최종 발표 3위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5990" y="5962015"/>
            <a:ext cx="27673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필모는 많은데 대표 이미지가 없던</a:t>
            </a:r>
          </a:p>
          <a:p>
            <a:pPr algn="l">
              <a:lnSpc>
                <a:spcPct val="144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배우 원지안을 이렇게 정의했습니다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6715" y="4626610"/>
            <a:ext cx="3224530" cy="1847215"/>
          </a:xfrm>
          <a:prstGeom prst="roundRect">
            <a:avLst>
              <a:gd name="adj" fmla="val 4000"/>
            </a:avLst>
          </a:prstGeom>
          <a:solidFill>
            <a:srgbClr val="F9FAFC"/>
          </a:solidFill>
          <a:ln w="1143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6715" y="4626610"/>
            <a:ext cx="3224530" cy="2730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4840" y="4809490"/>
            <a:ext cx="276733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848A93"/>
                </a:solidFill>
                <a:latin typeface="Pretendard"/>
              </a:rPr>
              <a:t>〈룩 백〉 캠페인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4840" y="5047615"/>
            <a:ext cx="2767330" cy="567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「집에 가는 길에 다 읽힙니다」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4840" y="5723890"/>
            <a:ext cx="276733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A57CF"/>
                </a:solidFill>
                <a:latin typeface="Pretendard"/>
              </a:rPr>
              <a:t>제안서 전광판 · 검색 배너 시안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4840" y="5962015"/>
            <a:ext cx="27673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영화를 보면 원작을 찾게 됩니다. 단권이라 짧다는 걸 앞세웠습니다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(PRESS)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제가 쓴 헤드라인이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기사 제목으로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매주 예고편 · 선공개 · 넷플릭스 보도자료 작성 · 10개월</a:t>
            </a:r>
          </a:p>
        </p:txBody>
      </p:sp>
      <p:pic>
        <p:nvPicPr>
          <p:cNvPr id="7" name="Picture 6" descr="gj_press.jpg"/>
          <p:cNvPicPr>
            <a:picLocks noChangeAspect="1"/>
          </p:cNvPicPr>
          <p:nvPr/>
        </p:nvPicPr>
        <p:blipFill>
          <a:blip r:embed="rId2"/>
          <a:srcRect l="31" r="31"/>
          <a:stretch>
            <a:fillRect/>
          </a:stretch>
        </p:blipFill>
        <p:spPr>
          <a:xfrm>
            <a:off x="960120" y="2139696"/>
            <a:ext cx="3017520" cy="3725333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60120" y="5974757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직접 작성 · 채널A 〈요즘 육아〉 208회 예고</a:t>
            </a:r>
          </a:p>
        </p:txBody>
      </p:sp>
      <p:pic>
        <p:nvPicPr>
          <p:cNvPr id="9" name="Picture 8" descr="gj_article.jpg"/>
          <p:cNvPicPr>
            <a:picLocks noChangeAspect="1"/>
          </p:cNvPicPr>
          <p:nvPr/>
        </p:nvPicPr>
        <p:blipFill>
          <a:blip r:embed="rId3"/>
          <a:srcRect t="10" b="10"/>
          <a:stretch>
            <a:fillRect/>
          </a:stretch>
        </p:blipFill>
        <p:spPr>
          <a:xfrm>
            <a:off x="4544568" y="2139696"/>
            <a:ext cx="2889504" cy="3925956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4544568" y="6175380"/>
            <a:ext cx="2889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2024.09.19 채널A 기사 · 제가 쓴 헤드라인이 제목이 됐습니다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4123944" y="3947498"/>
            <a:ext cx="73152" cy="73152"/>
          </a:xfrm>
          <a:prstGeom prst="ellipse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33672" y="3947498"/>
            <a:ext cx="73152" cy="73152"/>
          </a:xfrm>
          <a:prstGeom prst="ellipse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3947498"/>
            <a:ext cx="73152" cy="73152"/>
          </a:xfrm>
          <a:prstGeom prst="ellipse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2139696"/>
            <a:ext cx="32671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1214"/>
                </a:solidFill>
                <a:latin typeface="Pretendard"/>
              </a:rPr>
              <a:t>보도자료는 홍보문이 아니라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3" y="2432304"/>
            <a:ext cx="32671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3A57CF"/>
                </a:solidFill>
                <a:latin typeface="Pretendard"/>
              </a:rPr>
              <a:t>기자가 쓸 기사의 초안입니다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3" y="3118103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3" y="3072384"/>
            <a:ext cx="30842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헤드라인부터 짓습니다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3" y="3273552"/>
            <a:ext cx="3047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기자가 제목을 다시 안 지어도 되게, 클릭이 나올 문장을 앞에 둡니다.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3" y="3904487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3" y="3858768"/>
            <a:ext cx="30842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보는 사람이 누르게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3" y="4059935"/>
            <a:ext cx="3047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‘서로에게 장난치며 때리는 부부’. 판단은 빼고 장면만 남겨 시청자가 누르게 만드는 문구로 썼습니다.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4423" y="4690872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3" y="4645152"/>
            <a:ext cx="30842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주 3건씩 끊기지 않게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3" y="4846320"/>
            <a:ext cx="3047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넷플릭스 · 예고편 · 선공개. 세 종류를 매주 3건씩 끊기지 않게 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5449824"/>
            <a:ext cx="3084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1214"/>
                </a:solidFill>
                <a:latin typeface="Pretendard"/>
              </a:rPr>
              <a:t>보도자료를 써봐야 어떤 아이템이 기사가 되는지 감이 생깁니다.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4921" y="6196705"/>
            <a:ext cx="517916" cy="5179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03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3" y="6236208"/>
            <a:ext cx="438912" cy="4389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67928" y="6272784"/>
            <a:ext cx="26636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보도자료 원본 · 노션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학부 광고기획 · 3인 팀 · 컵커피(RTD)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296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시장분석부터 캠페인까지,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3인 팀 </a:t>
            </a: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최종 1등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맥스웰하우스 마스터 커피 광고기획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616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학부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416"/>
            <a:ext cx="9052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39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시장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824" y="3328416"/>
            <a:ext cx="9052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824" y="3399739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타깃 정의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1528" y="3328416"/>
            <a:ext cx="1121054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3399739"/>
            <a:ext cx="11210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브랜드 캠페인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176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바로 마시는 컵커피(RTD) 시장의 1·2위 점유율 차이는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0.3%p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 충성고객이 아직 없다는 뜻으로 읽었습니다.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그래서 목표를 제품 자랑에서 이미지 심기로 바꿨습니다. 대표 카피 문구를 ‘MondaY부터 SundaY까지’로 잡아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최종 1등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을 받았습니다.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416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0.3%p 차이면 포지셔닝이 비었다는 뜻입니다. 스펙 말고 이미지를 잡았습니다.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566013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전략 · 기획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496" y="5715000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5715000"/>
            <a:ext cx="1201521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58613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리서치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5916168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5916168"/>
            <a:ext cx="1134770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606247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발표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6117336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496" y="6117336"/>
            <a:ext cx="1068019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c_concept.jp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6675120" y="969264"/>
            <a:ext cx="4556455" cy="2564127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9" name="TextBox 28"/>
          <p:cNvSpPr txBox="1"/>
          <p:nvPr/>
        </p:nvSpPr>
        <p:spPr>
          <a:xfrm>
            <a:off x="6675120" y="3633975"/>
            <a:ext cx="4556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36B"/>
                </a:solidFill>
                <a:latin typeface="Pretendard"/>
              </a:rPr>
              <a:t>MondaY부터 SundaY까지 · Y세대부터 Z세대까지</a:t>
            </a:r>
          </a:p>
        </p:txBody>
      </p:sp>
      <p:pic>
        <p:nvPicPr>
          <p:cNvPr id="30" name="Picture 29" descr="mc_tvc.jpg"/>
          <p:cNvPicPr>
            <a:picLocks noChangeAspect="1"/>
          </p:cNvPicPr>
          <p:nvPr/>
        </p:nvPicPr>
        <p:blipFill>
          <a:blip r:embed="rId3"/>
          <a:srcRect l="22" r="22"/>
          <a:stretch>
            <a:fillRect/>
          </a:stretch>
        </p:blipFill>
        <p:spPr>
          <a:xfrm>
            <a:off x="6675120" y="3895344"/>
            <a:ext cx="1421282" cy="799821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6620256" y="4777461"/>
            <a:ext cx="15310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5C636B"/>
                </a:solidFill>
                <a:latin typeface="Pretendard"/>
              </a:rPr>
              <a:t>인지 — 한소희 30초 영상광고</a:t>
            </a:r>
          </a:p>
        </p:txBody>
      </p:sp>
      <p:pic>
        <p:nvPicPr>
          <p:cNvPr id="32" name="Picture 31" descr="mc_ooh.jpg"/>
          <p:cNvPicPr>
            <a:picLocks noChangeAspect="1"/>
          </p:cNvPicPr>
          <p:nvPr/>
        </p:nvPicPr>
        <p:blipFill>
          <a:blip r:embed="rId4"/>
          <a:srcRect l="22" r="22"/>
          <a:stretch>
            <a:fillRect/>
          </a:stretch>
        </p:blipFill>
        <p:spPr>
          <a:xfrm>
            <a:off x="8242706" y="3895344"/>
            <a:ext cx="1421282" cy="799821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3" name="TextBox 32"/>
          <p:cNvSpPr txBox="1"/>
          <p:nvPr/>
        </p:nvSpPr>
        <p:spPr>
          <a:xfrm>
            <a:off x="8187842" y="4777461"/>
            <a:ext cx="15310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5C636B"/>
                </a:solidFill>
                <a:latin typeface="Pretendard"/>
              </a:rPr>
              <a:t>경험 — 5주 QR 옥외 챌린지</a:t>
            </a:r>
          </a:p>
        </p:txBody>
      </p:sp>
      <p:pic>
        <p:nvPicPr>
          <p:cNvPr id="34" name="Picture 33" descr="mc_pop.jpg"/>
          <p:cNvPicPr>
            <a:picLocks noChangeAspect="1"/>
          </p:cNvPicPr>
          <p:nvPr/>
        </p:nvPicPr>
        <p:blipFill>
          <a:blip r:embed="rId5"/>
          <a:srcRect l="22" r="22"/>
          <a:stretch>
            <a:fillRect/>
          </a:stretch>
        </p:blipFill>
        <p:spPr>
          <a:xfrm>
            <a:off x="9810292" y="3895344"/>
            <a:ext cx="1421282" cy="799821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5" name="TextBox 34"/>
          <p:cNvSpPr txBox="1"/>
          <p:nvPr/>
        </p:nvSpPr>
        <p:spPr>
          <a:xfrm>
            <a:off x="9755428" y="4777461"/>
            <a:ext cx="15310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5C636B"/>
                </a:solidFill>
                <a:latin typeface="Pretendard"/>
              </a:rPr>
              <a:t>경험 — 커피차 · 팝업스토어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358384"/>
            <a:ext cx="4556455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541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21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3조</a:t>
            </a:r>
            <a:r>
              <a:rPr sz="84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 1,168억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821299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2021 국내 커피류 시장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938" y="5541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21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6.6</a:t>
            </a:r>
            <a:r>
              <a:rPr sz="84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938" y="5821299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2018 대비 성장률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2756" y="5541264"/>
            <a:ext cx="1518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21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0.3</a:t>
            </a:r>
            <a:r>
              <a:rPr sz="84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%p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2756" y="5821299"/>
            <a:ext cx="1518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RTD 1·2위 점유율 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326" y="6175126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07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6217920"/>
            <a:ext cx="475488" cy="47548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36776" y="62544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36776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기획서 전문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815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 채널로 먼저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증명했습니다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33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065"/>
            <a:ext cx="54864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#유입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535" y="442087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개인 SNS 단독 운영 · 30일 20만 뷰 · 4개월 만에 팔로워·이웃 2,400명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535" y="478663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755" cy="17780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150" b="0">
                <a:solidFill>
                  <a:srgbClr val="9AA6BC"/>
                </a:solidFill>
                <a:latin typeface="Pretendard" charset="0"/>
              </a:rPr>
              <a:t>브랜드 협업 13곳 · 딘토 세 번 재협업 · 포포몬 「다시 만나고 싶은 인플루언서」</a:t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/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/>
            </a:r>
            <a:endParaRPr lang="ko-KR" altLang="en-US" sz="1150" b="0">
              <a:solidFill>
                <a:srgbClr val="9AA6BC"/>
              </a:solidFill>
              <a:latin typeface="Pretendard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535" y="515239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네이버 20대 인기글 상위 노출 · 플레이스 리뷰어 상위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535" y="551815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스타파인더 34:1 선발 · 촬영 불가였던 소피텔 룸쇼와 단독 인터뷰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760" y="2395855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브랜드 13곳 · 소재 기획부터 게시까지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296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광고 소재를 만들어 올리고,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30일 20만 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개인 SNS(@travelcat_kami · 블로그 밥풀) 운영 · 브랜드 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616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2025 하반기 – 2026.02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416"/>
            <a:ext cx="1444752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39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소재 기획 · 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328416"/>
            <a:ext cx="9052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399739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채널 운영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3328416"/>
            <a:ext cx="1121054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3399739"/>
            <a:ext cx="11210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검색 상위노출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176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브랜드 13곳의 소재를 콘셉트부터 촬영 · 편집 · 게시까지 혼자 했습니다. 딘토는 세 번 다시 불렀고, 포포몬에서는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‘다시 만나고 싶은 인플루언서’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라는 평가를 받았습니다.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채널마다 소재를 다르게 갔습니다. 인스타는 첫 3초, 블로그는 검색어. 검색량 3,000 · 문서수 20,000 이하 롱테일부터 선점해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4개월에 2,400명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을 모았습니다.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416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훅 3초만 바꿔도 조회수가 갈렸습니다. 소재를 여러 개 돌려 보는 게 빨랐습니다.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566013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소재 기획 · 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496" y="5715000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5715000"/>
            <a:ext cx="1268272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58613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촬영 · 편집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5916168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5916168"/>
            <a:ext cx="1134770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606247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채널 운영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6117336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496" y="6117336"/>
            <a:ext cx="1201521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21120000">
            <a:off x="6693407" y="1371600"/>
            <a:ext cx="1394094" cy="3017520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 rot="21120000">
            <a:off x="6706081" y="1384273"/>
            <a:ext cx="1368747" cy="2992172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21120000">
            <a:off x="6731126" y="1409319"/>
            <a:ext cx="1318656" cy="2942082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h_ig1.jpg"/>
          <p:cNvPicPr>
            <a:picLocks noChangeAspect="1"/>
          </p:cNvPicPr>
          <p:nvPr/>
        </p:nvPicPr>
        <p:blipFill>
          <a:blip r:embed="rId2"/>
          <a:srcRect l="1493" r="1493"/>
          <a:stretch>
            <a:fillRect/>
          </a:stretch>
        </p:blipFill>
        <p:spPr>
          <a:xfrm rot="21120000">
            <a:off x="6731126" y="1409319"/>
            <a:ext cx="1318656" cy="2942082"/>
          </a:xfrm>
          <a:prstGeom prst="roundRect">
            <a:avLst>
              <a:gd name="adj" fmla="val 14372"/>
            </a:avLst>
          </a:prstGeom>
        </p:spPr>
      </p:pic>
      <p:sp>
        <p:nvSpPr>
          <p:cNvPr id="32" name="Rounded Rectangle 31"/>
          <p:cNvSpPr/>
          <p:nvPr/>
        </p:nvSpPr>
        <p:spPr>
          <a:xfrm rot="21120000">
            <a:off x="7021102" y="1480050"/>
            <a:ext cx="355494" cy="73929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 rot="21120000">
            <a:off x="6579089" y="2095411"/>
            <a:ext cx="11849" cy="156911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21120000">
            <a:off x="6622344" y="2363963"/>
            <a:ext cx="11849" cy="2353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 rot="21120000">
            <a:off x="6663080" y="2653814"/>
            <a:ext cx="11849" cy="2353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1120000">
            <a:off x="8016108" y="2183793"/>
            <a:ext cx="11849" cy="331927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517136"/>
            <a:ext cx="157697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848A93"/>
                </a:solidFill>
                <a:latin typeface="Pretendard"/>
              </a:rPr>
              <a:t>인스타그램 릴스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59" y="1188720"/>
            <a:ext cx="1512381" cy="3273552"/>
          </a:xfrm>
          <a:prstGeom prst="roundRect">
            <a:avLst>
              <a:gd name="adj" fmla="val 16299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1908" y="1202468"/>
            <a:ext cx="1484883" cy="3246054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79079" y="1229639"/>
            <a:ext cx="1430542" cy="3191713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h_pop.jpg"/>
          <p:cNvPicPr>
            <a:picLocks noChangeAspect="1"/>
          </p:cNvPicPr>
          <p:nvPr/>
        </p:nvPicPr>
        <p:blipFill>
          <a:blip r:embed="rId3"/>
          <a:srcRect l="1493" r="1493"/>
          <a:stretch>
            <a:fillRect/>
          </a:stretch>
        </p:blipFill>
        <p:spPr>
          <a:xfrm>
            <a:off x="8179079" y="1229639"/>
            <a:ext cx="1430542" cy="3191713"/>
          </a:xfrm>
          <a:prstGeom prst="roundRect">
            <a:avLst>
              <a:gd name="adj" fmla="val 14372"/>
            </a:avLst>
          </a:prstGeom>
        </p:spPr>
      </p:pic>
      <p:sp>
        <p:nvSpPr>
          <p:cNvPr id="42" name="Rounded Rectangle 41"/>
          <p:cNvSpPr/>
          <p:nvPr/>
        </p:nvSpPr>
        <p:spPr>
          <a:xfrm>
            <a:off x="8701521" y="1291836"/>
            <a:ext cx="385657" cy="80202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29312" y="1859798"/>
            <a:ext cx="12855" cy="170224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29312" y="2154417"/>
            <a:ext cx="12855" cy="255337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29312" y="2471952"/>
            <a:ext cx="12855" cy="255337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46533" y="2170785"/>
            <a:ext cx="12855" cy="360090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4590288"/>
            <a:ext cx="169526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848A93"/>
                </a:solidFill>
                <a:latin typeface="Pretendard"/>
              </a:rPr>
              <a:t>네이버 블로그</a:t>
            </a:r>
          </a:p>
        </p:txBody>
      </p:sp>
      <p:sp>
        <p:nvSpPr>
          <p:cNvPr id="48" name="Rounded Rectangle 47"/>
          <p:cNvSpPr/>
          <p:nvPr/>
        </p:nvSpPr>
        <p:spPr>
          <a:xfrm rot="480000">
            <a:off x="9582912" y="1371600"/>
            <a:ext cx="1394094" cy="3017520"/>
          </a:xfrm>
          <a:prstGeom prst="roundRect">
            <a:avLst>
              <a:gd name="adj" fmla="val 16300"/>
            </a:avLst>
          </a:prstGeom>
          <a:gradFill rotWithShape="1">
            <a:gsLst>
              <a:gs pos="0">
                <a:srgbClr val="6A6E75">
                  <a:alpha val="100000"/>
                </a:srgbClr>
              </a:gs>
              <a:gs pos="50000">
                <a:srgbClr val="4C5057">
                  <a:alpha val="100000"/>
                </a:srgbClr>
              </a:gs>
              <a:gs pos="100000">
                <a:srgbClr val="34383F">
                  <a:alpha val="100000"/>
                </a:srgbClr>
              </a:gs>
            </a:gsLst>
            <a:lin ang="0" scaled="0"/>
          </a:gradFill>
          <a:ln>
            <a:noFill/>
          </a:ln>
          <a:effectLst>
            <a:outerShdw blurRad="4826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 rot="480000">
            <a:off x="9595585" y="1384273"/>
            <a:ext cx="1368747" cy="2992172"/>
          </a:xfrm>
          <a:prstGeom prst="roundRect">
            <a:avLst>
              <a:gd name="adj" fmla="val 15675"/>
            </a:avLst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 rot="480000">
            <a:off x="9620631" y="1409319"/>
            <a:ext cx="1318656" cy="2942082"/>
          </a:xfrm>
          <a:prstGeom prst="roundRect">
            <a:avLst>
              <a:gd name="adj" fmla="val 14372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h_rev.jpg"/>
          <p:cNvPicPr>
            <a:picLocks noChangeAspect="1"/>
          </p:cNvPicPr>
          <p:nvPr/>
        </p:nvPicPr>
        <p:blipFill>
          <a:blip r:embed="rId4"/>
          <a:srcRect l="1517" r="1517"/>
          <a:stretch>
            <a:fillRect/>
          </a:stretch>
        </p:blipFill>
        <p:spPr>
          <a:xfrm rot="480000">
            <a:off x="9620631" y="1409319"/>
            <a:ext cx="1318656" cy="2942082"/>
          </a:xfrm>
          <a:prstGeom prst="roundRect">
            <a:avLst>
              <a:gd name="adj" fmla="val 14372"/>
            </a:avLst>
          </a:prstGeom>
        </p:spPr>
      </p:pic>
      <p:sp>
        <p:nvSpPr>
          <p:cNvPr id="52" name="Rounded Rectangle 51"/>
          <p:cNvSpPr/>
          <p:nvPr/>
        </p:nvSpPr>
        <p:spPr>
          <a:xfrm rot="480000">
            <a:off x="10293817" y="1480050"/>
            <a:ext cx="355494" cy="73929"/>
          </a:xfrm>
          <a:prstGeom prst="roundRect">
            <a:avLst>
              <a:gd name="adj" fmla="val 50000"/>
            </a:avLst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 rot="480000">
            <a:off x="9694530" y="1900770"/>
            <a:ext cx="11849" cy="156911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 rot="480000">
            <a:off x="9651274" y="2169322"/>
            <a:ext cx="11849" cy="2353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 rot="480000">
            <a:off x="9610538" y="2459173"/>
            <a:ext cx="11849" cy="235366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 rot="480000">
            <a:off x="11027400" y="2378434"/>
            <a:ext cx="11849" cy="331927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4517136"/>
            <a:ext cx="157697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848A93"/>
                </a:solidFill>
                <a:latin typeface="Pretendard"/>
              </a:rPr>
              <a:t>네이버 플레이스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956048"/>
            <a:ext cx="4556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11214"/>
                </a:solidFill>
                <a:latin typeface="Pretendard"/>
              </a:rPr>
              <a:t>릴스 10만 뷰  ·  네이버 20대 인기글 상위  ·  플레이스 리뷰어 상위 10%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75120" y="5303520"/>
            <a:ext cx="988237" cy="420624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 w="889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5422392"/>
            <a:ext cx="9882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5C636B"/>
                </a:solidFill>
                <a:latin typeface="Pretendard"/>
              </a:rPr>
              <a:t>딘토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4525" y="5303520"/>
            <a:ext cx="988237" cy="420624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 w="889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4525" y="5422392"/>
            <a:ext cx="9882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5C636B"/>
                </a:solidFill>
                <a:latin typeface="Pretendard"/>
              </a:rPr>
              <a:t>포포몬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3931" y="5303520"/>
            <a:ext cx="988237" cy="420624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 w="889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3931" y="5422392"/>
            <a:ext cx="9882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5C636B"/>
                </a:solidFill>
                <a:latin typeface="Pretendard"/>
              </a:rPr>
              <a:t>스타파인더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43337" y="5303520"/>
            <a:ext cx="988237" cy="420624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 w="889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43337" y="5422392"/>
            <a:ext cx="9882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5C636B"/>
                </a:solidFill>
                <a:latin typeface="Pretendard"/>
              </a:rPr>
              <a:t>소피텔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5833872"/>
            <a:ext cx="4556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848A93"/>
                </a:solidFill>
                <a:latin typeface="Pretendard"/>
              </a:rPr>
              <a:t>재협업 제안 · 브랜드 컨택 13곳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7326" y="6175126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p04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217920"/>
            <a:ext cx="475488" cy="47548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636776" y="62544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36776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채널 데이터 · 협찬 사례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(FIELD 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424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안 된다는 답을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협상으로 뒤집었습니다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36B"/>
                </a:solidFill>
                <a:latin typeface="Pretendard"/>
              </a:rPr>
              <a:t>34:1을 뚫고 들어가 우수활동자로 장려상을 받았습니다.</a:t>
            </a:r>
          </a:p>
        </p:txBody>
      </p:sp>
      <p:sp>
        <p:nvSpPr>
          <p:cNvPr id="7" name="Freeform 6"/>
          <p:cNvSpPr/>
          <p:nvPr/>
        </p:nvSpPr>
        <p:spPr>
          <a:xfrm>
            <a:off x="1322222" y="3209909"/>
            <a:ext cx="342351" cy="627644"/>
          </a:xfrm>
          <a:custGeom>
            <a:avLst/>
            <a:gdLst/>
            <a:ahLst/>
            <a:cxnLst/>
            <a:rect l="l" t="t" r="r" b="b"/>
            <a:pathLst>
              <a:path w="342351" h="627644">
                <a:moveTo>
                  <a:pt x="342351" y="0"/>
                </a:moveTo>
                <a:lnTo>
                  <a:pt x="0" y="0"/>
                </a:lnTo>
                <a:lnTo>
                  <a:pt x="142646" y="627644"/>
                </a:lnTo>
                <a:lnTo>
                  <a:pt x="285293" y="399410"/>
                </a:lnTo>
                <a:close/>
              </a:path>
            </a:pathLst>
          </a:cu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121042" y="3209909"/>
            <a:ext cx="342351" cy="627644"/>
          </a:xfrm>
          <a:custGeom>
            <a:avLst/>
            <a:gdLst/>
            <a:ahLst/>
            <a:cxnLst/>
            <a:rect l="l" t="t" r="r" b="b"/>
            <a:pathLst>
              <a:path w="342351" h="627644">
                <a:moveTo>
                  <a:pt x="0" y="0"/>
                </a:moveTo>
                <a:lnTo>
                  <a:pt x="342351" y="0"/>
                </a:lnTo>
                <a:lnTo>
                  <a:pt x="199705" y="627644"/>
                </a:lnTo>
                <a:lnTo>
                  <a:pt x="57058" y="399410"/>
                </a:lnTo>
                <a:close/>
              </a:path>
            </a:pathLst>
          </a:custGeom>
          <a:solidFill>
            <a:srgbClr val="2E4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9576" y="2011680"/>
            <a:ext cx="1426464" cy="14264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7CF"/>
            </a:solidFill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43584" y="2075688"/>
            <a:ext cx="1298448" cy="1298448"/>
          </a:xfrm>
          <a:prstGeom prst="ellipse">
            <a:avLst/>
          </a:prstGeom>
          <a:solidFill>
            <a:srgbClr val="EEF1FB"/>
          </a:solidFill>
          <a:ln w="762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311237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spc="120">
                <a:solidFill>
                  <a:srgbClr val="3A57CF"/>
                </a:solidFill>
                <a:latin typeface="Pretendard"/>
              </a:rPr>
              <a:t>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525207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11214"/>
                </a:solidFill>
                <a:latin typeface="Pretendard"/>
              </a:rPr>
              <a:t>34:1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924616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" b="0">
                <a:solidFill>
                  <a:srgbClr val="5C636B"/>
                </a:solidFill>
                <a:latin typeface="Pretendard"/>
              </a:rPr>
              <a:t>서포터즈 선발</a:t>
            </a:r>
          </a:p>
        </p:txBody>
      </p:sp>
      <p:sp>
        <p:nvSpPr>
          <p:cNvPr id="14" name="Freeform 13"/>
          <p:cNvSpPr/>
          <p:nvPr/>
        </p:nvSpPr>
        <p:spPr>
          <a:xfrm>
            <a:off x="3480206" y="3209909"/>
            <a:ext cx="342351" cy="627644"/>
          </a:xfrm>
          <a:custGeom>
            <a:avLst/>
            <a:gdLst/>
            <a:ahLst/>
            <a:cxnLst/>
            <a:rect l="l" t="t" r="r" b="b"/>
            <a:pathLst>
              <a:path w="342351" h="627644">
                <a:moveTo>
                  <a:pt x="342351" y="0"/>
                </a:moveTo>
                <a:lnTo>
                  <a:pt x="0" y="0"/>
                </a:lnTo>
                <a:lnTo>
                  <a:pt x="142646" y="627644"/>
                </a:lnTo>
                <a:lnTo>
                  <a:pt x="285293" y="399410"/>
                </a:lnTo>
                <a:close/>
              </a:path>
            </a:pathLst>
          </a:cu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279026" y="3209909"/>
            <a:ext cx="342351" cy="627644"/>
          </a:xfrm>
          <a:custGeom>
            <a:avLst/>
            <a:gdLst/>
            <a:ahLst/>
            <a:cxnLst/>
            <a:rect l="l" t="t" r="r" b="b"/>
            <a:pathLst>
              <a:path w="342351" h="627644">
                <a:moveTo>
                  <a:pt x="0" y="0"/>
                </a:moveTo>
                <a:lnTo>
                  <a:pt x="342351" y="0"/>
                </a:lnTo>
                <a:lnTo>
                  <a:pt x="199705" y="627644"/>
                </a:lnTo>
                <a:lnTo>
                  <a:pt x="57058" y="399410"/>
                </a:lnTo>
                <a:close/>
              </a:path>
            </a:pathLst>
          </a:custGeom>
          <a:solidFill>
            <a:srgbClr val="2E4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7559" y="2011680"/>
            <a:ext cx="1426464" cy="14264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7CF"/>
            </a:solidFill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01567" y="2075688"/>
            <a:ext cx="1298448" cy="1298448"/>
          </a:xfrm>
          <a:prstGeom prst="ellipse">
            <a:avLst/>
          </a:prstGeom>
          <a:solidFill>
            <a:srgbClr val="EEF1FB"/>
          </a:solidFill>
          <a:ln w="762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59" y="2311237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spc="120">
                <a:solidFill>
                  <a:srgbClr val="3A57CF"/>
                </a:solidFill>
                <a:latin typeface="Pretendard"/>
              </a:rPr>
              <a:t>AWARD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59" y="2525207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11214"/>
                </a:solidFill>
                <a:latin typeface="Pretendard"/>
              </a:rPr>
              <a:t>장려상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2924616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" b="0">
                <a:solidFill>
                  <a:srgbClr val="5C636B"/>
                </a:solidFill>
                <a:latin typeface="Pretendard"/>
              </a:rPr>
              <a:t>우수활동자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5876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한국관광협회중앙회 · 스타파인더 호텔등급제 서포터즈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70832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8000"/>
              </a:lnSpc>
            </a:pP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한국관광협회중앙회가 뽑는 호텔등급제 홍보 서포터즈에 34:1을 뚫고 들어갔습니다.</a:t>
            </a:r>
          </a:p>
          <a:p>
            <a:pPr algn="l">
              <a:lnSpc>
                <a:spcPct val="158000"/>
              </a:lnSpc>
              <a:spcBef>
                <a:spcPts val="979"/>
              </a:spcBef>
            </a:pPr>
            <a:r>
              <a:rPr sz="100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‘호텔 등급’은 딱딱한 소재입니다. 이걸 ‘감성 라이프스타일’로 바꾼 기획안 하나로 촬영이 안 된다던 소피텔 앰배서더를 뚫었고, 과장님을 직접 찾아가 룸쇼 촬영과 단독 인터뷰까지 따냈습니다. 우수활동자로 뽑혀 장려상과 장학금을 받았습니다.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" y="5756148"/>
            <a:ext cx="539496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04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797296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583387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대외활동 상세 · 노션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603504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선발 과정 · 산출물 · 수상 증빙</a:t>
            </a:r>
          </a:p>
        </p:txBody>
      </p:sp>
      <p:pic>
        <p:nvPicPr>
          <p:cNvPr id="28" name="Picture 27" descr="star_reels.jpg"/>
          <p:cNvPicPr>
            <a:picLocks noChangeAspect="1"/>
          </p:cNvPicPr>
          <p:nvPr/>
        </p:nvPicPr>
        <p:blipFill>
          <a:blip r:embed="rId4"/>
          <a:srcRect l="267" r="267"/>
          <a:stretch>
            <a:fillRect/>
          </a:stretch>
        </p:blipFill>
        <p:spPr>
          <a:xfrm>
            <a:off x="6681502" y="969264"/>
            <a:ext cx="1826605" cy="804672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29" name="Picture 28" descr="rl_sc1.jpg"/>
          <p:cNvPicPr>
            <a:picLocks noChangeAspect="1"/>
          </p:cNvPicPr>
          <p:nvPr/>
        </p:nvPicPr>
        <p:blipFill>
          <a:blip r:embed="rId5"/>
          <a:srcRect t="4" b="4"/>
          <a:stretch>
            <a:fillRect/>
          </a:stretch>
        </p:blipFill>
        <p:spPr>
          <a:xfrm>
            <a:off x="8654411" y="969264"/>
            <a:ext cx="1190109" cy="804672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0" name="Picture 29" descr="rl_sc2.jpg"/>
          <p:cNvPicPr>
            <a:picLocks noChangeAspect="1"/>
          </p:cNvPicPr>
          <p:nvPr/>
        </p:nvPicPr>
        <p:blipFill>
          <a:blip r:embed="rId6"/>
          <a:srcRect l="10" r="10"/>
          <a:stretch>
            <a:fillRect/>
          </a:stretch>
        </p:blipFill>
        <p:spPr>
          <a:xfrm>
            <a:off x="9990825" y="969264"/>
            <a:ext cx="1234366" cy="804672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6675120" y="1865376"/>
            <a:ext cx="4556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호텔등급제 시리즈 · 소피텔 단독 인터뷰  |  서울국제조각페스타 전시 2편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8843" y="2196571"/>
            <a:ext cx="453176" cy="453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eel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7" y="2231136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05472" y="224942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3A57CF"/>
                </a:solidFill>
                <a:latin typeface="Pretendard"/>
              </a:rPr>
              <a:t>릴스 바로 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4231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848A93"/>
                </a:solidFill>
                <a:latin typeface="Pretendard"/>
              </a:rPr>
              <a:t>스타파인더 호텔등급제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880360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2834640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소피텔 앰배서더 서울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026664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>
                <a:solidFill>
                  <a:srgbClr val="5C636B"/>
                </a:solidFill>
                <a:latin typeface="Pretendard"/>
              </a:rPr>
              <a:t>룸쇼 촬영 · 객실부 과장 단독 인터뷰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374136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28416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한국조각가협회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520440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>
                <a:solidFill>
                  <a:srgbClr val="5C636B"/>
                </a:solidFill>
                <a:latin typeface="Pretendard"/>
              </a:rPr>
              <a:t>서울국제조각페스타 전시 콘텐츠 제작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867911"/>
            <a:ext cx="29260" cy="27432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822191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214"/>
                </a:solidFill>
                <a:latin typeface="Pretendard"/>
              </a:rPr>
              <a:t>아늑호텔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014215"/>
            <a:ext cx="4373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>
                <a:solidFill>
                  <a:srgbClr val="5C636B"/>
                </a:solidFill>
                <a:latin typeface="Pretendard"/>
              </a:rPr>
              <a:t>아늑프렌즈 2기 · 인스타그램 크리에이터</a:t>
            </a:r>
          </a:p>
        </p:txBody>
      </p:sp>
      <p:pic>
        <p:nvPicPr>
          <p:cNvPr id="45" name="Picture 44" descr="ct_kta.jpg"/>
          <p:cNvPicPr>
            <a:picLocks noChangeAspect="1"/>
          </p:cNvPicPr>
          <p:nvPr/>
        </p:nvPicPr>
        <p:blipFill>
          <a:blip r:embed="rId9"/>
          <a:srcRect l="2494" r="2494"/>
          <a:stretch>
            <a:fillRect/>
          </a:stretch>
        </p:blipFill>
        <p:spPr>
          <a:xfrm>
            <a:off x="6698876" y="4443984"/>
            <a:ext cx="1393252" cy="1956816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46" name="Picture 45" descr="ct_sculpt.jpg"/>
          <p:cNvPicPr>
            <a:picLocks noChangeAspect="1"/>
          </p:cNvPicPr>
          <p:nvPr/>
        </p:nvPicPr>
        <p:blipFill>
          <a:blip r:embed="rId10"/>
          <a:srcRect l="2494" r="2494"/>
          <a:stretch>
            <a:fillRect/>
          </a:stretch>
        </p:blipFill>
        <p:spPr>
          <a:xfrm>
            <a:off x="8256721" y="4443984"/>
            <a:ext cx="1393252" cy="1956816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47" name="Picture 46" descr="ct_scholar.jpg"/>
          <p:cNvPicPr>
            <a:picLocks noChangeAspect="1"/>
          </p:cNvPicPr>
          <p:nvPr/>
        </p:nvPicPr>
        <p:blipFill>
          <a:blip r:embed="rId11"/>
          <a:srcRect l="4505" r="4505"/>
          <a:stretch>
            <a:fillRect/>
          </a:stretch>
        </p:blipFill>
        <p:spPr>
          <a:xfrm>
            <a:off x="9814566" y="4443984"/>
            <a:ext cx="1393252" cy="1956816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48" name="TextBox 47"/>
          <p:cNvSpPr txBox="1"/>
          <p:nvPr/>
        </p:nvSpPr>
        <p:spPr>
          <a:xfrm>
            <a:off x="6675120" y="6473952"/>
            <a:ext cx="4556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0">
                <a:solidFill>
                  <a:srgbClr val="848A93"/>
                </a:solidFill>
                <a:latin typeface="Pretendard"/>
              </a:rPr>
              <a:t>스타파인더 수료증 · 조각가협회 수료증 · 장학증서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815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감이 아니라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기록으로 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33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065"/>
            <a:ext cx="54864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#리서치 ·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535" y="442087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영화관입장권 통합전산망 일별 분석 100회차 · 하루도 거르지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535" y="478663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755" cy="17780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150" b="0">
                <a:solidFill>
                  <a:srgbClr val="9AA6BC"/>
                </a:solidFill>
                <a:latin typeface="Pretendard" charset="0"/>
              </a:rPr>
              <a:t>다음 날 1위를 먼저 적고 다음 회차에 맞았는지 검증</a:t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/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/>
            </a:r>
            <a:endParaRPr lang="ko-KR" altLang="en-US" sz="1150" b="0">
              <a:solidFill>
                <a:srgbClr val="9AA6BC"/>
              </a:solidFill>
              <a:latin typeface="Pretendard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535" y="515239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쌓으면서 찾은 규칙 네 가지 · 예매 관객수 · 스크린당 동원 · 요일 진폭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535" y="551815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MBC 〈라디오스타〉 출연자 1인당 300장 · 방송 직전까지 3차 갱신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760" y="2395855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FFF"/>
          </a:solidFill>
          <a:ln>
            <a:noFill/>
            <a:prstDash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(DAILY)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매일 한 장씩 분석했습니다,</a:t>
            </a:r>
          </a:p>
          <a:p>
            <a:pPr>
              <a:lnSpc>
                <a:spcPct val="118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오늘로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100번째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83410"/>
            <a:ext cx="5212715" cy="50482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56000"/>
              </a:lnSpc>
              <a:buFontTx/>
              <a:buNone/>
            </a:pPr>
            <a:r>
              <a:rPr sz="1050" b="0">
                <a:solidFill>
                  <a:srgbClr val="5C636B"/>
                </a:solidFill>
                <a:latin typeface="Pretendard" charset="0"/>
                <a:ea typeface="Pretendard" charset="0"/>
                <a:cs typeface="Pretendard" charset="0"/>
              </a:rPr>
              <a:t>영화관입장권 통합전산망(KOBIS) 일별 데이터입니다. 하루도 건너뛰지 않았습니다.</a:t>
            </a:r>
            <a:endParaRPr lang="ko-KR" altLang="en-US" sz="1050" b="0">
              <a:solidFill>
                <a:srgbClr val="5C636B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56000"/>
              </a:lnSpc>
              <a:buFontTx/>
              <a:buNone/>
            </a:pPr>
            <a:r>
              <a:rPr sz="1050" b="0">
                <a:solidFill>
                  <a:srgbClr val="5C636B"/>
                </a:solidFill>
                <a:latin typeface="Pretendard" charset="0"/>
                <a:ea typeface="Pretendard" charset="0"/>
                <a:cs typeface="Pretendard" charset="0"/>
              </a:rPr>
              <a:t>다음 날 1위를 예측해 적고, 맞았는지 다음 회차에 검증합니다.</a:t>
            </a:r>
            <a:endParaRPr lang="ko-KR" altLang="en-US" sz="1050" b="0">
              <a:solidFill>
                <a:srgbClr val="5C636B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261493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6200" b="1" spc="-20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100</a:t>
            </a:r>
            <a:r>
              <a:rPr sz="20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차</a:t>
            </a:r>
            <a:r>
              <a:rPr sz="1500" b="1">
                <a:solidFill>
                  <a:srgbClr val="B6BCC6"/>
                </a:solidFill>
                <a:latin typeface="Pretendard"/>
                <a:ea typeface="Pretendard"/>
                <a:cs typeface="Pretendard"/>
              </a:rPr>
              <a:t>  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67455"/>
            <a:ext cx="5029200" cy="109855"/>
          </a:xfrm>
          <a:prstGeom prst="roundRect">
            <a:avLst>
              <a:gd name="adj" fmla="val 50000"/>
            </a:avLst>
          </a:prstGeom>
          <a:solidFill>
            <a:srgbClr val="EB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767455"/>
            <a:ext cx="5029200" cy="109855"/>
          </a:xfrm>
          <a:prstGeom prst="roundRect">
            <a:avLst>
              <a:gd name="adj" fmla="val 50000"/>
            </a:avLst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7420" y="3923030"/>
            <a:ext cx="7620" cy="64135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3923030"/>
            <a:ext cx="7620" cy="64135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2020" y="3923030"/>
            <a:ext cx="7620" cy="64135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5180" y="3717925"/>
            <a:ext cx="208280" cy="2082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A57CF"/>
            </a:solidFill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941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회차를 쌓으며 보인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145"/>
            <a:ext cx="311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C6D4"/>
                </a:solidFill>
                <a:latin typeface="Pretendar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295" y="444373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예매율보다 예매 관객수 절대값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295" y="462661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예매율만 높고 관객수가 적으면 다음날 뒤집힙니다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19345"/>
            <a:ext cx="311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C6D4"/>
                </a:solidFill>
                <a:latin typeface="Pretendar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295" y="490093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전일 대비 예매 2배 = 개봉일 폭발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295" y="508381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전날 예매가 급증한 작품은 대개 1위로 올라섭니다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76545"/>
            <a:ext cx="311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C6D4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295" y="535813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스크린당 동원이 진짜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295" y="554101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10명 아래로 떨어지면 종영이 가깝습니다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833745"/>
            <a:ext cx="3111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C6D4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295" y="581533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214"/>
                </a:solidFill>
                <a:latin typeface="Pretendard"/>
              </a:rPr>
              <a:t>요일 진폭은 장르가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295" y="5998210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36B"/>
                </a:solidFill>
                <a:latin typeface="Pretendard"/>
              </a:rPr>
              <a:t>가족영화는 월요일에 빠지고, 성인 스릴러는 평일에 버팁니다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925" y="6309995"/>
            <a:ext cx="474980" cy="474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>
            <a:hlinkClick r:id="rId6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6346190"/>
            <a:ext cx="402590" cy="40259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6382385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회차별 기록 · 노션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75" y="1005840"/>
            <a:ext cx="2797810" cy="4003040"/>
          </a:xfrm>
          <a:prstGeom prst="rect">
            <a:avLst/>
          </a:prstGeom>
          <a:ln w="9525">
            <a:solidFill>
              <a:srgbClr val="DCDFE5"/>
            </a:solidFill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800166"/>
            <a:ext cx="3054350" cy="3864033"/>
          </a:xfrm>
          <a:prstGeom prst="rect">
            <a:avLst/>
          </a:prstGeom>
          <a:ln w="9525">
            <a:solidFill>
              <a:srgbClr val="DCDFE5"/>
            </a:solidFill>
          </a:ln>
          <a:effectLst>
            <a:outerShdw blurRad="330200" dist="38100" dir="5400000" rotWithShape="0">
              <a:srgbClr val="000000">
                <a:alpha val="9000"/>
              </a:srgbClr>
            </a:outerShdw>
          </a:effectLst>
        </p:spPr>
      </p:pic>
      <p:sp>
        <p:nvSpPr>
          <p:cNvPr id="32" name="TextBox 31"/>
          <p:cNvSpPr txBox="1"/>
          <p:nvPr/>
        </p:nvSpPr>
        <p:spPr>
          <a:xfrm>
            <a:off x="6675120" y="5828665"/>
            <a:ext cx="45567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11214"/>
                </a:solidFill>
                <a:latin typeface="Pretendard"/>
              </a:rPr>
              <a:t>100차 실제 분석지 · TOP10 표 · 한 줄 요약 · 핵심 포인트 5개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6029960"/>
            <a:ext cx="4556760" cy="402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0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MBC아카데미 영화홍보마케팅 과정 과제로 시작해,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848A93"/>
                </a:solidFill>
                <a:latin typeface="Pretendard"/>
                <a:ea typeface="Pretendard"/>
                <a:cs typeface="Pretendard"/>
              </a:rPr>
              <a:t>수료한 뒤에도 같은 양식으로 이어 오고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MBC 간판 예능 · 출연자별 맞춤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296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출연자 한 명당 자료 한 권,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종료 후 </a:t>
            </a: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재작업 제의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01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MBC 〈라디오스타〉 자료조사원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616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2024.04 – 2024.06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416"/>
            <a:ext cx="689457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39"/>
            <a:ext cx="68945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리서치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5025" y="3328416"/>
            <a:ext cx="1013155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5025" y="3399739"/>
            <a:ext cx="10131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출연자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3628" y="3328416"/>
            <a:ext cx="797356" cy="29260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3628" y="3399739"/>
            <a:ext cx="7973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아카이빙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176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자료조사는 아는 걸 다 쓰는 일이 아니라,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작가가 바로 쓸 수 있게 골라주는 일입니다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한 명당 300장이 넘습니다. 기사와 SNS, 과거 방송을 훑어 쓸 이야기만 남기고, 방송 직전까지 최신 이슈를 얹어 3차까지 고쳤습니다. 참여가 끝난 뒤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재작업 제의를 받았습니다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416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리서치는 쓸 사람 기준으로 잘라야 했습니다. 첫 장에 다 몰아 놓았습니다.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566013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자료 리서치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496" y="5715000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5715000"/>
            <a:ext cx="1201521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58613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구성 보조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5916168"/>
            <a:ext cx="1335024" cy="50292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5916168"/>
            <a:ext cx="934516" cy="50292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969264"/>
            <a:ext cx="2278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2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300</a:t>
            </a:r>
            <a:r>
              <a:rPr sz="128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장+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395984"/>
            <a:ext cx="2278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출연자 1인 자료집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347" y="969264"/>
            <a:ext cx="2278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200" b="1" spc="-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128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347" y="1395984"/>
            <a:ext cx="2278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48A93"/>
                </a:solidFill>
                <a:latin typeface="Pretendard"/>
              </a:rPr>
              <a:t>방송 직전까지 갱신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755648"/>
            <a:ext cx="4556455" cy="7315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adio_toc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6675120" y="1975104"/>
            <a:ext cx="2205075" cy="2718958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1" name="Picture 30" descr="radio_in2.jpg"/>
          <p:cNvPicPr>
            <a:picLocks noChangeAspect="1"/>
          </p:cNvPicPr>
          <p:nvPr/>
        </p:nvPicPr>
        <p:blipFill>
          <a:blip r:embed="rId3"/>
          <a:srcRect l="5155" r="5155"/>
          <a:stretch>
            <a:fillRect/>
          </a:stretch>
        </p:blipFill>
        <p:spPr>
          <a:xfrm>
            <a:off x="9026499" y="1975104"/>
            <a:ext cx="2205075" cy="2718958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2" name="TextBox 31"/>
          <p:cNvSpPr txBox="1"/>
          <p:nvPr/>
        </p:nvSpPr>
        <p:spPr>
          <a:xfrm>
            <a:off x="6675120" y="4785502"/>
            <a:ext cx="22050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최재림 편 — 목차만 292p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499" y="4785502"/>
            <a:ext cx="22050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프리뷰 · 방송 캡처 인용</a:t>
            </a:r>
          </a:p>
        </p:txBody>
      </p:sp>
      <p:pic>
        <p:nvPicPr>
          <p:cNvPr id="34" name="Picture 33" descr="radio_files.png"/>
          <p:cNvPicPr>
            <a:picLocks noChangeAspect="1"/>
          </p:cNvPicPr>
          <p:nvPr/>
        </p:nvPicPr>
        <p:blipFill>
          <a:blip r:embed="rId4"/>
          <a:srcRect t="42104" b="42104"/>
          <a:stretch>
            <a:fillRect/>
          </a:stretch>
        </p:blipFill>
        <p:spPr>
          <a:xfrm>
            <a:off x="6675120" y="5084064"/>
            <a:ext cx="4556455" cy="841248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5" name="TextBox 34"/>
          <p:cNvSpPr txBox="1"/>
          <p:nvPr/>
        </p:nvSpPr>
        <p:spPr>
          <a:xfrm>
            <a:off x="6675120" y="6035040"/>
            <a:ext cx="45564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출연자별 자료조사 파일 — 1차 · 2차 · 3차로 갱신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7326" y="6175126"/>
            <a:ext cx="561075" cy="56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02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217920"/>
            <a:ext cx="475488" cy="4754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36776" y="62544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6776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자료 제작 방식 · 산출물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32815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spc="-18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  <a:p>
            <a:pPr>
              <a:lnSpc>
                <a:spcPct val="110000"/>
              </a:lnSpc>
            </a:pPr>
            <a:r>
              <a:rPr sz="4600" b="1" spc="-180">
                <a:solidFill>
                  <a:srgbClr val="FFFFFF">
                    <a:alpha val="46000"/>
                  </a:srgbClr>
                </a:solidFill>
                <a:latin typeface="Pretendard"/>
                <a:ea typeface="Pretendard"/>
                <a:cs typeface="Pretendard"/>
              </a:rPr>
              <a:t>만들어서 씁니다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2933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22065"/>
            <a:ext cx="54864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40">
                <a:solidFill>
                  <a:srgbClr val="FFFFFF"/>
                </a:solidFill>
                <a:latin typeface="Pretendard"/>
              </a:rPr>
              <a:t>#기획 · 제작 · 배포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535" y="442087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메타픽처스 · 씬 브레이크다운 · 로케이션 리서치 · AI 레퍼런스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535" y="478663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6675755" cy="17780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150" b="0">
                <a:solidFill>
                  <a:srgbClr val="9AA6BC"/>
                </a:solidFill>
                <a:latin typeface="Pretendard" charset="0"/>
              </a:rPr>
              <a:t>씬덱 · 샷플래너 · 화면 설계부터 코딩과 배포까지 혼자</a:t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> </a:t>
            </a:r>
            <a:r>
              <a:rPr sz="1150" b="0">
                <a:solidFill>
                  <a:srgbClr val="9AA6BC"/>
                </a:solidFill>
                <a:latin typeface="Pretendard" charset="0"/>
              </a:rPr>
              <a:t>제작</a:t>
            </a:r>
            <a:endParaRPr lang="ko-KR" altLang="en-US" sz="1150" b="0">
              <a:solidFill>
                <a:srgbClr val="9AA6BC"/>
              </a:solidFill>
              <a:latin typeface="Pretendard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535" y="515239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02920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젤리모 · 다섯 모드 기획 · 캐릭터와 UI 아트워크 · 글로벌 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535" y="5518150"/>
            <a:ext cx="914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675120" cy="292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AA6BC"/>
                </a:solidFill>
                <a:latin typeface="Pretendard"/>
              </a:rPr>
              <a:t>해피플라이트 · 세계관 집필 · 계급별 캐릭터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760" y="2395855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82000"/>
              </a:lnSpc>
            </a:pPr>
            <a:r>
              <a:rPr sz="23000" b="1" spc="-900">
                <a:solidFill>
                  <a:srgbClr val="FFFFFF">
                    <a:alpha val="17000"/>
                  </a:srgbClr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영화 제작사 · 한일합작 장편 프리프로덕션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55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말로 열 번 오갈 걸,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레퍼런스 한 장</a:t>
            </a: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270"/>
            <a:ext cx="53949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영화 제작사 〈메타픽처스〉 기획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87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2026 – 진행 중 · 주 1회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54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670"/>
            <a:ext cx="90551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90"/>
            <a:ext cx="9055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대본 검토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570" y="3328670"/>
            <a:ext cx="1228725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570" y="3399790"/>
            <a:ext cx="12287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씬 브레이크다운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5505" y="3328670"/>
            <a:ext cx="1120775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5505" y="3399790"/>
            <a:ext cx="11207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AI 레퍼런스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43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한일합작 장편의 프리프로덕션에 붙어 있습니다. MBC아카데미 96기 과정에서 한동하 감독님 면접을 거쳐 선발됐고, 한동하 감독님과 최태영 PD님 밑에서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주 1회 만납니다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그 한 번에 결론이 나야 해서 대본 검토와 씬 브레이크다운, 장소 후보를 미리 만들어 갑니다. 씬마다 AI 레퍼런스도 만들어 갑니다. 지금은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촬영 확정 단계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670"/>
            <a:ext cx="2835275" cy="45402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55000"/>
              </a:lnSpc>
              <a:buFontTx/>
              <a:buNone/>
            </a:pP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주 1회 회의에서는 준비가 곧 속도였습니다.</a:t>
            </a: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그래서 </a:t>
            </a:r>
            <a:endParaRPr lang="ko-KR" altLang="en-US" sz="9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lnSpc>
                <a:spcPct val="155000"/>
              </a:lnSpc>
              <a:buFontTx/>
              <a:buNone/>
            </a:pP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시간 단축을 위해 </a:t>
            </a:r>
            <a:r>
              <a:rPr lang="ko-KR"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두 </a:t>
            </a:r>
            <a:r>
              <a:rPr lang="ko-KR"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웹사이트를 제작했습니다.</a:t>
            </a:r>
            <a:endParaRPr lang="ko-KR" altLang="en-US" sz="9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78935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935" y="566039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AI 레퍼런스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750" y="571500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750" y="5715000"/>
            <a:ext cx="126809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935" y="586105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씬 브레이크다운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750" y="5916295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750" y="5916295"/>
            <a:ext cx="120142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935" y="606234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대본 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750" y="611759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750" y="6117590"/>
            <a:ext cx="106807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rcRect l="9" r="9"/>
          <a:stretch>
            <a:fillRect/>
          </a:stretch>
        </p:blipFill>
        <p:spPr>
          <a:xfrm>
            <a:off x="6675120" y="969010"/>
            <a:ext cx="2205355" cy="123634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l="9" r="9"/>
          <a:stretch>
            <a:fillRect/>
          </a:stretch>
        </p:blipFill>
        <p:spPr>
          <a:xfrm>
            <a:off x="9026525" y="969010"/>
            <a:ext cx="2205355" cy="123634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rcRect l="9" r="9"/>
          <a:stretch>
            <a:fillRect/>
          </a:stretch>
        </p:blipFill>
        <p:spPr>
          <a:xfrm>
            <a:off x="6675120" y="2333625"/>
            <a:ext cx="2205355" cy="123634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rcRect l="9" r="9"/>
          <a:stretch>
            <a:fillRect/>
          </a:stretch>
        </p:blipFill>
        <p:spPr>
          <a:xfrm>
            <a:off x="9026525" y="2333625"/>
            <a:ext cx="2205355" cy="123634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2" name="TextBox 31"/>
          <p:cNvSpPr txBox="1"/>
          <p:nvPr/>
        </p:nvSpPr>
        <p:spPr>
          <a:xfrm>
            <a:off x="6675120" y="3660775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C636B"/>
                </a:solidFill>
                <a:latin typeface="Pretendard"/>
              </a:rPr>
              <a:t>1944–45 시대 레퍼런스 · 씬마다 만들어 공유합니다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rcRect l="8" r="8"/>
          <a:stretch>
            <a:fillRect/>
          </a:stretch>
        </p:blipFill>
        <p:spPr>
          <a:xfrm>
            <a:off x="6859270" y="3935095"/>
            <a:ext cx="4187825" cy="233172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4" name="TextBox 33"/>
          <p:cNvSpPr txBox="1"/>
          <p:nvPr/>
        </p:nvSpPr>
        <p:spPr>
          <a:xfrm>
            <a:off x="6675120" y="6376670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36B"/>
                </a:solidFill>
                <a:latin typeface="Pretendard"/>
              </a:rPr>
              <a:t>씬별 로케이션 리서치 — 익산교도소세트장 · 출처와 링크까지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7575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>
            <a:hlinkClick r:id="rId11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6217920"/>
            <a:ext cx="475615" cy="4756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37030" y="625475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7030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프로젝트 상세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5095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>
            <a:hlinkClick r:id="rId12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40" y="6217920"/>
            <a:ext cx="475615" cy="47561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54550" y="625475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AI 워크플로우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4550" y="64465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툴 · 프롬프트 설계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(BUILD)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감독님과 같은 화면을 보려고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직접 만들었습니다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9090"/>
            <a:ext cx="9693275" cy="16954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100" b="0">
                <a:solidFill>
                  <a:srgbClr val="5C636B"/>
                </a:solidFill>
                <a:latin typeface="Pretendard" charset="0"/>
              </a:rPr>
              <a:t>화면 설계와 UI 디자인은 제가 하고 구현은 Claude Code로 붙였습니다. 지금은 감독님과 회의할 때 같이 띄워놓고 씁니다.</a:t>
            </a:r>
            <a:endParaRPr lang="ko-KR" altLang="en-US" sz="1100" b="0">
              <a:solidFill>
                <a:srgbClr val="5C636B"/>
              </a:solidFill>
              <a:latin typeface="Pretendard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48510"/>
            <a:ext cx="4956175" cy="3097530"/>
          </a:xfrm>
          <a:prstGeom prst="roundRect">
            <a:avLst>
              <a:gd name="adj" fmla="val 3000"/>
            </a:avLst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991870" y="5456555"/>
            <a:ext cx="511810" cy="511810"/>
          </a:xfrm>
          <a:prstGeom prst="roundRect">
            <a:avLst>
              <a:gd name="adj" fmla="val 24000"/>
            </a:avLst>
          </a:prstGeom>
          <a:solidFill>
            <a:srgbClr val="1F2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365115"/>
            <a:ext cx="511810" cy="51181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466AFC">
                  <a:alpha val="100000"/>
                </a:srgbClr>
              </a:gs>
              <a:gs pos="100000">
                <a:srgbClr val="3550BE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8710" y="5544185"/>
            <a:ext cx="215265" cy="1536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9030" y="551370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030" y="570293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785" y="551370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785" y="570293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2540" y="551370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2540" y="5702935"/>
            <a:ext cx="254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5385" y="5544185"/>
            <a:ext cx="10160" cy="15367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7140" y="5544185"/>
            <a:ext cx="10160" cy="15367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4810" y="5383530"/>
            <a:ext cx="42608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214"/>
                </a:solidFill>
                <a:latin typeface="Pretendard"/>
              </a:rPr>
              <a:t>씬덱 SceneDeck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4810" y="5657850"/>
            <a:ext cx="426085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시나리오 → 컷 분해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23610"/>
            <a:ext cx="3950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원고를 올리면 전 씬이 컷으로 쪼개집니다. 컷마다 미드저니 · Veo · 범용 프롬프트가 같이 나옵니다. 톤을 잡을 때 여기서 바로 작업합니다.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24475" y="588962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>
            <a:hlinkClick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655" y="5932170"/>
            <a:ext cx="475615" cy="4756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055" y="2048510"/>
            <a:ext cx="4956175" cy="3097530"/>
          </a:xfrm>
          <a:prstGeom prst="roundRect">
            <a:avLst>
              <a:gd name="adj" fmla="val 3000"/>
            </a:avLst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25" name="Rounded Rectangle 24"/>
          <p:cNvSpPr/>
          <p:nvPr/>
        </p:nvSpPr>
        <p:spPr>
          <a:xfrm>
            <a:off x="6313805" y="5456555"/>
            <a:ext cx="511810" cy="511810"/>
          </a:xfrm>
          <a:prstGeom prst="roundRect">
            <a:avLst>
              <a:gd name="adj" fmla="val 24000"/>
            </a:avLst>
          </a:prstGeom>
          <a:solidFill>
            <a:srgbClr val="1F2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82055" y="5365115"/>
            <a:ext cx="511810" cy="51181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466AFC">
                  <a:alpha val="100000"/>
                </a:srgbClr>
              </a:gs>
              <a:gs pos="100000">
                <a:srgbClr val="3550BE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254000" dist="381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5565" y="5554980"/>
            <a:ext cx="225425" cy="13843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02400" y="5585460"/>
            <a:ext cx="76835" cy="76835"/>
          </a:xfrm>
          <a:prstGeom prst="ellipse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63360" y="5518785"/>
            <a:ext cx="56515" cy="3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745" y="5383530"/>
            <a:ext cx="42608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214"/>
                </a:solidFill>
                <a:latin typeface="Pretendard"/>
              </a:rPr>
              <a:t>촬영 배치도 Shot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745" y="5657850"/>
            <a:ext cx="426085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A57CF"/>
                </a:solidFill>
                <a:latin typeface="Pretendard"/>
              </a:rPr>
              <a:t>찍기 전에 그림을 확정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2055" y="6023610"/>
            <a:ext cx="3950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배우와 카메라를 놓고 조명을 세웁니다. 도면 · 카메라 뷰 · 조감도가 한 화면에 같이 뜹니다. 렌즈와 카메라 높이까지 시트로 뽑아 현장에 갑니다.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46410" y="588962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>
            <a:hlinkClick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590" y="5932170"/>
            <a:ext cx="475615" cy="47561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566928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20">
                <a:solidFill>
                  <a:srgbClr val="3A57CF"/>
                </a:solidFill>
                <a:latin typeface="Pretendard"/>
              </a:rPr>
              <a:t>서울대학교·숭실대학교 연합 게임동아리 happetite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2555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말랑한 힐링 게임 아래,</a:t>
            </a:r>
          </a:p>
          <a:p>
            <a:pPr>
              <a:lnSpc>
                <a:spcPct val="120000"/>
              </a:lnSpc>
            </a:pPr>
            <a:r>
              <a:rPr sz="2500" b="1" spc="-7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묵직한 SF 서사</a:t>
            </a:r>
            <a:r>
              <a:rPr sz="2500" b="1" spc="-7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를 깔았습니다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14270"/>
            <a:ext cx="53949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모바일 게임 〈해피플라이트〉 메인 스토리 작가 · 기획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4287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2021.03 – 2022.12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54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Keyword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28670"/>
            <a:ext cx="10134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99790"/>
            <a:ext cx="10134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세계관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8520" y="3328670"/>
            <a:ext cx="1120775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8520" y="3399790"/>
            <a:ext cx="11207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시나리오 집필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5505" y="3328670"/>
            <a:ext cx="10134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5505" y="3399790"/>
            <a:ext cx="10134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시스템 기획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9443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‘자기계발 앱은 왜 3일 만에 방치되는가.’ 감사일기를 스토리와 보상에 묶어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이탈을 막았습니다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64000"/>
              </a:lnSpc>
              <a:spcBef>
                <a:spcPts val="1067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그렇게 만든 〈해피타이트〉로 베타를 냈고, 이후 상업화를 목표로 세계 멸망 1,000년 후 SF 세계관을 새로 짜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〈해피플라이트〉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로 다시 만들었습니다.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14670"/>
            <a:ext cx="2835275" cy="45402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55000"/>
              </a:lnSpc>
              <a:buFontTx/>
              <a:buNone/>
            </a:pP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쓰고 싶은 분량과 개발 가능한 분량은 늘 다릅니다. 스코프부터 줄였습니다.</a:t>
            </a:r>
            <a:endParaRPr lang="ko-KR" altLang="en-US" sz="9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78935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935" y="566039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세계관 · 집필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750" y="571500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750" y="5715000"/>
            <a:ext cx="126809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935" y="586105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캐릭터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750" y="5916295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750" y="5916295"/>
            <a:ext cx="120142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935" y="606234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기획–개발 조율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750" y="611759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750" y="6117590"/>
            <a:ext cx="100139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rcRect l="7" r="7"/>
          <a:stretch>
            <a:fillRect/>
          </a:stretch>
        </p:blipFill>
        <p:spPr>
          <a:xfrm>
            <a:off x="6675120" y="969010"/>
            <a:ext cx="1421130" cy="79946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l="7" r="7"/>
          <a:stretch>
            <a:fillRect/>
          </a:stretch>
        </p:blipFill>
        <p:spPr>
          <a:xfrm>
            <a:off x="8242935" y="969010"/>
            <a:ext cx="1421130" cy="79946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rcRect l="7" r="7"/>
          <a:stretch>
            <a:fillRect/>
          </a:stretch>
        </p:blipFill>
        <p:spPr>
          <a:xfrm>
            <a:off x="9810115" y="969010"/>
            <a:ext cx="1421130" cy="799465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6675120" y="1859915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마을과 계급별 캐릭터 — 범고래 마을 · 다람쥐 마을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rcRect t="7634" b="7634"/>
          <a:stretch>
            <a:fillRect/>
          </a:stretch>
        </p:blipFill>
        <p:spPr>
          <a:xfrm>
            <a:off x="6675120" y="2121535"/>
            <a:ext cx="4556760" cy="173736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3" name="TextBox 32"/>
          <p:cNvSpPr txBox="1"/>
          <p:nvPr/>
        </p:nvSpPr>
        <p:spPr>
          <a:xfrm>
            <a:off x="6675120" y="3931920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36B"/>
                </a:solidFill>
                <a:latin typeface="Pretendard"/>
              </a:rPr>
              <a:t>인게임 대사 — 주인공 율리아 · 휴머노이드 ‘엄마’ 아이르 · 초월종 로키·에티·바티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rcRect t="25" b="25"/>
          <a:stretch>
            <a:fillRect/>
          </a:stretch>
        </p:blipFill>
        <p:spPr>
          <a:xfrm>
            <a:off x="6675120" y="4206240"/>
            <a:ext cx="4556760" cy="54102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rcRect t="33" b="33"/>
          <a:stretch>
            <a:fillRect/>
          </a:stretch>
        </p:blipFill>
        <p:spPr>
          <a:xfrm>
            <a:off x="6675120" y="4846320"/>
            <a:ext cx="4556760" cy="102870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6" name="TextBox 35"/>
          <p:cNvSpPr txBox="1"/>
          <p:nvPr/>
        </p:nvSpPr>
        <p:spPr>
          <a:xfrm>
            <a:off x="6675120" y="5998210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>
                <a:solidFill>
                  <a:srgbClr val="5C636B"/>
                </a:solidFill>
                <a:latin typeface="Pretendard"/>
              </a:rPr>
              <a:t>지역별 배경 — 범고래 마을과 다람쥐 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575" y="6175375"/>
            <a:ext cx="561340" cy="561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>
            <a:hlinkClick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6217920"/>
            <a:ext cx="475615" cy="4756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37030" y="625475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노션에서 원본 보기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37030" y="6446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48A93"/>
                </a:solidFill>
                <a:latin typeface="Pretendard"/>
              </a:rPr>
              <a:t>세계관 · 시나리오 · 지원사업 예산 · 텀블벅 펀딩 기획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95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(SOLO BUILD)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spc="-6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기획부터 마케팅까지,</a:t>
            </a:r>
          </a:p>
          <a:p>
            <a:pPr>
              <a:lnSpc>
                <a:spcPct val="118000"/>
              </a:lnSpc>
            </a:pPr>
            <a:r>
              <a:rPr sz="2400" b="1" spc="-6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혼자 만든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48510"/>
            <a:ext cx="539496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214"/>
                </a:solidFill>
                <a:latin typeface="Pretendard"/>
              </a:rPr>
              <a:t>젤리모 Jellimo · 개인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8A93"/>
                </a:solidFill>
                <a:latin typeface="Pretendard"/>
              </a:rPr>
              <a:t>2026 · 기획 · 디자인 · 개발 · 마케팅 전부</a:t>
            </a:r>
            <a:r>
              <a:rPr sz="900" b="1">
                <a:solidFill>
                  <a:srgbClr val="3A57CF"/>
                </a:solidFill>
                <a:latin typeface="Pretendard"/>
              </a:rPr>
              <a:t>  ·  앱인토스 · Google Play 출시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14930"/>
            <a:ext cx="512064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797810"/>
            <a:ext cx="90551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69565"/>
            <a:ext cx="9055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게임 기획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570" y="2797810"/>
            <a:ext cx="1660525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570" y="2869565"/>
            <a:ext cx="16605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UI · 캐릭터 디자인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6670" y="2797810"/>
            <a:ext cx="797560" cy="292735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3A57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6670" y="2869565"/>
            <a:ext cx="79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3A57CF"/>
                </a:solidFill>
                <a:latin typeface="Pretendard"/>
              </a:rPr>
              <a:t>웹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5501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사람이 게임을 다시 켜는 이유(리텐션)는 책으로 읽어도 잘 안 잡힙니다. 그래서 하나 만들어 봤습니다.</a:t>
            </a:r>
          </a:p>
          <a:p>
            <a:pPr algn="l">
              <a:lnSpc>
                <a:spcPct val="162000"/>
              </a:lnSpc>
              <a:spcBef>
                <a:spcPts val="1054"/>
              </a:spcBef>
            </a:pP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다섯 모드를 혼자 기획하고, 캐릭터와 아이템, 화면 UI까지 그려 붙였습니다.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처음부터 글로벌을 보고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 한국어 · 영어 · 일본어로 냈습니다. 개발은 끝났고 </a:t>
            </a:r>
            <a:r>
              <a:rPr sz="105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지금은 마케팅 단계</a:t>
            </a:r>
            <a:r>
              <a:rPr sz="1050" b="0">
                <a:solidFill>
                  <a:srgbClr val="4B515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4891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111214"/>
                </a:solidFill>
                <a:latin typeface="Pretendard"/>
              </a:rP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67985"/>
            <a:ext cx="2926715" cy="454025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ct val="155000"/>
              </a:lnSpc>
              <a:buFontTx/>
              <a:buNone/>
            </a:pPr>
            <a:r>
              <a:rPr sz="950" b="0">
                <a:solidFill>
                  <a:srgbClr val="4B5158"/>
                </a:solidFill>
                <a:latin typeface="Pretendard" charset="0"/>
                <a:ea typeface="Pretendard" charset="0"/>
                <a:cs typeface="Pretendard" charset="0"/>
              </a:rPr>
              <a:t>모드를 다섯 개 만들어 보고 알았습니다. 다시 켜게 만드는 건 「한 판만 더」 하는 순간이었습니다.</a:t>
            </a:r>
            <a:endParaRPr lang="ko-KR" altLang="en-US" sz="950" b="0">
              <a:solidFill>
                <a:srgbClr val="4B5158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78935" y="524891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111214"/>
                </a:solidFill>
                <a:latin typeface="Pretendard"/>
              </a:rPr>
              <a:t>기여도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935" y="551370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기획 · 설계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750" y="556895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750" y="5568950"/>
            <a:ext cx="126809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935" y="5715000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디자인 · 아트워크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750" y="5769610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750" y="5769610"/>
            <a:ext cx="1174750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935" y="5916295"/>
            <a:ext cx="932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158"/>
                </a:solidFill>
                <a:latin typeface="Pretendard"/>
              </a:rPr>
              <a:t>개발 · 배포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750" y="5970905"/>
            <a:ext cx="1334770" cy="50165"/>
          </a:xfrm>
          <a:prstGeom prst="rect">
            <a:avLst/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750" y="5970905"/>
            <a:ext cx="1134745" cy="50165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845" y="6012180"/>
            <a:ext cx="539750" cy="539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>
            <a:hlinkClick r:id="rId1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6053455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63370" y="608965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게임 바로 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3370" y="627253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848A93"/>
                </a:solidFill>
                <a:latin typeface="Pretendard"/>
              </a:rPr>
              <a:t>jellimo.itch.io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7725" y="6012180"/>
            <a:ext cx="539750" cy="539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>
            <a:hlinkClick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6053455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32250" y="608965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A57CF"/>
                </a:solidFill>
                <a:latin typeface="Pretendard"/>
              </a:rPr>
              <a:t>소개 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2250" y="627253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>
                <a:solidFill>
                  <a:srgbClr val="848A93"/>
                </a:solidFill>
                <a:latin typeface="Pretendard"/>
              </a:rPr>
              <a:t>기획 의도 · 모드 설명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rcRect l="52" r="52"/>
          <a:stretch>
            <a:fillRect/>
          </a:stretch>
        </p:blipFill>
        <p:spPr>
          <a:xfrm>
            <a:off x="6675120" y="969010"/>
            <a:ext cx="4556760" cy="222250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7" name="TextBox 36"/>
          <p:cNvSpPr txBox="1"/>
          <p:nvPr/>
        </p:nvSpPr>
        <p:spPr>
          <a:xfrm>
            <a:off x="6675120" y="3283585"/>
            <a:ext cx="4556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36B"/>
                </a:solidFill>
                <a:latin typeface="Pretendard"/>
              </a:rPr>
              <a:t>스토어 커버 — 설치 없이 3분 한 판, 최대 네 명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539490"/>
            <a:ext cx="1070610" cy="232029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6546850" y="5951220"/>
            <a:ext cx="13265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36B"/>
                </a:solidFill>
                <a:latin typeface="Pretendard"/>
              </a:rPr>
              <a:t>혼자 — 3분 한 판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170" y="3539490"/>
            <a:ext cx="1070610" cy="232029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41" name="TextBox 40"/>
          <p:cNvSpPr txBox="1"/>
          <p:nvPr/>
        </p:nvSpPr>
        <p:spPr>
          <a:xfrm>
            <a:off x="7708900" y="5951220"/>
            <a:ext cx="13265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36B"/>
                </a:solidFill>
                <a:latin typeface="Pretendard"/>
              </a:rPr>
              <a:t>실시간 대전 — 2~4인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9220" y="3539490"/>
            <a:ext cx="1070610" cy="232029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43" name="TextBox 42"/>
          <p:cNvSpPr txBox="1"/>
          <p:nvPr/>
        </p:nvSpPr>
        <p:spPr>
          <a:xfrm>
            <a:off x="8870950" y="5951220"/>
            <a:ext cx="13265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36B"/>
                </a:solidFill>
                <a:latin typeface="Pretendard"/>
              </a:rPr>
              <a:t>던지기 — 역할을 나눠서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1270" y="3539490"/>
            <a:ext cx="1070610" cy="2320290"/>
          </a:xfrm>
          <a:prstGeom prst="rect">
            <a:avLst/>
          </a:prstGeom>
          <a:effectLst>
            <a:outerShdw blurRad="279400" dist="38100" dir="5400000" rotWithShape="0">
              <a:srgbClr val="000000">
                <a:alpha val="8000"/>
              </a:srgbClr>
            </a:outerShdw>
          </a:effectLst>
        </p:spPr>
      </p:pic>
      <p:sp>
        <p:nvSpPr>
          <p:cNvPr id="45" name="TextBox 44"/>
          <p:cNvSpPr txBox="1"/>
          <p:nvPr/>
        </p:nvSpPr>
        <p:spPr>
          <a:xfrm>
            <a:off x="10033000" y="5951220"/>
            <a:ext cx="13265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36B"/>
                </a:solidFill>
                <a:latin typeface="Pretendard"/>
              </a:rPr>
              <a:t>꾸미기 — 캐릭터 조합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480" y="548640"/>
            <a:ext cx="914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200">
                <a:solidFill>
                  <a:srgbClr val="3A57CF"/>
                </a:solidFill>
                <a:latin typeface="Pretendard"/>
              </a:rPr>
              <a:t>(NOTION INDEX)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작업물 </a:t>
            </a:r>
            <a:r>
              <a:rPr sz="2400" b="1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12건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을 노션에 정리해 뒀습니다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934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C636B"/>
                </a:solidFill>
                <a:latin typeface="Pretendard"/>
              </a:rPr>
              <a:t>QR을 찍거나 카드를 클릭하면 바로 열립니다.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960120" y="2084831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8552" y="2253264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304287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9384" y="2267712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〈룩 백〉 IP 캠페인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제안서 · 굿즈 · 팝업 · 웹게임</a:t>
            </a:r>
          </a:p>
        </p:txBody>
      </p:sp>
      <p:sp>
        <p:nvSpPr>
          <p:cNvPr id="12" name="Rounded Rectangle 11">
            <a:hlinkClick r:id="rId4"/>
          </p:cNvPr>
          <p:cNvSpPr/>
          <p:nvPr/>
        </p:nvSpPr>
        <p:spPr>
          <a:xfrm>
            <a:off x="4443984" y="2084831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2416" y="2253264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b_game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304287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13248" y="2267712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02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이어그리기 네컷 · 웹게임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지금 열립니다</a:t>
            </a:r>
          </a:p>
        </p:txBody>
      </p:sp>
      <p:sp>
        <p:nvSpPr>
          <p:cNvPr id="17" name="Rounded Rectangle 16">
            <a:hlinkClick r:id="rId6"/>
          </p:cNvPr>
          <p:cNvSpPr/>
          <p:nvPr/>
        </p:nvSpPr>
        <p:spPr>
          <a:xfrm>
            <a:off x="7927848" y="2084831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80" y="2253264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6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304287"/>
            <a:ext cx="566928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97112" y="2267712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크릭앤리버 CREW 3기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웹소설 원천 IP · 영상화 기획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960120" y="3246120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28552" y="3414552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03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576" y="3465576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29384" y="3429000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금쪽같은 내새끼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아이템 발굴 · 방송 2부작 · 보도자료</a:t>
            </a:r>
          </a:p>
        </p:txBody>
      </p:sp>
      <p:sp>
        <p:nvSpPr>
          <p:cNvPr id="27" name="Rounded Rectangle 26">
            <a:hlinkClick r:id="rId10"/>
          </p:cNvPr>
          <p:cNvSpPr/>
          <p:nvPr/>
        </p:nvSpPr>
        <p:spPr>
          <a:xfrm>
            <a:off x="4443984" y="3246120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2416" y="3414552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07.png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440" y="3465576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13248" y="3429000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광고 · 엔터 마케팅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캠페인 기획 · 카피</a:t>
            </a:r>
          </a:p>
        </p:txBody>
      </p:sp>
      <p:sp>
        <p:nvSpPr>
          <p:cNvPr id="32" name="Rounded Rectangle 31">
            <a:hlinkClick r:id="rId12"/>
          </p:cNvPr>
          <p:cNvSpPr/>
          <p:nvPr/>
        </p:nvSpPr>
        <p:spPr>
          <a:xfrm>
            <a:off x="7927848" y="3246120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6280" y="3414552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i.png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47304" y="3465576"/>
            <a:ext cx="566928" cy="5669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97112" y="3429000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06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AI 활용 &amp; 워크플로우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미드저니 · 런웨이 · 도구 제작</a:t>
            </a:r>
          </a:p>
        </p:txBody>
      </p:sp>
      <p:sp>
        <p:nvSpPr>
          <p:cNvPr id="37" name="Rounded Rectangle 36">
            <a:hlinkClick r:id="rId14"/>
          </p:cNvPr>
          <p:cNvSpPr/>
          <p:nvPr/>
        </p:nvSpPr>
        <p:spPr>
          <a:xfrm>
            <a:off x="960120" y="4407408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28552" y="4575840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04.png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9576" y="4626864"/>
            <a:ext cx="566928" cy="5669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29384" y="4590288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07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SNS · 브랜드 협업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소재 제작 · 채널 운영 · 협찬</a:t>
            </a:r>
          </a:p>
        </p:txBody>
      </p:sp>
      <p:sp>
        <p:nvSpPr>
          <p:cNvPr id="42" name="Rounded Rectangle 41">
            <a:hlinkClick r:id="rId16"/>
          </p:cNvPr>
          <p:cNvSpPr/>
          <p:nvPr/>
        </p:nvSpPr>
        <p:spPr>
          <a:xfrm>
            <a:off x="4443984" y="4407408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12416" y="4575840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08_box.png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3440" y="4626864"/>
            <a:ext cx="566928" cy="5669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13248" y="4590288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08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콘텐츠 분석 &amp; 리뷰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포맷 분해 · 논문</a:t>
            </a:r>
          </a:p>
        </p:txBody>
      </p:sp>
      <p:sp>
        <p:nvSpPr>
          <p:cNvPr id="47" name="Rounded Rectangle 46">
            <a:hlinkClick r:id="rId18"/>
          </p:cNvPr>
          <p:cNvSpPr/>
          <p:nvPr/>
        </p:nvSpPr>
        <p:spPr>
          <a:xfrm>
            <a:off x="7927848" y="4407408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96280" y="4575840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02.png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47304" y="4626864"/>
            <a:ext cx="566928" cy="5669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897112" y="4590288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09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라디오스타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출연자 리서치</a:t>
            </a:r>
          </a:p>
        </p:txBody>
      </p:sp>
      <p:sp>
        <p:nvSpPr>
          <p:cNvPr id="52" name="Rounded Rectangle 51">
            <a:hlinkClick r:id="rId20"/>
          </p:cNvPr>
          <p:cNvSpPr/>
          <p:nvPr/>
        </p:nvSpPr>
        <p:spPr>
          <a:xfrm>
            <a:off x="960120" y="5568696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28552" y="5737128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05.png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79576" y="5788152"/>
            <a:ext cx="566928" cy="5669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929384" y="5751576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10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메타픽처스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영화 프리프로덕션</a:t>
            </a:r>
          </a:p>
        </p:txBody>
      </p:sp>
      <p:sp>
        <p:nvSpPr>
          <p:cNvPr id="57" name="Rounded Rectangle 56">
            <a:hlinkClick r:id="rId22"/>
          </p:cNvPr>
          <p:cNvSpPr/>
          <p:nvPr/>
        </p:nvSpPr>
        <p:spPr>
          <a:xfrm>
            <a:off x="4443984" y="5568696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612416" y="5737128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01.png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63440" y="5788152"/>
            <a:ext cx="566928" cy="5669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413248" y="5751576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11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해피플라이트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게임 세계관 · 시나리오</a:t>
            </a:r>
          </a:p>
        </p:txBody>
      </p:sp>
      <p:sp>
        <p:nvSpPr>
          <p:cNvPr id="62" name="Rounded Rectangle 61">
            <a:hlinkClick r:id="rId24"/>
          </p:cNvPr>
          <p:cNvSpPr/>
          <p:nvPr/>
        </p:nvSpPr>
        <p:spPr>
          <a:xfrm>
            <a:off x="7927848" y="5568696"/>
            <a:ext cx="3310128" cy="10058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1430">
            <a:solidFill>
              <a:srgbClr val="E4E7ED"/>
            </a:solidFill>
          </a:ln>
          <a:effectLst>
            <a:outerShdw blurRad="254000" dist="381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96280" y="5737128"/>
            <a:ext cx="668975" cy="6689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cert_ix.png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7304" y="5788152"/>
            <a:ext cx="566928" cy="5669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897112" y="5751576"/>
            <a:ext cx="21762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80">
                <a:solidFill>
                  <a:srgbClr val="3A57CF"/>
                </a:solidFill>
                <a:latin typeface="Pretendard"/>
                <a:ea typeface="Pretendard"/>
                <a:cs typeface="Pretendard"/>
              </a:rPr>
              <a:t>12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수료증 · 자격증 · 상장</a:t>
            </a:r>
          </a:p>
          <a:p>
            <a:pPr>
              <a:lnSpc>
                <a:spcPct val="135000"/>
              </a:lnSpc>
              <a:spcBef>
                <a:spcPts val="200"/>
              </a:spcBef>
            </a:pPr>
            <a:r>
              <a:rPr sz="850" b="0">
                <a:solidFill>
                  <a:srgbClr val="5C636B"/>
                </a:solidFill>
                <a:latin typeface="Pretendard"/>
                <a:ea typeface="Pretendard"/>
                <a:cs typeface="Pretendard"/>
              </a:rPr>
              <a:t>GA · OPIc · MBC아카데미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17175" y="5486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C2C6CC"/>
                </a:solidFill>
                <a:latin typeface="Pretendard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52800" y="1280160"/>
            <a:ext cx="54864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spc="340">
                <a:solidFill>
                  <a:srgbClr val="3A57CF"/>
                </a:solidFill>
                <a:latin typeface="Pretendard"/>
              </a:rPr>
              <a:t>THANK YOU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1889760" y="1755775"/>
            <a:ext cx="8413115" cy="1428115"/>
          </a:xfrm>
          <a:prstGeom prst="rect"/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ctr">
              <a:lnSpc>
                <a:spcPct val="116000"/>
              </a:lnSpc>
              <a:buFontTx/>
              <a:buNone/>
            </a:pPr>
            <a:r>
              <a:rPr sz="4000" spc="-120" b="1">
                <a:solidFill>
                  <a:srgbClr val="111214"/>
                </a:solidFill>
                <a:latin typeface="Pretendard" charset="0"/>
                <a:ea typeface="Pretendard" charset="0"/>
                <a:cs typeface="Pretendard" charset="0"/>
              </a:rPr>
              <a:t>재밌는데 왜 안 뜰까?</a:t>
            </a:r>
            <a:endParaRPr lang="ko-KR" altLang="en-US" sz="4000" b="1">
              <a:solidFill>
                <a:srgbClr val="111214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lnSpc>
                <a:spcPct val="116000"/>
              </a:lnSpc>
              <a:buFontTx/>
              <a:buNone/>
            </a:pPr>
            <a:r>
              <a:rPr sz="4000" spc="-120" b="1">
                <a:solidFill>
                  <a:srgbClr val="3A57CF"/>
                </a:solidFill>
                <a:latin typeface="Pretendard" charset="0"/>
                <a:ea typeface="Pretendard" charset="0"/>
                <a:cs typeface="Pretendard" charset="0"/>
              </a:rPr>
              <a:t>제가 </a:t>
            </a:r>
            <a:r>
              <a:rPr lang="ko-KR" sz="4000" spc="-120" b="1">
                <a:solidFill>
                  <a:srgbClr val="3A57CF"/>
                </a:solidFill>
                <a:latin typeface="Pretendard" charset="0"/>
                <a:ea typeface="Pretendard" charset="0"/>
                <a:cs typeface="Pretendard" charset="0"/>
              </a:rPr>
              <a:t>팔리</a:t>
            </a:r>
            <a:r>
              <a:rPr sz="4000" spc="-120" b="1">
                <a:solidFill>
                  <a:srgbClr val="3A57CF"/>
                </a:solidFill>
                <a:latin typeface="Pretendard" charset="0"/>
                <a:ea typeface="Pretendard" charset="0"/>
                <a:cs typeface="Pretendard" charset="0"/>
              </a:rPr>
              <a:t>게 만들겠습니다</a:t>
            </a:r>
            <a:r>
              <a:rPr sz="4000" spc="-120" b="1">
                <a:solidFill>
                  <a:srgbClr val="3A57CF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4000" b="1">
              <a:solidFill>
                <a:srgbClr val="3A57C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7400" y="3401695"/>
            <a:ext cx="457200" cy="25400"/>
          </a:xfrm>
          <a:prstGeom prst="rect">
            <a:avLst/>
          </a:prstGeom>
          <a:solidFill>
            <a:srgbClr val="3A5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9760" y="3657600"/>
            <a:ext cx="8412480" cy="328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4B5158"/>
                </a:solidFill>
                <a:latin typeface="Pretendard"/>
              </a:rPr>
              <a:t>고른 작품이 한 사람에게 더 읽힐 때까지가 제 일이라고 생각합니다.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8560" y="4407535"/>
            <a:ext cx="4754880" cy="7620"/>
          </a:xfrm>
          <a:prstGeom prst="rect">
            <a:avLst/>
          </a:prstGeom>
          <a:solidFill>
            <a:srgbClr val="E8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460883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214"/>
                </a:solidFill>
                <a:latin typeface="Pretendard"/>
              </a:rPr>
              <a:t>정주원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883150"/>
            <a:ext cx="5486400" cy="21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158"/>
                </a:solidFill>
                <a:latin typeface="Pretendard"/>
              </a:rPr>
              <a:t>네이버 시리즈 콘텐츠 기획 마케터 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3740" y="5220970"/>
            <a:ext cx="604520" cy="604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254000" dist="381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>
            <a:hlinkClick r:id="rId4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095" y="5266690"/>
            <a:ext cx="511810" cy="5118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52800" y="5906770"/>
            <a:ext cx="5486400" cy="201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A57CF"/>
                </a:solidFill>
                <a:latin typeface="Pretendard"/>
              </a:rPr>
              <a:t>노션 포트폴리오 링크 바로가기 ↗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주원 정</cp:lastModifiedBy>
  <cp:version>11.105.320.56540</cp:version>
  <dcterms:modified xsi:type="dcterms:W3CDTF">2013-01-27T09:15:58Z</dcterms:modified>
</cp:coreProperties>
</file>